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217616-B5FE-41BD-AB58-45F361C5B3DE}" v="38" dt="2025-10-11T18:40:11.4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0DB57-2369-C193-4255-B83D0025B9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FA18BE-659C-7951-DFD4-C06C25D815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7767A1C-B55B-0F14-E92B-E40201FAE01D}"/>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5" name="Footer Placeholder 4">
            <a:extLst>
              <a:ext uri="{FF2B5EF4-FFF2-40B4-BE49-F238E27FC236}">
                <a16:creationId xmlns:a16="http://schemas.microsoft.com/office/drawing/2014/main" id="{BEF1F8B0-91FF-FE1C-EBA4-E6063D5D45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D197D4-879C-125D-B058-17023BC0470F}"/>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1370042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3E2F9-6571-615E-1C32-2698BDF53F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068468-B7B6-7C11-9F71-2B6F4D0957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D471DF-BF8C-3AD4-D53D-17A1655A5CE2}"/>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5" name="Footer Placeholder 4">
            <a:extLst>
              <a:ext uri="{FF2B5EF4-FFF2-40B4-BE49-F238E27FC236}">
                <a16:creationId xmlns:a16="http://schemas.microsoft.com/office/drawing/2014/main" id="{D4ED1B8B-4FAB-C0A6-8606-B2E8432135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AC7C84-6D41-193D-4543-667B6986273F}"/>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1617582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044E-7F63-F2CD-C1F9-A020A98EB5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7F32D4F-49A6-5FD6-BC67-214B3A8F5F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297B0E-4921-1519-F6B5-1BF076EF933A}"/>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5" name="Footer Placeholder 4">
            <a:extLst>
              <a:ext uri="{FF2B5EF4-FFF2-40B4-BE49-F238E27FC236}">
                <a16:creationId xmlns:a16="http://schemas.microsoft.com/office/drawing/2014/main" id="{9C1C447B-7633-447D-551E-BAD43134B0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E160CE-2184-040A-EA56-F59DEE0BA656}"/>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620341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830C-A5E3-5E78-2214-5A3F8D7C81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65CDFD-2B1B-9FE1-2C19-65AF002E2E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2768E91-E404-D0DC-1ADC-B1F3AF3983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A15E01-6AAA-1B2B-6E60-A2644A770858}"/>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6" name="Footer Placeholder 5">
            <a:extLst>
              <a:ext uri="{FF2B5EF4-FFF2-40B4-BE49-F238E27FC236}">
                <a16:creationId xmlns:a16="http://schemas.microsoft.com/office/drawing/2014/main" id="{41F56EB5-F09C-0688-3319-6563CCAA53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3D2236-0978-06A5-7EAA-572025B62471}"/>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2296892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0B296-C1F7-33F4-A26C-2FFA261B177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37FBF2-86E2-34BD-82B3-B08E0A3E7F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6BEF01-9FAD-18C1-12FE-3B400951AA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3427EB-F818-AEE3-3C58-755FCF103B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089A20-D88F-F027-34EE-ECED1E3845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65DB877-190A-1A93-3284-8E6A63D7DD40}"/>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8" name="Footer Placeholder 7">
            <a:extLst>
              <a:ext uri="{FF2B5EF4-FFF2-40B4-BE49-F238E27FC236}">
                <a16:creationId xmlns:a16="http://schemas.microsoft.com/office/drawing/2014/main" id="{A8A68942-8F32-FFAA-06FE-F8679279065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D7FA17-00E2-864B-744D-70F8DD9263D1}"/>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3778933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DF5FD-3821-3C41-E08D-9EB8D73850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33C5CA-BC65-B172-A905-80A905D7755D}"/>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4" name="Footer Placeholder 3">
            <a:extLst>
              <a:ext uri="{FF2B5EF4-FFF2-40B4-BE49-F238E27FC236}">
                <a16:creationId xmlns:a16="http://schemas.microsoft.com/office/drawing/2014/main" id="{7D9A5D38-1624-2204-1062-15354F1C158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8C934F3-069F-D576-CE0D-0DEB58DBBF24}"/>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2472865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EA7FCC-268B-024B-F912-BA8DAAF7B23D}"/>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3" name="Footer Placeholder 2">
            <a:extLst>
              <a:ext uri="{FF2B5EF4-FFF2-40B4-BE49-F238E27FC236}">
                <a16:creationId xmlns:a16="http://schemas.microsoft.com/office/drawing/2014/main" id="{5CD326FE-8947-A155-540D-64220EAB56E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EF00D36-4FD0-9989-70AD-E38F50E7FDD2}"/>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728237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DC786-D111-84A7-7957-CF8D7C1B1D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07E528D-FFE5-66DA-CA79-69F0B005A5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8A8090-38BE-A0D7-F59C-F433C457D2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E63E4F-A619-32FC-3365-2A5F24CDDC36}"/>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6" name="Footer Placeholder 5">
            <a:extLst>
              <a:ext uri="{FF2B5EF4-FFF2-40B4-BE49-F238E27FC236}">
                <a16:creationId xmlns:a16="http://schemas.microsoft.com/office/drawing/2014/main" id="{5599E14E-9766-71DB-62D8-0A42899261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0F90D8-0A76-7A2D-8444-2B77AC9986F7}"/>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1806285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8ACF4-14E8-DB82-DDB5-F3C26E7464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77EE368-A6B3-63C0-3764-EAC45BF297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3B692A-5B53-21AA-0605-222F70B914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BF1622-6FE2-BD07-FAC3-0A17472A6A7E}"/>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6" name="Footer Placeholder 5">
            <a:extLst>
              <a:ext uri="{FF2B5EF4-FFF2-40B4-BE49-F238E27FC236}">
                <a16:creationId xmlns:a16="http://schemas.microsoft.com/office/drawing/2014/main" id="{8618362C-AFF8-FA37-C35C-BC0A635FE9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6B4AB4-5B40-5076-D30C-5B30049BB2E5}"/>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2636891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5C327-A0D7-0BF9-19FD-ED1BD33ACB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1AB57F-7B59-9E2B-5447-5DA8F47FC0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1D8262-F76C-6756-49B3-D9DAE5FFB768}"/>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5" name="Footer Placeholder 4">
            <a:extLst>
              <a:ext uri="{FF2B5EF4-FFF2-40B4-BE49-F238E27FC236}">
                <a16:creationId xmlns:a16="http://schemas.microsoft.com/office/drawing/2014/main" id="{665A1764-643D-4A32-A506-7B05512C95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CF88A2-9E01-83B0-5860-FA358AA732E2}"/>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1856679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516623-CD8A-AD65-04F9-D6CE3BC912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1B241A-C792-D46A-7B9D-63876DD1A8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96FA6F-B09B-9AD6-DCFB-B2533BC1B955}"/>
              </a:ext>
            </a:extLst>
          </p:cNvPr>
          <p:cNvSpPr>
            <a:spLocks noGrp="1"/>
          </p:cNvSpPr>
          <p:nvPr>
            <p:ph type="dt" sz="half" idx="10"/>
          </p:nvPr>
        </p:nvSpPr>
        <p:spPr/>
        <p:txBody>
          <a:bodyPr/>
          <a:lstStyle/>
          <a:p>
            <a:fld id="{E5D88AD6-D9E3-4BE5-87A2-389E0E851284}" type="datetimeFigureOut">
              <a:rPr lang="en-IN" smtClean="0"/>
              <a:t>11-10-2025</a:t>
            </a:fld>
            <a:endParaRPr lang="en-IN"/>
          </a:p>
        </p:txBody>
      </p:sp>
      <p:sp>
        <p:nvSpPr>
          <p:cNvPr id="5" name="Footer Placeholder 4">
            <a:extLst>
              <a:ext uri="{FF2B5EF4-FFF2-40B4-BE49-F238E27FC236}">
                <a16:creationId xmlns:a16="http://schemas.microsoft.com/office/drawing/2014/main" id="{0E678E08-1598-15DA-9CAE-FDBF1B9CCF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DB3E2D-94E5-F24B-BF2F-326677DB90A8}"/>
              </a:ext>
            </a:extLst>
          </p:cNvPr>
          <p:cNvSpPr>
            <a:spLocks noGrp="1"/>
          </p:cNvSpPr>
          <p:nvPr>
            <p:ph type="sldNum" sz="quarter" idx="12"/>
          </p:nvPr>
        </p:nvSpPr>
        <p:spPr/>
        <p:txBody>
          <a:bodyPr/>
          <a:lstStyle/>
          <a:p>
            <a:fld id="{37ED28D0-77C2-4A07-BBE1-24E9EBABD0BF}" type="slidenum">
              <a:rPr lang="en-IN" smtClean="0"/>
              <a:t>‹#›</a:t>
            </a:fld>
            <a:endParaRPr lang="en-IN"/>
          </a:p>
        </p:txBody>
      </p:sp>
    </p:spTree>
    <p:extLst>
      <p:ext uri="{BB962C8B-B14F-4D97-AF65-F5344CB8AC3E}">
        <p14:creationId xmlns:p14="http://schemas.microsoft.com/office/powerpoint/2010/main" val="3081788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1904D7-AB66-118B-BB4E-5366DBAD8A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DEE672-1B13-9833-C632-778F1800EF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695CCA-3511-75C7-0B6A-FF503ADAC8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D88AD6-D9E3-4BE5-87A2-389E0E851284}" type="datetimeFigureOut">
              <a:rPr lang="en-IN" smtClean="0"/>
              <a:t>11-10-2025</a:t>
            </a:fld>
            <a:endParaRPr lang="en-IN"/>
          </a:p>
        </p:txBody>
      </p:sp>
      <p:sp>
        <p:nvSpPr>
          <p:cNvPr id="5" name="Footer Placeholder 4">
            <a:extLst>
              <a:ext uri="{FF2B5EF4-FFF2-40B4-BE49-F238E27FC236}">
                <a16:creationId xmlns:a16="http://schemas.microsoft.com/office/drawing/2014/main" id="{C0AB3824-804D-E5E6-BA04-4801CF20CE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F951BE0-546C-CCB6-AA9B-5BEF5E6E03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ED28D0-77C2-4A07-BBE1-24E9EBABD0BF}" type="slidenum">
              <a:rPr lang="en-IN" smtClean="0"/>
              <a:t>‹#›</a:t>
            </a:fld>
            <a:endParaRPr lang="en-IN"/>
          </a:p>
        </p:txBody>
      </p:sp>
    </p:spTree>
    <p:extLst>
      <p:ext uri="{BB962C8B-B14F-4D97-AF65-F5344CB8AC3E}">
        <p14:creationId xmlns:p14="http://schemas.microsoft.com/office/powerpoint/2010/main" val="3909765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00802-B9FA-D30B-02EB-A163A2B39A2C}"/>
              </a:ext>
            </a:extLst>
          </p:cNvPr>
          <p:cNvSpPr>
            <a:spLocks noGrp="1"/>
          </p:cNvSpPr>
          <p:nvPr>
            <p:ph type="ctrTitle"/>
          </p:nvPr>
        </p:nvSpPr>
        <p:spPr>
          <a:xfrm>
            <a:off x="391064" y="552091"/>
            <a:ext cx="11312106" cy="2990490"/>
          </a:xfrm>
        </p:spPr>
        <p:txBody>
          <a:bodyPr>
            <a:noAutofit/>
          </a:bodyPr>
          <a:lstStyle/>
          <a:p>
            <a:r>
              <a:rPr lang="en-US" sz="4400" b="1" dirty="0">
                <a:solidFill>
                  <a:srgbClr val="C00000"/>
                </a:solidFill>
                <a:latin typeface="Bodoni MT" panose="02070603080606020203" pitchFamily="18" charset="0"/>
              </a:rPr>
              <a:t>AI-Based Canteen Food Demand Predictor Using Artificial Intelligence and Machine Learning</a:t>
            </a:r>
            <a:br>
              <a:rPr lang="en-US" sz="4400" dirty="0">
                <a:solidFill>
                  <a:srgbClr val="C00000"/>
                </a:solidFill>
                <a:latin typeface="Bodoni MT" panose="02070603080606020203" pitchFamily="18" charset="0"/>
              </a:rPr>
            </a:br>
            <a:endParaRPr lang="en-IN" sz="4400" dirty="0">
              <a:solidFill>
                <a:srgbClr val="C00000"/>
              </a:solidFill>
            </a:endParaRPr>
          </a:p>
        </p:txBody>
      </p:sp>
      <p:sp>
        <p:nvSpPr>
          <p:cNvPr id="3" name="Subtitle 2">
            <a:extLst>
              <a:ext uri="{FF2B5EF4-FFF2-40B4-BE49-F238E27FC236}">
                <a16:creationId xmlns:a16="http://schemas.microsoft.com/office/drawing/2014/main" id="{7071231C-CA0D-32F8-F715-1B4415DAA64E}"/>
              </a:ext>
            </a:extLst>
          </p:cNvPr>
          <p:cNvSpPr>
            <a:spLocks noGrp="1"/>
          </p:cNvSpPr>
          <p:nvPr>
            <p:ph type="subTitle" idx="1"/>
          </p:nvPr>
        </p:nvSpPr>
        <p:spPr>
          <a:xfrm>
            <a:off x="391064" y="3542581"/>
            <a:ext cx="11645660" cy="1655762"/>
          </a:xfrm>
        </p:spPr>
        <p:txBody>
          <a:bodyPr>
            <a:normAutofit/>
          </a:bodyPr>
          <a:lstStyle/>
          <a:p>
            <a:r>
              <a:rPr lang="en-US" sz="2800" b="1" dirty="0">
                <a:latin typeface="Times New Roman" panose="02020603050405020304" pitchFamily="18" charset="0"/>
                <a:cs typeface="Times New Roman" panose="02020603050405020304" pitchFamily="18" charset="0"/>
              </a:rPr>
              <a:t>Smart Food Demand Prediction for Efficient &amp; Sustainable Canteens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9571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6EA8B-5806-4451-13D3-5DF8FE7CCD12}"/>
              </a:ext>
            </a:extLst>
          </p:cNvPr>
          <p:cNvSpPr>
            <a:spLocks noGrp="1"/>
          </p:cNvSpPr>
          <p:nvPr>
            <p:ph type="title"/>
          </p:nvPr>
        </p:nvSpPr>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5CB001EC-A52B-82A6-694C-5C5BFC727C5C}"/>
              </a:ext>
            </a:extLst>
          </p:cNvPr>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 most college canteens, food is often either wasted or insufficient to meet student demand due to inaccurate estimation of required quantities. The </a:t>
            </a:r>
            <a:r>
              <a:rPr lang="en-US" sz="2400" i="1" dirty="0">
                <a:latin typeface="Times New Roman" panose="02020603050405020304" pitchFamily="18" charset="0"/>
                <a:cs typeface="Times New Roman" panose="02020603050405020304" pitchFamily="18" charset="0"/>
              </a:rPr>
              <a:t>AI-Based Canteen Food Demand Predictor</a:t>
            </a:r>
            <a:r>
              <a:rPr lang="en-US" sz="2400" dirty="0">
                <a:latin typeface="Times New Roman" panose="02020603050405020304" pitchFamily="18" charset="0"/>
                <a:cs typeface="Times New Roman" panose="02020603050405020304" pitchFamily="18" charset="0"/>
              </a:rPr>
              <a:t> project aims to overcome this issue by forecasting the amount of food needed each day using Artificial Intelligence and Machine Learning techniques. The system leverages historical data, including student strength, past sales, weekdays, seasonal trends, and special occasions, to generate accurate demand predictions. Algorithms such as Linear Regression, Random Forest, and LSTM are utilized for model training and validation. By comparing predicted and actual consumption, the system continuously improves its accuracy. This project helps minimize food wastage, control costs, and enhance canteen efficiency, promoting sustainable and data-driven food management across educational institutions.</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9074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3C6C-16AB-8150-CC94-9F5067C1C134}"/>
              </a:ext>
            </a:extLst>
          </p:cNvPr>
          <p:cNvSpPr>
            <a:spLocks noGrp="1"/>
          </p:cNvSpPr>
          <p:nvPr>
            <p:ph type="title"/>
          </p:nvPr>
        </p:nvSpPr>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F2AAF85C-75BC-7615-2825-ABBD71A99381}"/>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College canteens often face difficulties in estimating the right amount of food to prepare each day. Manual prediction leads to either excess food, causing wastage, or shortages, resulting in student dissatisfaction. Important factors like student strength, weekdays, and special events are often ignored. To overcome this, an AI-based system is needed to accurately predict daily food demand using historical data and machine learning techniques, reducing waste and improving canteen efficiency.</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2343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4CB13-0F18-6F54-04D0-1CE3AC636C0A}"/>
              </a:ext>
            </a:extLst>
          </p:cNvPr>
          <p:cNvSpPr>
            <a:spLocks noGrp="1"/>
          </p:cNvSpPr>
          <p:nvPr>
            <p:ph type="title"/>
          </p:nvPr>
        </p:nvSpPr>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Objectives </a:t>
            </a:r>
          </a:p>
        </p:txBody>
      </p:sp>
      <p:sp>
        <p:nvSpPr>
          <p:cNvPr id="3" name="Content Placeholder 2">
            <a:extLst>
              <a:ext uri="{FF2B5EF4-FFF2-40B4-BE49-F238E27FC236}">
                <a16:creationId xmlns:a16="http://schemas.microsoft.com/office/drawing/2014/main" id="{CA7FB6F6-AF4B-D0D7-EB05-C965194007E7}"/>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To accurately predict daily food demand in the college canteen using AI and ML techniques.</a:t>
            </a:r>
          </a:p>
          <a:p>
            <a:pPr algn="just"/>
            <a:r>
              <a:rPr lang="en-US" dirty="0">
                <a:latin typeface="Times New Roman" panose="02020603050405020304" pitchFamily="18" charset="0"/>
                <a:cs typeface="Times New Roman" panose="02020603050405020304" pitchFamily="18" charset="0"/>
              </a:rPr>
              <a:t>To analyze historical data such as past sales, student strength, weekdays, and special events for better forecasting.</a:t>
            </a:r>
          </a:p>
          <a:p>
            <a:pPr algn="just"/>
            <a:r>
              <a:rPr lang="en-US" dirty="0">
                <a:latin typeface="Times New Roman" panose="02020603050405020304" pitchFamily="18" charset="0"/>
                <a:cs typeface="Times New Roman" panose="02020603050405020304" pitchFamily="18" charset="0"/>
              </a:rPr>
              <a:t>To reduce food wastage and manage resources efficiently.</a:t>
            </a:r>
          </a:p>
          <a:p>
            <a:pPr algn="just"/>
            <a:r>
              <a:rPr lang="en-US" dirty="0">
                <a:latin typeface="Times New Roman" panose="02020603050405020304" pitchFamily="18" charset="0"/>
                <a:cs typeface="Times New Roman" panose="02020603050405020304" pitchFamily="18" charset="0"/>
              </a:rPr>
              <a:t>To assist canteen staff in planning and decision-making through data-driven insights.</a:t>
            </a:r>
          </a:p>
          <a:p>
            <a:pPr algn="just"/>
            <a:r>
              <a:rPr lang="en-US" dirty="0">
                <a:latin typeface="Times New Roman" panose="02020603050405020304" pitchFamily="18" charset="0"/>
                <a:cs typeface="Times New Roman" panose="02020603050405020304" pitchFamily="18" charset="0"/>
              </a:rPr>
              <a:t>To promote sustainable and cost-effective canteen management.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4772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B4796-557B-81A7-EB47-C855A2B47B01}"/>
              </a:ext>
            </a:extLst>
          </p:cNvPr>
          <p:cNvSpPr>
            <a:spLocks noGrp="1"/>
          </p:cNvSpPr>
          <p:nvPr>
            <p:ph type="title"/>
          </p:nvPr>
        </p:nvSpPr>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A557EDA4-1222-1442-0E98-6405CE7BC5FB}"/>
              </a:ext>
            </a:extLst>
          </p:cNvPr>
          <p:cNvSpPr>
            <a:spLocks noGrp="1"/>
          </p:cNvSpPr>
          <p:nvPr>
            <p:ph idx="1"/>
          </p:nvPr>
        </p:nvSpPr>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College canteens often face challenges in estimating the daily quantity of food to prepare. Overestimation leads to food wastage, while underestimation causes shortages and student dissatisfaction. These inefficiencies affect both operational costs and service quality.</a:t>
            </a:r>
          </a:p>
          <a:p>
            <a:pPr marL="0" indent="0" algn="just">
              <a:buNone/>
            </a:pPr>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AI-Based Canteen Food Demand Predictor</a:t>
            </a:r>
            <a:r>
              <a:rPr lang="en-US" dirty="0">
                <a:latin typeface="Times New Roman" panose="02020603050405020304" pitchFamily="18" charset="0"/>
                <a:cs typeface="Times New Roman" panose="02020603050405020304" pitchFamily="18" charset="0"/>
              </a:rPr>
              <a:t> aims to address this problem by leveraging Artificial Intelligence (AI) and Machine Learning (ML) techniques to forecast daily food demand accurately. The system analyzes historical data, including student attendance, past sales, weekdays, seasonal trends, and special events, to predict the quantity of each food item required.</a:t>
            </a:r>
          </a:p>
          <a:p>
            <a:pPr marL="0" indent="0" algn="just">
              <a:buNone/>
            </a:pPr>
            <a:r>
              <a:rPr lang="en-US" dirty="0">
                <a:latin typeface="Times New Roman" panose="02020603050405020304" pitchFamily="18" charset="0"/>
                <a:cs typeface="Times New Roman" panose="02020603050405020304" pitchFamily="18" charset="0"/>
              </a:rPr>
              <a:t>The predictive model utilizes algorithms such as Linear Regression, Random Forest, and Long Short-Term Memory (LSTM) networks to generate accurate forecasts. By comparing predicted demand with actual usage, the system continually improves its accuracy. This solution helps canteen managers optimize resource usage, reduce food waste, control costs, and promote sustainable food management.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8636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917C-AF2D-FBB2-1F25-52E0E70CFF5B}"/>
              </a:ext>
            </a:extLst>
          </p:cNvPr>
          <p:cNvSpPr>
            <a:spLocks noGrp="1"/>
          </p:cNvSpPr>
          <p:nvPr>
            <p:ph type="title"/>
          </p:nvPr>
        </p:nvSpPr>
        <p:spPr>
          <a:xfrm>
            <a:off x="838200" y="365125"/>
            <a:ext cx="10515600" cy="790815"/>
          </a:xfrm>
        </p:spPr>
        <p:txBody>
          <a:bodyPr/>
          <a:lstStyle/>
          <a:p>
            <a:pPr algn="ctr"/>
            <a:r>
              <a:rPr lang="en-IN" b="1">
                <a:solidFill>
                  <a:srgbClr val="C00000"/>
                </a:solidFill>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A2249E97-7EFA-0517-C66D-624077A59F52}"/>
              </a:ext>
            </a:extLst>
          </p:cNvPr>
          <p:cNvSpPr>
            <a:spLocks noGrp="1"/>
          </p:cNvSpPr>
          <p:nvPr>
            <p:ph idx="1"/>
          </p:nvPr>
        </p:nvSpPr>
        <p:spPr>
          <a:xfrm>
            <a:off x="838200" y="1201946"/>
            <a:ext cx="10515600" cy="5417389"/>
          </a:xfrm>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In most college canteens, food demand is estimated manually by staff based on past experience or intuition. This approach lacks systematic analysis and often results in inaccurate predictions. Consequently, either excess food is prepared, leading to wastage, or insufficient food is made, causing shortages and student dissatisfaction. Critical factors such as weekdays, student strength, seasonal variations, and special events are generally ignored, making operations inefficient and resource-intensive.</a:t>
            </a:r>
          </a:p>
          <a:p>
            <a:pPr marL="0" indent="0">
              <a:buNone/>
            </a:pPr>
            <a:r>
              <a:rPr lang="en-US" b="1" u="sng" dirty="0">
                <a:solidFill>
                  <a:srgbClr val="00B0F0"/>
                </a:solidFill>
                <a:latin typeface="Times New Roman" panose="02020603050405020304" pitchFamily="18" charset="0"/>
                <a:cs typeface="Times New Roman" panose="02020603050405020304" pitchFamily="18" charset="0"/>
              </a:rPr>
              <a:t>Limitations of the Existing System:</a:t>
            </a:r>
            <a:endParaRPr lang="en-US" u="sng" dirty="0">
              <a:solidFill>
                <a:srgbClr val="00B0F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Relies solely on guesswork to estimate food demand.</a:t>
            </a:r>
          </a:p>
          <a:p>
            <a:r>
              <a:rPr lang="en-US" dirty="0">
                <a:latin typeface="Times New Roman" panose="02020603050405020304" pitchFamily="18" charset="0"/>
                <a:cs typeface="Times New Roman" panose="02020603050405020304" pitchFamily="18" charset="0"/>
              </a:rPr>
              <a:t>Frequently causes food wastage due to overproduction.</a:t>
            </a:r>
          </a:p>
          <a:p>
            <a:r>
              <a:rPr lang="en-US" dirty="0">
                <a:latin typeface="Times New Roman" panose="02020603050405020304" pitchFamily="18" charset="0"/>
                <a:cs typeface="Times New Roman" panose="02020603050405020304" pitchFamily="18" charset="0"/>
              </a:rPr>
              <a:t>Leads to shortages when demand is underestimated.</a:t>
            </a:r>
          </a:p>
          <a:p>
            <a:r>
              <a:rPr lang="en-US" dirty="0">
                <a:latin typeface="Times New Roman" panose="02020603050405020304" pitchFamily="18" charset="0"/>
                <a:cs typeface="Times New Roman" panose="02020603050405020304" pitchFamily="18" charset="0"/>
              </a:rPr>
              <a:t>Lacks data-driven insights to guide future planning.</a:t>
            </a:r>
          </a:p>
          <a:p>
            <a:r>
              <a:rPr lang="en-US" dirty="0">
                <a:latin typeface="Times New Roman" panose="02020603050405020304" pitchFamily="18" charset="0"/>
                <a:cs typeface="Times New Roman" panose="02020603050405020304" pitchFamily="18" charset="0"/>
              </a:rPr>
              <a:t>Inefficient use of resources, time, and labor.</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6557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0F2C3-6DA5-DA7D-1455-E408FBAB43C2}"/>
              </a:ext>
            </a:extLst>
          </p:cNvPr>
          <p:cNvSpPr>
            <a:spLocks noGrp="1"/>
          </p:cNvSpPr>
          <p:nvPr>
            <p:ph type="title"/>
          </p:nvPr>
        </p:nvSpPr>
        <p:spPr>
          <a:xfrm>
            <a:off x="838200" y="365125"/>
            <a:ext cx="10515600" cy="767811"/>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Proposed System / Methodology</a:t>
            </a:r>
          </a:p>
        </p:txBody>
      </p:sp>
      <p:sp>
        <p:nvSpPr>
          <p:cNvPr id="3" name="Content Placeholder 2">
            <a:extLst>
              <a:ext uri="{FF2B5EF4-FFF2-40B4-BE49-F238E27FC236}">
                <a16:creationId xmlns:a16="http://schemas.microsoft.com/office/drawing/2014/main" id="{EF9C2946-5626-9D93-E6A8-0A7C30457457}"/>
              </a:ext>
            </a:extLst>
          </p:cNvPr>
          <p:cNvSpPr>
            <a:spLocks noGrp="1"/>
          </p:cNvSpPr>
          <p:nvPr>
            <p:ph idx="1"/>
          </p:nvPr>
        </p:nvSpPr>
        <p:spPr>
          <a:xfrm>
            <a:off x="838200" y="1184694"/>
            <a:ext cx="10515600" cy="5405887"/>
          </a:xfrm>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The proposed system is an </a:t>
            </a:r>
            <a:r>
              <a:rPr lang="en-US" b="1" dirty="0">
                <a:latin typeface="Times New Roman" panose="02020603050405020304" pitchFamily="18" charset="0"/>
                <a:cs typeface="Times New Roman" panose="02020603050405020304" pitchFamily="18" charset="0"/>
              </a:rPr>
              <a:t>AI-driven food demand prediction model</a:t>
            </a:r>
            <a:r>
              <a:rPr lang="en-US" dirty="0">
                <a:latin typeface="Times New Roman" panose="02020603050405020304" pitchFamily="18" charset="0"/>
                <a:cs typeface="Times New Roman" panose="02020603050405020304" pitchFamily="18" charset="0"/>
              </a:rPr>
              <a:t> that uses historical data and contextual factors to forecast the daily requirement for each menu item. Unlike the manual estimation method, this system adopts a structured, data-driven approach to improve accuracy and operational efficiency.</a:t>
            </a:r>
          </a:p>
          <a:p>
            <a:pPr marL="0" indent="0" algn="just">
              <a:buNone/>
            </a:pPr>
            <a:r>
              <a:rPr lang="en-US" b="1" dirty="0">
                <a:solidFill>
                  <a:srgbClr val="00B0F0"/>
                </a:solidFill>
                <a:latin typeface="Times New Roman" panose="02020603050405020304" pitchFamily="18" charset="0"/>
                <a:cs typeface="Times New Roman" panose="02020603050405020304" pitchFamily="18" charset="0"/>
              </a:rPr>
              <a:t>Methodology:</a:t>
            </a:r>
            <a:endParaRPr lang="en-US" dirty="0">
              <a:solidFill>
                <a:srgbClr val="00B0F0"/>
              </a:solidFill>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Gather historical data including daily sales, student attendance, weekdays, seasonal trends, weather, and special events.</a:t>
            </a:r>
          </a:p>
          <a:p>
            <a:pPr algn="just"/>
            <a:r>
              <a:rPr lang="en-US" b="1" dirty="0">
                <a:latin typeface="Times New Roman" panose="02020603050405020304" pitchFamily="18" charset="0"/>
                <a:cs typeface="Times New Roman" panose="02020603050405020304" pitchFamily="18" charset="0"/>
              </a:rPr>
              <a:t>Data Preprocessing:</a:t>
            </a:r>
            <a:r>
              <a:rPr lang="en-US" dirty="0">
                <a:latin typeface="Times New Roman" panose="02020603050405020304" pitchFamily="18" charset="0"/>
                <a:cs typeface="Times New Roman" panose="02020603050405020304" pitchFamily="18" charset="0"/>
              </a:rPr>
              <a:t> Clean the dataset by handling missing values, duplicates, and encoding categorical variables to ensure data quality.</a:t>
            </a:r>
          </a:p>
          <a:p>
            <a:pPr algn="just"/>
            <a:r>
              <a:rPr lang="en-US" b="1" dirty="0">
                <a:latin typeface="Times New Roman" panose="02020603050405020304" pitchFamily="18" charset="0"/>
                <a:cs typeface="Times New Roman" panose="02020603050405020304" pitchFamily="18" charset="0"/>
              </a:rPr>
              <a:t>Feature Selection &amp; Extraction:</a:t>
            </a:r>
            <a:r>
              <a:rPr lang="en-US" dirty="0">
                <a:latin typeface="Times New Roman" panose="02020603050405020304" pitchFamily="18" charset="0"/>
                <a:cs typeface="Times New Roman" panose="02020603050405020304" pitchFamily="18" charset="0"/>
              </a:rPr>
              <a:t> Identify key features such as day of the week, student strength, past sales, and event indicators that influence food demand.</a:t>
            </a:r>
          </a:p>
          <a:p>
            <a:pPr algn="just"/>
            <a:r>
              <a:rPr lang="en-US" b="1" dirty="0">
                <a:latin typeface="Times New Roman" panose="02020603050405020304" pitchFamily="18" charset="0"/>
                <a:cs typeface="Times New Roman" panose="02020603050405020304" pitchFamily="18" charset="0"/>
              </a:rPr>
              <a:t>Model Training &amp; Testing:</a:t>
            </a:r>
            <a:r>
              <a:rPr lang="en-US" dirty="0">
                <a:latin typeface="Times New Roman" panose="02020603050405020304" pitchFamily="18" charset="0"/>
                <a:cs typeface="Times New Roman" panose="02020603050405020304" pitchFamily="18" charset="0"/>
              </a:rPr>
              <a:t> Train machine learning models like Linear Regression, Random Forest, and LSTM using training data and evaluate their performance on test data.</a:t>
            </a:r>
          </a:p>
          <a:p>
            <a:pPr algn="just"/>
            <a:r>
              <a:rPr lang="en-US" b="1" dirty="0">
                <a:latin typeface="Times New Roman" panose="02020603050405020304" pitchFamily="18" charset="0"/>
                <a:cs typeface="Times New Roman" panose="02020603050405020304" pitchFamily="18" charset="0"/>
              </a:rPr>
              <a:t>Forecasting &amp; Dashboard Integration:</a:t>
            </a:r>
            <a:r>
              <a:rPr lang="en-US" dirty="0">
                <a:latin typeface="Times New Roman" panose="02020603050405020304" pitchFamily="18" charset="0"/>
                <a:cs typeface="Times New Roman" panose="02020603050405020304" pitchFamily="18" charset="0"/>
              </a:rPr>
              <a:t> Generate daily food demand forecasts and display insights on a user-friendly dashboard for canteen managers.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3379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0D5A4-0D42-4FC5-9EF6-A5737C111E85}"/>
              </a:ext>
            </a:extLst>
          </p:cNvPr>
          <p:cNvSpPr>
            <a:spLocks noGrp="1"/>
          </p:cNvSpPr>
          <p:nvPr>
            <p:ph idx="1"/>
          </p:nvPr>
        </p:nvSpPr>
        <p:spPr>
          <a:xfrm>
            <a:off x="838200" y="511834"/>
            <a:ext cx="10515600" cy="5665129"/>
          </a:xfrm>
        </p:spPr>
        <p:txBody>
          <a:bodyPr/>
          <a:lstStyle/>
          <a:p>
            <a:pPr marL="0" indent="0">
              <a:buNone/>
            </a:pPr>
            <a:r>
              <a:rPr lang="en-IN" b="1" dirty="0">
                <a:solidFill>
                  <a:srgbClr val="00B0F0"/>
                </a:solidFill>
                <a:latin typeface="Times New Roman" panose="02020603050405020304" pitchFamily="18" charset="0"/>
                <a:cs typeface="Times New Roman" panose="02020603050405020304" pitchFamily="18" charset="0"/>
              </a:rPr>
              <a:t>Proposed System with </a:t>
            </a:r>
            <a:r>
              <a:rPr lang="en-US" b="1" dirty="0">
                <a:solidFill>
                  <a:srgbClr val="00B0F0"/>
                </a:solidFill>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Highly accurate demand predictions using AI and ML.</a:t>
            </a:r>
          </a:p>
          <a:p>
            <a:r>
              <a:rPr lang="en-US" dirty="0">
                <a:latin typeface="Times New Roman" panose="02020603050405020304" pitchFamily="18" charset="0"/>
                <a:cs typeface="Times New Roman" panose="02020603050405020304" pitchFamily="18" charset="0"/>
              </a:rPr>
              <a:t>Reduces food wastage and optimizes cost efficiency.</a:t>
            </a:r>
          </a:p>
          <a:p>
            <a:r>
              <a:rPr lang="en-US" dirty="0">
                <a:latin typeface="Times New Roman" panose="02020603050405020304" pitchFamily="18" charset="0"/>
                <a:cs typeface="Times New Roman" panose="02020603050405020304" pitchFamily="18" charset="0"/>
              </a:rPr>
              <a:t>Continuously improves with new data for real-time adaptability.</a:t>
            </a:r>
          </a:p>
          <a:p>
            <a:r>
              <a:rPr lang="en-US" dirty="0">
                <a:latin typeface="Times New Roman" panose="02020603050405020304" pitchFamily="18" charset="0"/>
                <a:cs typeface="Times New Roman" panose="02020603050405020304" pitchFamily="18" charset="0"/>
              </a:rPr>
              <a:t>User-friendly interface for easy decision-making by canteen administrators.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250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1C62A-0455-7D2F-192C-61D180B47CB6}"/>
              </a:ext>
            </a:extLst>
          </p:cNvPr>
          <p:cNvSpPr>
            <a:spLocks noGrp="1"/>
          </p:cNvSpPr>
          <p:nvPr>
            <p:ph type="title"/>
          </p:nvPr>
        </p:nvSpPr>
        <p:spPr>
          <a:xfrm>
            <a:off x="838200" y="365125"/>
            <a:ext cx="10515600" cy="767811"/>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Hardware and Software Requirements</a:t>
            </a:r>
          </a:p>
        </p:txBody>
      </p:sp>
      <p:sp>
        <p:nvSpPr>
          <p:cNvPr id="3" name="Content Placeholder 2">
            <a:extLst>
              <a:ext uri="{FF2B5EF4-FFF2-40B4-BE49-F238E27FC236}">
                <a16:creationId xmlns:a16="http://schemas.microsoft.com/office/drawing/2014/main" id="{E74462C2-37E8-3CB9-28FA-E0148663BC2E}"/>
              </a:ext>
            </a:extLst>
          </p:cNvPr>
          <p:cNvSpPr>
            <a:spLocks noGrp="1"/>
          </p:cNvSpPr>
          <p:nvPr>
            <p:ph idx="1"/>
          </p:nvPr>
        </p:nvSpPr>
        <p:spPr>
          <a:xfrm>
            <a:off x="838200" y="1483744"/>
            <a:ext cx="10515600" cy="4365416"/>
          </a:xfrm>
        </p:spPr>
        <p:txBody>
          <a:bodyPr/>
          <a:lstStyle/>
          <a:p>
            <a:pPr marL="0" indent="0" algn="ctr">
              <a:buNone/>
            </a:pPr>
            <a:r>
              <a:rPr lang="en-IN" sz="3200" b="1" dirty="0">
                <a:solidFill>
                  <a:srgbClr val="00B0F0"/>
                </a:solidFill>
                <a:latin typeface="Times New Roman" panose="02020603050405020304" pitchFamily="18" charset="0"/>
                <a:cs typeface="Times New Roman" panose="02020603050405020304" pitchFamily="18" charset="0"/>
              </a:rPr>
              <a:t>Hardware Requirements</a:t>
            </a:r>
          </a:p>
          <a:p>
            <a:pPr marL="0" indent="0" algn="ctr">
              <a:buNone/>
            </a:pPr>
            <a:endParaRPr lang="en-IN" sz="3200" dirty="0">
              <a:solidFill>
                <a:srgbClr val="00B0F0"/>
              </a:solidFill>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Processor:</a:t>
            </a:r>
            <a:r>
              <a:rPr lang="en-IN" dirty="0">
                <a:latin typeface="Times New Roman" panose="02020603050405020304" pitchFamily="18" charset="0"/>
                <a:cs typeface="Times New Roman" panose="02020603050405020304" pitchFamily="18" charset="0"/>
              </a:rPr>
              <a:t> Intel i3/i5 or higher (for smooth ML execution)</a:t>
            </a:r>
          </a:p>
          <a:p>
            <a:r>
              <a:rPr lang="en-IN" b="1" dirty="0">
                <a:latin typeface="Times New Roman" panose="02020603050405020304" pitchFamily="18" charset="0"/>
                <a:cs typeface="Times New Roman" panose="02020603050405020304" pitchFamily="18" charset="0"/>
              </a:rPr>
              <a:t>RAM:</a:t>
            </a:r>
            <a:r>
              <a:rPr lang="en-IN" dirty="0">
                <a:latin typeface="Times New Roman" panose="02020603050405020304" pitchFamily="18" charset="0"/>
                <a:cs typeface="Times New Roman" panose="02020603050405020304" pitchFamily="18" charset="0"/>
              </a:rPr>
              <a:t> Minimum 4 GB (8 GB recommended for faster model training)</a:t>
            </a:r>
          </a:p>
          <a:p>
            <a:r>
              <a:rPr lang="en-IN" b="1" dirty="0">
                <a:latin typeface="Times New Roman" panose="02020603050405020304" pitchFamily="18" charset="0"/>
                <a:cs typeface="Times New Roman" panose="02020603050405020304" pitchFamily="18" charset="0"/>
              </a:rPr>
              <a:t>Storage:</a:t>
            </a:r>
            <a:r>
              <a:rPr lang="en-IN" dirty="0">
                <a:latin typeface="Times New Roman" panose="02020603050405020304" pitchFamily="18" charset="0"/>
                <a:cs typeface="Times New Roman" panose="02020603050405020304" pitchFamily="18" charset="0"/>
              </a:rPr>
              <a:t> 250 GB HDD/SSD (for datasets and project files)</a:t>
            </a:r>
          </a:p>
          <a:p>
            <a:r>
              <a:rPr lang="en-IN" b="1" dirty="0">
                <a:latin typeface="Times New Roman" panose="02020603050405020304" pitchFamily="18" charset="0"/>
                <a:cs typeface="Times New Roman" panose="02020603050405020304" pitchFamily="18" charset="0"/>
              </a:rPr>
              <a:t>System Type:</a:t>
            </a:r>
            <a:r>
              <a:rPr lang="en-IN" dirty="0">
                <a:latin typeface="Times New Roman" panose="02020603050405020304" pitchFamily="18" charset="0"/>
                <a:cs typeface="Times New Roman" panose="02020603050405020304" pitchFamily="18" charset="0"/>
              </a:rPr>
              <a:t> 64-bit Operating System</a:t>
            </a:r>
          </a:p>
          <a:p>
            <a:r>
              <a:rPr lang="en-IN" b="1" dirty="0">
                <a:latin typeface="Times New Roman" panose="02020603050405020304" pitchFamily="18" charset="0"/>
                <a:cs typeface="Times New Roman" panose="02020603050405020304" pitchFamily="18" charset="0"/>
              </a:rPr>
              <a:t>Graphics:</a:t>
            </a:r>
            <a:r>
              <a:rPr lang="en-IN" dirty="0">
                <a:latin typeface="Times New Roman" panose="02020603050405020304" pitchFamily="18" charset="0"/>
                <a:cs typeface="Times New Roman" panose="02020603050405020304" pitchFamily="18" charset="0"/>
              </a:rPr>
              <a:t> Basic integrated graphics (GPU optional for LSTM training)</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0008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76C9C4-1339-0752-882E-843EC767398E}"/>
              </a:ext>
            </a:extLst>
          </p:cNvPr>
          <p:cNvSpPr>
            <a:spLocks noGrp="1"/>
          </p:cNvSpPr>
          <p:nvPr>
            <p:ph idx="1"/>
          </p:nvPr>
        </p:nvSpPr>
        <p:spPr>
          <a:xfrm>
            <a:off x="838200" y="563592"/>
            <a:ext cx="10515600" cy="5613371"/>
          </a:xfrm>
        </p:spPr>
        <p:txBody>
          <a:bodyPr>
            <a:normAutofit lnSpcReduction="10000"/>
          </a:bodyPr>
          <a:lstStyle/>
          <a:p>
            <a:pPr marL="0" indent="0" algn="ctr">
              <a:buNone/>
            </a:pPr>
            <a:r>
              <a:rPr lang="en-IN" sz="3200" b="1" dirty="0">
                <a:solidFill>
                  <a:srgbClr val="00B0F0"/>
                </a:solidFill>
                <a:latin typeface="Times New Roman" panose="02020603050405020304" pitchFamily="18" charset="0"/>
                <a:cs typeface="Times New Roman" panose="02020603050405020304" pitchFamily="18" charset="0"/>
              </a:rPr>
              <a:t>Software Requirements</a:t>
            </a:r>
            <a:endParaRPr lang="en-IN" sz="3200" dirty="0">
              <a:solidFill>
                <a:srgbClr val="00B0F0"/>
              </a:solidFill>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Windows 10/11 or Linux (Ubuntu recommended for ML)</a:t>
            </a:r>
          </a:p>
          <a:p>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3.x</a:t>
            </a:r>
          </a:p>
          <a:p>
            <a:r>
              <a:rPr lang="en-IN" b="1" dirty="0">
                <a:latin typeface="Times New Roman" panose="02020603050405020304" pitchFamily="18" charset="0"/>
                <a:cs typeface="Times New Roman" panose="02020603050405020304" pitchFamily="18" charset="0"/>
              </a:rPr>
              <a:t>Libraries/Frameworks:</a:t>
            </a:r>
            <a:endParaRPr lang="en-IN" dirty="0">
              <a:latin typeface="Times New Roman" panose="02020603050405020304" pitchFamily="18" charset="0"/>
              <a:cs typeface="Times New Roman" panose="02020603050405020304" pitchFamily="18" charset="0"/>
            </a:endParaRPr>
          </a:p>
          <a:p>
            <a:pPr lvl="1"/>
            <a:r>
              <a:rPr lang="en-IN" b="1" dirty="0">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 numerical operations</a:t>
            </a:r>
          </a:p>
          <a:p>
            <a:pPr lvl="1"/>
            <a:r>
              <a:rPr lang="en-IN" b="1" dirty="0">
                <a:latin typeface="Times New Roman" panose="02020603050405020304" pitchFamily="18" charset="0"/>
                <a:cs typeface="Times New Roman" panose="02020603050405020304" pitchFamily="18" charset="0"/>
              </a:rPr>
              <a:t>Pandas</a:t>
            </a:r>
            <a:r>
              <a:rPr lang="en-IN" dirty="0">
                <a:latin typeface="Times New Roman" panose="02020603050405020304" pitchFamily="18" charset="0"/>
                <a:cs typeface="Times New Roman" panose="02020603050405020304" pitchFamily="18" charset="0"/>
              </a:rPr>
              <a:t> – data preprocessing</a:t>
            </a:r>
          </a:p>
          <a:p>
            <a:pPr lvl="1"/>
            <a:r>
              <a:rPr lang="en-IN" b="1" dirty="0">
                <a:latin typeface="Times New Roman" panose="02020603050405020304" pitchFamily="18" charset="0"/>
                <a:cs typeface="Times New Roman" panose="02020603050405020304" pitchFamily="18" charset="0"/>
              </a:rPr>
              <a:t>Matplotlib / Seaborn</a:t>
            </a:r>
            <a:r>
              <a:rPr lang="en-IN" dirty="0">
                <a:latin typeface="Times New Roman" panose="02020603050405020304" pitchFamily="18" charset="0"/>
                <a:cs typeface="Times New Roman" panose="02020603050405020304" pitchFamily="18" charset="0"/>
              </a:rPr>
              <a:t> – data visualization</a:t>
            </a:r>
          </a:p>
          <a:p>
            <a:pPr lvl="1"/>
            <a:r>
              <a:rPr lang="en-IN" b="1" dirty="0">
                <a:latin typeface="Times New Roman" panose="02020603050405020304" pitchFamily="18" charset="0"/>
                <a:cs typeface="Times New Roman" panose="02020603050405020304" pitchFamily="18" charset="0"/>
              </a:rPr>
              <a:t>Scikit-learn</a:t>
            </a:r>
            <a:r>
              <a:rPr lang="en-IN" dirty="0">
                <a:latin typeface="Times New Roman" panose="02020603050405020304" pitchFamily="18" charset="0"/>
                <a:cs typeface="Times New Roman" panose="02020603050405020304" pitchFamily="18" charset="0"/>
              </a:rPr>
              <a:t> – Linear Regression &amp; Random Forest</a:t>
            </a:r>
          </a:p>
          <a:p>
            <a:pPr lvl="1"/>
            <a:r>
              <a:rPr lang="en-IN" b="1" dirty="0">
                <a:latin typeface="Times New Roman" panose="02020603050405020304" pitchFamily="18" charset="0"/>
                <a:cs typeface="Times New Roman" panose="02020603050405020304" pitchFamily="18" charset="0"/>
              </a:rPr>
              <a:t>TensorFlow / </a:t>
            </a:r>
            <a:r>
              <a:rPr lang="en-IN" b="1"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 LSTM implementation</a:t>
            </a:r>
          </a:p>
          <a:p>
            <a:r>
              <a:rPr lang="en-IN" b="1" dirty="0">
                <a:latin typeface="Times New Roman" panose="02020603050405020304" pitchFamily="18" charset="0"/>
                <a:cs typeface="Times New Roman" panose="02020603050405020304" pitchFamily="18" charset="0"/>
              </a:rPr>
              <a:t>IDE / Development Tools: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PyCharm, or VS Code</a:t>
            </a:r>
          </a:p>
          <a:p>
            <a:r>
              <a:rPr lang="en-IN" b="1" dirty="0">
                <a:latin typeface="Times New Roman" panose="02020603050405020304" pitchFamily="18" charset="0"/>
                <a:cs typeface="Times New Roman" panose="02020603050405020304" pitchFamily="18" charset="0"/>
              </a:rPr>
              <a:t>Database (Optional):</a:t>
            </a:r>
            <a:r>
              <a:rPr lang="en-IN" dirty="0">
                <a:latin typeface="Times New Roman" panose="02020603050405020304" pitchFamily="18" charset="0"/>
                <a:cs typeface="Times New Roman" panose="02020603050405020304" pitchFamily="18" charset="0"/>
              </a:rPr>
              <a:t> MySQL or SQLite for storing historical data</a:t>
            </a:r>
          </a:p>
          <a:p>
            <a:r>
              <a:rPr lang="en-IN" b="1" dirty="0">
                <a:latin typeface="Times New Roman" panose="02020603050405020304" pitchFamily="18" charset="0"/>
                <a:cs typeface="Times New Roman" panose="02020603050405020304" pitchFamily="18" charset="0"/>
              </a:rPr>
              <a:t>Version Control (Optional):</a:t>
            </a:r>
            <a:r>
              <a:rPr lang="en-IN" dirty="0">
                <a:latin typeface="Times New Roman" panose="02020603050405020304" pitchFamily="18" charset="0"/>
                <a:cs typeface="Times New Roman" panose="02020603050405020304" pitchFamily="18" charset="0"/>
              </a:rPr>
              <a:t> GitHub for collaboration and backup</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8089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C3FAF-F43E-1816-9FEB-16BDCCF54C51}"/>
              </a:ext>
            </a:extLst>
          </p:cNvPr>
          <p:cNvSpPr>
            <a:spLocks noGrp="1"/>
          </p:cNvSpPr>
          <p:nvPr>
            <p:ph type="title"/>
          </p:nvPr>
        </p:nvSpPr>
        <p:spPr>
          <a:xfrm>
            <a:off x="838200" y="365126"/>
            <a:ext cx="10515600" cy="773562"/>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Feasibility Analysis</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A95284-7771-BF80-4A4F-2DD194AE3644}"/>
              </a:ext>
            </a:extLst>
          </p:cNvPr>
          <p:cNvSpPr>
            <a:spLocks noGrp="1"/>
          </p:cNvSpPr>
          <p:nvPr>
            <p:ph idx="1"/>
          </p:nvPr>
        </p:nvSpPr>
        <p:spPr>
          <a:xfrm>
            <a:off x="838200" y="1207698"/>
            <a:ext cx="10515600" cy="4969265"/>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A feasibility study ensures that the </a:t>
            </a:r>
            <a:r>
              <a:rPr lang="en-US" i="1" dirty="0">
                <a:latin typeface="Times New Roman" panose="02020603050405020304" pitchFamily="18" charset="0"/>
                <a:cs typeface="Times New Roman" panose="02020603050405020304" pitchFamily="18" charset="0"/>
              </a:rPr>
              <a:t>AI-Based Canteen Food Demand Predictor</a:t>
            </a:r>
            <a:r>
              <a:rPr lang="en-US" dirty="0">
                <a:latin typeface="Times New Roman" panose="02020603050405020304" pitchFamily="18" charset="0"/>
                <a:cs typeface="Times New Roman" panose="02020603050405020304" pitchFamily="18" charset="0"/>
              </a:rPr>
              <a:t> can be successfully developed and implemented.</a:t>
            </a:r>
          </a:p>
          <a:p>
            <a:pPr algn="just"/>
            <a:r>
              <a:rPr lang="en-US" b="1" dirty="0">
                <a:latin typeface="Times New Roman" panose="02020603050405020304" pitchFamily="18" charset="0"/>
                <a:cs typeface="Times New Roman" panose="02020603050405020304" pitchFamily="18" charset="0"/>
              </a:rPr>
              <a:t>Technical Feasibility: </a:t>
            </a:r>
            <a:r>
              <a:rPr lang="en-US" dirty="0">
                <a:latin typeface="Times New Roman" panose="02020603050405020304" pitchFamily="18" charset="0"/>
                <a:cs typeface="Times New Roman" panose="02020603050405020304" pitchFamily="18" charset="0"/>
              </a:rPr>
              <a:t>Uses common hardware (laptops/PCs with 4–8 GB RAM) and open-source tools like Python, Scikit-learn, and TensorFlow. No specialized equipment is needed.</a:t>
            </a:r>
          </a:p>
          <a:p>
            <a:pPr algn="just"/>
            <a:r>
              <a:rPr lang="en-US" b="1" dirty="0">
                <a:latin typeface="Times New Roman" panose="02020603050405020304" pitchFamily="18" charset="0"/>
                <a:cs typeface="Times New Roman" panose="02020603050405020304" pitchFamily="18" charset="0"/>
              </a:rPr>
              <a:t>Economic Feasibility: </a:t>
            </a:r>
            <a:r>
              <a:rPr lang="en-US" dirty="0">
                <a:latin typeface="Times New Roman" panose="02020603050405020304" pitchFamily="18" charset="0"/>
                <a:cs typeface="Times New Roman" panose="02020603050405020304" pitchFamily="18" charset="0"/>
              </a:rPr>
              <a:t>Primarily relies on free software libraries, making it cost-effective. Reduces food wastage and shortages, saving operational costs.</a:t>
            </a:r>
          </a:p>
          <a:p>
            <a:pPr algn="just"/>
            <a:r>
              <a:rPr lang="en-US" b="1" dirty="0">
                <a:latin typeface="Times New Roman" panose="02020603050405020304" pitchFamily="18" charset="0"/>
                <a:cs typeface="Times New Roman" panose="02020603050405020304" pitchFamily="18" charset="0"/>
              </a:rPr>
              <a:t>Operational Feasibility: </a:t>
            </a:r>
            <a:r>
              <a:rPr lang="en-US" dirty="0">
                <a:latin typeface="Times New Roman" panose="02020603050405020304" pitchFamily="18" charset="0"/>
                <a:cs typeface="Times New Roman" panose="02020603050405020304" pitchFamily="18" charset="0"/>
              </a:rPr>
              <a:t>Easy-to-use interface requires minimal training and integrates smoothly into existing canteen workflows.</a:t>
            </a:r>
          </a:p>
          <a:p>
            <a:pPr algn="just"/>
            <a:r>
              <a:rPr lang="en-US" b="1" dirty="0">
                <a:latin typeface="Times New Roman" panose="02020603050405020304" pitchFamily="18" charset="0"/>
                <a:cs typeface="Times New Roman" panose="02020603050405020304" pitchFamily="18" charset="0"/>
              </a:rPr>
              <a:t>Social Feasibility: </a:t>
            </a:r>
            <a:r>
              <a:rPr lang="en-US" dirty="0">
                <a:latin typeface="Times New Roman" panose="02020603050405020304" pitchFamily="18" charset="0"/>
                <a:cs typeface="Times New Roman" panose="02020603050405020304" pitchFamily="18" charset="0"/>
              </a:rPr>
              <a:t>Promotes sustainability by reducing food waste, ensuring fair distribution, and encouraging eco-friendly practices.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9690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F1DD-764C-7828-878D-22B11702FF2B}"/>
              </a:ext>
            </a:extLst>
          </p:cNvPr>
          <p:cNvSpPr>
            <a:spLocks noGrp="1"/>
          </p:cNvSpPr>
          <p:nvPr>
            <p:ph type="title"/>
          </p:nvPr>
        </p:nvSpPr>
        <p:spPr>
          <a:xfrm>
            <a:off x="838200" y="365126"/>
            <a:ext cx="10515600" cy="698800"/>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Module Descriptions</a:t>
            </a:r>
          </a:p>
        </p:txBody>
      </p:sp>
      <p:sp>
        <p:nvSpPr>
          <p:cNvPr id="3" name="Content Placeholder 2">
            <a:extLst>
              <a:ext uri="{FF2B5EF4-FFF2-40B4-BE49-F238E27FC236}">
                <a16:creationId xmlns:a16="http://schemas.microsoft.com/office/drawing/2014/main" id="{3AE04FEF-BB73-1F73-DD8C-9F9FDB41A2DD}"/>
              </a:ext>
            </a:extLst>
          </p:cNvPr>
          <p:cNvSpPr>
            <a:spLocks noGrp="1"/>
          </p:cNvSpPr>
          <p:nvPr>
            <p:ph idx="1"/>
          </p:nvPr>
        </p:nvSpPr>
        <p:spPr>
          <a:xfrm>
            <a:off x="838200" y="1121434"/>
            <a:ext cx="10515600" cy="5204604"/>
          </a:xfrm>
        </p:spPr>
        <p:txBody>
          <a:bodyPr>
            <a:normAutofit fontScale="85000" lnSpcReduction="10000"/>
          </a:bodyPr>
          <a:lstStyle/>
          <a:p>
            <a:pPr marL="0" indent="0">
              <a:buNone/>
            </a:pPr>
            <a:r>
              <a:rPr lang="en-US" dirty="0">
                <a:latin typeface="Times New Roman" panose="02020603050405020304" pitchFamily="18" charset="0"/>
                <a:cs typeface="Times New Roman" panose="02020603050405020304" pitchFamily="18" charset="0"/>
              </a:rPr>
              <a:t>The system is divided into several key modules to ensure efficient data-driven prediction of canteen food demand:</a:t>
            </a:r>
          </a:p>
          <a:p>
            <a:pPr marL="0" indent="0">
              <a:buNone/>
            </a:pPr>
            <a:r>
              <a:rPr lang="en-US" b="1" dirty="0">
                <a:latin typeface="Times New Roman" panose="02020603050405020304" pitchFamily="18" charset="0"/>
                <a:cs typeface="Times New Roman" panose="02020603050405020304" pitchFamily="18" charset="0"/>
              </a:rPr>
              <a:t>1. Data Collection Module: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Gathers historical data including daily sales, student attendance, weekdays, seasonal trends, weather, and special events.</a:t>
            </a:r>
          </a:p>
          <a:p>
            <a:r>
              <a:rPr lang="en-US" dirty="0">
                <a:latin typeface="Times New Roman" panose="02020603050405020304" pitchFamily="18" charset="0"/>
                <a:cs typeface="Times New Roman" panose="02020603050405020304" pitchFamily="18" charset="0"/>
              </a:rPr>
              <a:t>Ensures sufficient and relevant data is available for model training.</a:t>
            </a:r>
          </a:p>
          <a:p>
            <a:pPr marL="0" indent="0">
              <a:buNone/>
            </a:pPr>
            <a:r>
              <a:rPr lang="en-US" b="1" dirty="0">
                <a:latin typeface="Times New Roman" panose="02020603050405020304" pitchFamily="18" charset="0"/>
                <a:cs typeface="Times New Roman" panose="02020603050405020304" pitchFamily="18" charset="0"/>
              </a:rPr>
              <a:t>2. Data Preprocessing Module: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Cleans the data by handling missing values, duplicates, and irrelevant entries.</a:t>
            </a:r>
          </a:p>
          <a:p>
            <a:r>
              <a:rPr lang="en-US" dirty="0">
                <a:latin typeface="Times New Roman" panose="02020603050405020304" pitchFamily="18" charset="0"/>
                <a:cs typeface="Times New Roman" panose="02020603050405020304" pitchFamily="18" charset="0"/>
              </a:rPr>
              <a:t>Encodes categorical variables and normalizes data to improve model accuracy.</a:t>
            </a:r>
          </a:p>
          <a:p>
            <a:pPr marL="0" indent="0">
              <a:buNone/>
            </a:pPr>
            <a:r>
              <a:rPr lang="en-US" b="1" dirty="0">
                <a:latin typeface="Times New Roman" panose="02020603050405020304" pitchFamily="18" charset="0"/>
                <a:cs typeface="Times New Roman" panose="02020603050405020304" pitchFamily="18" charset="0"/>
              </a:rPr>
              <a:t>3. Feature Selection &amp; Extraction Module: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Identifies key factors influencing food demand such as day of the week, student strength, past sales, and event indicators.</a:t>
            </a:r>
          </a:p>
          <a:p>
            <a:r>
              <a:rPr lang="en-US" dirty="0">
                <a:latin typeface="Times New Roman" panose="02020603050405020304" pitchFamily="18" charset="0"/>
                <a:cs typeface="Times New Roman" panose="02020603050405020304" pitchFamily="18" charset="0"/>
              </a:rPr>
              <a:t>Extracted features are used as inputs for machine learning models.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4657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5DAB6-8E5F-3509-8B26-3D15B0740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4BDAC-3D3B-12B1-A5DC-D4F313CC5802}"/>
              </a:ext>
            </a:extLst>
          </p:cNvPr>
          <p:cNvSpPr>
            <a:spLocks noGrp="1"/>
          </p:cNvSpPr>
          <p:nvPr>
            <p:ph type="title"/>
          </p:nvPr>
        </p:nvSpPr>
        <p:spPr>
          <a:xfrm>
            <a:off x="838200" y="365126"/>
            <a:ext cx="10515600" cy="698800"/>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Module Descriptions</a:t>
            </a:r>
          </a:p>
        </p:txBody>
      </p:sp>
      <p:sp>
        <p:nvSpPr>
          <p:cNvPr id="3" name="Content Placeholder 2">
            <a:extLst>
              <a:ext uri="{FF2B5EF4-FFF2-40B4-BE49-F238E27FC236}">
                <a16:creationId xmlns:a16="http://schemas.microsoft.com/office/drawing/2014/main" id="{8B150447-BAF3-97C7-809E-03A2D24AF20D}"/>
              </a:ext>
            </a:extLst>
          </p:cNvPr>
          <p:cNvSpPr>
            <a:spLocks noGrp="1"/>
          </p:cNvSpPr>
          <p:nvPr>
            <p:ph idx="1"/>
          </p:nvPr>
        </p:nvSpPr>
        <p:spPr>
          <a:xfrm>
            <a:off x="838200" y="1121434"/>
            <a:ext cx="10515600" cy="5204604"/>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4. Model Training &amp; Testing Module: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Implements machine learning algorithms like Linear Regression, Random Forest, and LSTM to train prediction models.</a:t>
            </a:r>
          </a:p>
          <a:p>
            <a:r>
              <a:rPr lang="en-US" dirty="0">
                <a:latin typeface="Times New Roman" panose="02020603050405020304" pitchFamily="18" charset="0"/>
                <a:cs typeface="Times New Roman" panose="02020603050405020304" pitchFamily="18" charset="0"/>
              </a:rPr>
              <a:t>Splits data into training and testing sets to evaluate performance and ensure accuracy.</a:t>
            </a:r>
          </a:p>
          <a:p>
            <a:pPr marL="0" indent="0">
              <a:buNone/>
            </a:pPr>
            <a:r>
              <a:rPr lang="en-US" b="1" dirty="0">
                <a:latin typeface="Times New Roman" panose="02020603050405020304" pitchFamily="18" charset="0"/>
                <a:cs typeface="Times New Roman" panose="02020603050405020304" pitchFamily="18" charset="0"/>
              </a:rPr>
              <a:t>5. Forecasting &amp; Prediction Module: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Uses trained models to predict daily demand for each food item.</a:t>
            </a:r>
          </a:p>
          <a:p>
            <a:r>
              <a:rPr lang="en-US" dirty="0">
                <a:latin typeface="Times New Roman" panose="02020603050405020304" pitchFamily="18" charset="0"/>
                <a:cs typeface="Times New Roman" panose="02020603050405020304" pitchFamily="18" charset="0"/>
              </a:rPr>
              <a:t>Continuously updates predictions based on feedback and new data.</a:t>
            </a:r>
          </a:p>
          <a:p>
            <a:pPr marL="0" indent="0">
              <a:buNone/>
            </a:pPr>
            <a:r>
              <a:rPr lang="en-US" b="1" dirty="0">
                <a:latin typeface="Times New Roman" panose="02020603050405020304" pitchFamily="18" charset="0"/>
                <a:cs typeface="Times New Roman" panose="02020603050405020304" pitchFamily="18" charset="0"/>
              </a:rPr>
              <a:t>6. Dashboard &amp; Reporting Module: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Displays demand forecasts and insights in a user-friendly interface.</a:t>
            </a:r>
          </a:p>
          <a:p>
            <a:r>
              <a:rPr lang="en-US" dirty="0">
                <a:latin typeface="Times New Roman" panose="02020603050405020304" pitchFamily="18" charset="0"/>
                <a:cs typeface="Times New Roman" panose="02020603050405020304" pitchFamily="18" charset="0"/>
              </a:rPr>
              <a:t>Helps canteen managers make informed decisions, reduce waste, and optimize resources.</a:t>
            </a:r>
          </a:p>
        </p:txBody>
      </p:sp>
    </p:spTree>
    <p:extLst>
      <p:ext uri="{BB962C8B-B14F-4D97-AF65-F5344CB8AC3E}">
        <p14:creationId xmlns:p14="http://schemas.microsoft.com/office/powerpoint/2010/main" val="3827019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09CC99-0047-C6D6-9D93-E5BD2640E9A9}"/>
              </a:ext>
            </a:extLst>
          </p:cNvPr>
          <p:cNvSpPr>
            <a:spLocks noGrp="1"/>
          </p:cNvSpPr>
          <p:nvPr>
            <p:ph idx="1"/>
          </p:nvPr>
        </p:nvSpPr>
        <p:spPr>
          <a:xfrm>
            <a:off x="851140" y="782128"/>
            <a:ext cx="10502660" cy="5394835"/>
          </a:xfrm>
        </p:spPr>
        <p:txBody>
          <a:bodyPr/>
          <a:lstStyle/>
          <a:p>
            <a:pPr marL="0" indent="0" algn="ctr">
              <a:buNone/>
            </a:pPr>
            <a:r>
              <a:rPr lang="en-US" sz="3200" b="1" dirty="0">
                <a:solidFill>
                  <a:srgbClr val="C00000"/>
                </a:solidFill>
                <a:latin typeface="Times New Roman" panose="02020603050405020304" pitchFamily="18" charset="0"/>
                <a:cs typeface="Times New Roman" panose="02020603050405020304" pitchFamily="18" charset="0"/>
              </a:rPr>
              <a:t>Advantages of Modular Approach</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Accurate, data-driven predictions for daily food preparation.</a:t>
            </a:r>
          </a:p>
          <a:p>
            <a:r>
              <a:rPr lang="en-US" dirty="0">
                <a:latin typeface="Times New Roman" panose="02020603050405020304" pitchFamily="18" charset="0"/>
                <a:cs typeface="Times New Roman" panose="02020603050405020304" pitchFamily="18" charset="0"/>
              </a:rPr>
              <a:t>Reduced wastage and improved cost efficiency.</a:t>
            </a:r>
          </a:p>
          <a:p>
            <a:r>
              <a:rPr lang="en-US" dirty="0">
                <a:latin typeface="Times New Roman" panose="02020603050405020304" pitchFamily="18" charset="0"/>
                <a:cs typeface="Times New Roman" panose="02020603050405020304" pitchFamily="18" charset="0"/>
              </a:rPr>
              <a:t>Real-time updates and continuous learning from new data.</a:t>
            </a:r>
          </a:p>
          <a:p>
            <a:r>
              <a:rPr lang="en-US" dirty="0">
                <a:latin typeface="Times New Roman" panose="02020603050405020304" pitchFamily="18" charset="0"/>
                <a:cs typeface="Times New Roman" panose="02020603050405020304" pitchFamily="18" charset="0"/>
              </a:rPr>
              <a:t>Easy-to-use interface for seamless operational management.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9550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04748-9A56-C88F-8684-5D77D5D04B2B}"/>
              </a:ext>
            </a:extLst>
          </p:cNvPr>
          <p:cNvSpPr>
            <a:spLocks noGrp="1"/>
          </p:cNvSpPr>
          <p:nvPr>
            <p:ph type="title"/>
          </p:nvPr>
        </p:nvSpPr>
        <p:spPr>
          <a:xfrm>
            <a:off x="838200" y="365125"/>
            <a:ext cx="10515600" cy="1072611"/>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27768AD-D360-3E8D-F506-FC0E5A20EC1F}"/>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AI-Based Canteen Food Demand Predictor</a:t>
            </a:r>
            <a:r>
              <a:rPr lang="en-US" dirty="0">
                <a:latin typeface="Times New Roman" panose="02020603050405020304" pitchFamily="18" charset="0"/>
                <a:cs typeface="Times New Roman" panose="02020603050405020304" pitchFamily="18" charset="0"/>
              </a:rPr>
              <a:t> efficiently forecasts daily food demand using AI and ML techniques, analyzing factors like past sales, student attendance, weekdays, seasonal trends, and special events. By providing accurate predictions, it helps reduce food wastage, optimize resources, and control costs. The system continuously improves with new data and offers a user-friendly interface for canteen managers to make informed decisions. This project demonstrates the practical benefits of AI in enhancing operational efficiency, sustainability, and overall satisfaction in college canteens.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561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1457</Words>
  <Application>Microsoft Office PowerPoint</Application>
  <PresentationFormat>Widescreen</PresentationFormat>
  <Paragraphs>92</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Bodoni MT</vt:lpstr>
      <vt:lpstr>Calibri</vt:lpstr>
      <vt:lpstr>Calibri Light</vt:lpstr>
      <vt:lpstr>Times New Roman</vt:lpstr>
      <vt:lpstr>Office Theme</vt:lpstr>
      <vt:lpstr>AI-Based Canteen Food Demand Predictor Using Artificial Intelligence and Machine Learning </vt:lpstr>
      <vt:lpstr>Abstract</vt:lpstr>
      <vt:lpstr>Problem Statement</vt:lpstr>
      <vt:lpstr>Objectives </vt:lpstr>
      <vt:lpstr>Introduction</vt:lpstr>
      <vt:lpstr>Existing System</vt:lpstr>
      <vt:lpstr>Proposed System / Methodology</vt:lpstr>
      <vt:lpstr>PowerPoint Presentation</vt:lpstr>
      <vt:lpstr>Hardware and Software Requirements</vt:lpstr>
      <vt:lpstr>PowerPoint Presentation</vt:lpstr>
      <vt:lpstr>Feasibility Analysis</vt:lpstr>
      <vt:lpstr>Module Descriptions</vt:lpstr>
      <vt:lpstr>Module Descriptions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Neeharika Reddy Gadikota</dc:creator>
  <cp:lastModifiedBy>Neeharika Reddy Gadikota</cp:lastModifiedBy>
  <cp:revision>2</cp:revision>
  <dcterms:created xsi:type="dcterms:W3CDTF">2025-10-11T18:00:16Z</dcterms:created>
  <dcterms:modified xsi:type="dcterms:W3CDTF">2025-10-11T18:46:44Z</dcterms:modified>
</cp:coreProperties>
</file>