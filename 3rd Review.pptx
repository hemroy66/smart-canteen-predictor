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70" r:id="rId4"/>
    <p:sldId id="259" r:id="rId5"/>
    <p:sldId id="263" r:id="rId6"/>
    <p:sldId id="260" r:id="rId7"/>
    <p:sldId id="271" r:id="rId8"/>
    <p:sldId id="272" r:id="rId9"/>
    <p:sldId id="273" r:id="rId10"/>
    <p:sldId id="274" r:id="rId11"/>
    <p:sldId id="275" r:id="rId12"/>
    <p:sldId id="264" r:id="rId13"/>
    <p:sldId id="261" r:id="rId14"/>
    <p:sldId id="276" r:id="rId15"/>
    <p:sldId id="279" r:id="rId16"/>
    <p:sldId id="265" r:id="rId17"/>
    <p:sldId id="268" r:id="rId18"/>
  </p:sldIdLst>
  <p:sldSz cx="18288000" cy="10287000"/>
  <p:notesSz cx="6858000" cy="9144000"/>
  <p:embeddedFontLst>
    <p:embeddedFont>
      <p:font typeface="Bodoni MT" panose="02070603080606020203" pitchFamily="18" charset="0"/>
      <p:regular r:id="rId20"/>
      <p:bold r:id="rId21"/>
      <p:italic r:id="rId22"/>
      <p:boldItalic r:id="rId23"/>
    </p:embeddedFont>
    <p:embeddedFont>
      <p:font typeface="League Spartan" panose="020B0604020202020204" charset="0"/>
      <p:regular r:id="rId24"/>
    </p:embeddedFont>
    <p:embeddedFont>
      <p:font typeface="Montserrat" panose="00000500000000000000" pitchFamily="2" charset="0"/>
      <p:regular r:id="rId25"/>
      <p:bold r:id="rId26"/>
    </p:embeddedFont>
    <p:embeddedFont>
      <p:font typeface="Montserrat Bold" panose="00000800000000000000" charset="0"/>
      <p:regular r:id="rId27"/>
    </p:embeddedFont>
    <p:embeddedFont>
      <p:font typeface="Poppins" panose="00000500000000000000" pitchFamily="2" charset="0"/>
      <p:regular r:id="rId28"/>
      <p:bold r:id="rId29"/>
    </p:embeddedFont>
    <p:embeddedFont>
      <p:font typeface="Poppins Bold" panose="00000800000000000000" charset="0"/>
      <p:regular r:id="rId30"/>
    </p:embeddedFont>
    <p:embeddedFont>
      <p:font typeface="Roboto" panose="02000000000000000000" pitchFamily="2"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558"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eharika Reddy Gadikota" userId="ea0bf10796d46385" providerId="LiveId" clId="{079FD88E-5E27-4153-9070-4C923D41D05E}"/>
    <pc:docChg chg="undo custSel modSld">
      <pc:chgData name="Neeharika Reddy Gadikota" userId="ea0bf10796d46385" providerId="LiveId" clId="{079FD88E-5E27-4153-9070-4C923D41D05E}" dt="2025-11-18T01:32:51.837" v="28" actId="1076"/>
      <pc:docMkLst>
        <pc:docMk/>
      </pc:docMkLst>
      <pc:sldChg chg="modSp mod">
        <pc:chgData name="Neeharika Reddy Gadikota" userId="ea0bf10796d46385" providerId="LiveId" clId="{079FD88E-5E27-4153-9070-4C923D41D05E}" dt="2025-11-18T01:32:51.837" v="28" actId="1076"/>
        <pc:sldMkLst>
          <pc:docMk/>
          <pc:sldMk cId="0" sldId="264"/>
        </pc:sldMkLst>
        <pc:grpChg chg="mod">
          <ac:chgData name="Neeharika Reddy Gadikota" userId="ea0bf10796d46385" providerId="LiveId" clId="{079FD88E-5E27-4153-9070-4C923D41D05E}" dt="2025-11-18T01:32:51.837" v="28" actId="1076"/>
          <ac:grpSpMkLst>
            <pc:docMk/>
            <pc:sldMk cId="0" sldId="264"/>
            <ac:grpSpMk id="6" creationId="{00000000-0000-0000-0000-000000000000}"/>
          </ac:grpSpMkLst>
        </pc:grpChg>
      </pc:sldChg>
      <pc:sldChg chg="modSp mod">
        <pc:chgData name="Neeharika Reddy Gadikota" userId="ea0bf10796d46385" providerId="LiveId" clId="{079FD88E-5E27-4153-9070-4C923D41D05E}" dt="2025-11-18T01:15:14.415" v="27" actId="1076"/>
        <pc:sldMkLst>
          <pc:docMk/>
          <pc:sldMk cId="0" sldId="272"/>
        </pc:sldMkLst>
        <pc:grpChg chg="mod">
          <ac:chgData name="Neeharika Reddy Gadikota" userId="ea0bf10796d46385" providerId="LiveId" clId="{079FD88E-5E27-4153-9070-4C923D41D05E}" dt="2025-11-18T01:15:14.415" v="27" actId="1076"/>
          <ac:grpSpMkLst>
            <pc:docMk/>
            <pc:sldMk cId="0" sldId="272"/>
            <ac:grpSpMk id="6" creationId="{00000000-0000-0000-0000-000000000000}"/>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663866-6871-45A7-9C34-97BC92A79323}" type="datetimeFigureOut">
              <a:rPr lang="en-IN" smtClean="0"/>
              <a:t>18-11-2025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58C7FF-CEF2-4815-894C-A4905CB9444C}" type="slidenum">
              <a:rPr lang="en-IN" smtClean="0"/>
              <a:t>‹#›</a:t>
            </a:fld>
            <a:endParaRPr lang="en-IN"/>
          </a:p>
        </p:txBody>
      </p:sp>
    </p:spTree>
    <p:extLst>
      <p:ext uri="{BB962C8B-B14F-4D97-AF65-F5344CB8AC3E}">
        <p14:creationId xmlns:p14="http://schemas.microsoft.com/office/powerpoint/2010/main" val="3353106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58C7FF-CEF2-4815-894C-A4905CB9444C}" type="slidenum">
              <a:rPr lang="en-IN" smtClean="0"/>
              <a:t>5</a:t>
            </a:fld>
            <a:endParaRPr lang="en-IN"/>
          </a:p>
        </p:txBody>
      </p:sp>
    </p:spTree>
    <p:extLst>
      <p:ext uri="{BB962C8B-B14F-4D97-AF65-F5344CB8AC3E}">
        <p14:creationId xmlns:p14="http://schemas.microsoft.com/office/powerpoint/2010/main" val="3527679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6" name="TextBox 6"/>
          <p:cNvSpPr txBox="1"/>
          <p:nvPr/>
        </p:nvSpPr>
        <p:spPr>
          <a:xfrm>
            <a:off x="0" y="3358524"/>
            <a:ext cx="18288000" cy="2031325"/>
          </a:xfrm>
          <a:prstGeom prst="rect">
            <a:avLst/>
          </a:prstGeom>
        </p:spPr>
        <p:txBody>
          <a:bodyPr wrap="square" lIns="0" tIns="0" rIns="0" bIns="0" rtlCol="0" anchor="t">
            <a:spAutoFit/>
          </a:bodyPr>
          <a:lstStyle/>
          <a:p>
            <a:pPr algn="ctr">
              <a:spcBef>
                <a:spcPct val="0"/>
              </a:spcBef>
            </a:pPr>
            <a:r>
              <a:rPr lang="en-US" sz="6600" b="1" dirty="0">
                <a:solidFill>
                  <a:srgbClr val="0033CC"/>
                </a:solidFill>
                <a:latin typeface="Bodoni MT" panose="02070603080606020203" pitchFamily="18" charset="0"/>
              </a:rPr>
              <a:t>AI-Based Canteen Food Demand Predictor Using Artificial Intelligence and Machine Learning</a:t>
            </a:r>
            <a:endParaRPr lang="en-US" sz="6600" dirty="0">
              <a:solidFill>
                <a:srgbClr val="0033CC"/>
              </a:solidFill>
              <a:latin typeface="Montserrat"/>
              <a:ea typeface="Montserrat"/>
              <a:cs typeface="Montserrat"/>
              <a:sym typeface="Montserrat"/>
            </a:endParaRPr>
          </a:p>
        </p:txBody>
      </p:sp>
      <p:grpSp>
        <p:nvGrpSpPr>
          <p:cNvPr id="7" name="Group 7"/>
          <p:cNvGrpSpPr/>
          <p:nvPr/>
        </p:nvGrpSpPr>
        <p:grpSpPr>
          <a:xfrm>
            <a:off x="16420234" y="-1717598"/>
            <a:ext cx="3735531" cy="373553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747857" y="-643475"/>
            <a:ext cx="1286950" cy="128695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1929195" y="8389571"/>
            <a:ext cx="3735531" cy="373553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459376" y="5874048"/>
            <a:ext cx="17369247" cy="677108"/>
          </a:xfrm>
          <a:prstGeom prst="rect">
            <a:avLst/>
          </a:prstGeom>
        </p:spPr>
        <p:txBody>
          <a:bodyPr wrap="square" lIns="0" tIns="0" rIns="0" bIns="0" rtlCol="0" anchor="t">
            <a:spAutoFit/>
          </a:bodyPr>
          <a:lstStyle/>
          <a:p>
            <a:pPr algn="ctr"/>
            <a:r>
              <a:rPr lang="en-US" sz="4400" b="1" dirty="0">
                <a:latin typeface="Times New Roman" panose="02020603050405020304" pitchFamily="18" charset="0"/>
                <a:cs typeface="Times New Roman" panose="02020603050405020304" pitchFamily="18" charset="0"/>
              </a:rPr>
              <a:t>Smart Food Demand Prediction for Efficient &amp; Sustainable Canteens</a:t>
            </a:r>
            <a:endParaRPr lang="en-IN" sz="4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4517814" y="-315404"/>
            <a:ext cx="3964281" cy="10917809"/>
            <a:chOff x="0" y="0"/>
            <a:chExt cx="1044090" cy="2875472"/>
          </a:xfrm>
        </p:grpSpPr>
        <p:sp>
          <p:nvSpPr>
            <p:cNvPr id="3" name="Freeform 3"/>
            <p:cNvSpPr/>
            <p:nvPr/>
          </p:nvSpPr>
          <p:spPr>
            <a:xfrm>
              <a:off x="0" y="0"/>
              <a:ext cx="1044090" cy="2875472"/>
            </a:xfrm>
            <a:custGeom>
              <a:avLst/>
              <a:gdLst/>
              <a:ahLst/>
              <a:cxnLst/>
              <a:rect l="l" t="t" r="r" b="b"/>
              <a:pathLst>
                <a:path w="1044090" h="2875472">
                  <a:moveTo>
                    <a:pt x="0" y="0"/>
                  </a:moveTo>
                  <a:lnTo>
                    <a:pt x="1044090" y="0"/>
                  </a:lnTo>
                  <a:lnTo>
                    <a:pt x="1044090" y="2875472"/>
                  </a:lnTo>
                  <a:lnTo>
                    <a:pt x="0" y="2875472"/>
                  </a:lnTo>
                  <a:close/>
                </a:path>
              </a:pathLst>
            </a:custGeom>
            <a:solidFill>
              <a:srgbClr val="145DA0"/>
            </a:solidFill>
            <a:ln cap="sq">
              <a:noFill/>
              <a:prstDash val="solid"/>
              <a:miter/>
            </a:ln>
          </p:spPr>
        </p:sp>
        <p:sp>
          <p:nvSpPr>
            <p:cNvPr id="4" name="TextBox 4"/>
            <p:cNvSpPr txBox="1"/>
            <p:nvPr/>
          </p:nvSpPr>
          <p:spPr>
            <a:xfrm>
              <a:off x="0" y="-38100"/>
              <a:ext cx="1044090" cy="291357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3663160" y="1631607"/>
            <a:ext cx="6760246" cy="1252338"/>
          </a:xfrm>
          <a:prstGeom prst="rect">
            <a:avLst/>
          </a:prstGeom>
        </p:spPr>
        <p:txBody>
          <a:bodyPr lIns="0" tIns="0" rIns="0" bIns="0" rtlCol="0" anchor="t">
            <a:spAutoFit/>
          </a:bodyPr>
          <a:lstStyle/>
          <a:p>
            <a:pPr algn="l">
              <a:lnSpc>
                <a:spcPts val="10248"/>
              </a:lnSpc>
              <a:spcBef>
                <a:spcPct val="0"/>
              </a:spcBef>
            </a:pPr>
            <a:r>
              <a:rPr lang="en-US" sz="7320" b="1">
                <a:solidFill>
                  <a:srgbClr val="051D40"/>
                </a:solidFill>
                <a:latin typeface="Montserrat Bold"/>
                <a:ea typeface="Montserrat Bold"/>
                <a:cs typeface="Montserrat Bold"/>
                <a:sym typeface="Montserrat Bold"/>
              </a:rPr>
              <a:t>Overview</a:t>
            </a:r>
          </a:p>
        </p:txBody>
      </p:sp>
      <p:grpSp>
        <p:nvGrpSpPr>
          <p:cNvPr id="6" name="Group 6"/>
          <p:cNvGrpSpPr/>
          <p:nvPr/>
        </p:nvGrpSpPr>
        <p:grpSpPr>
          <a:xfrm>
            <a:off x="-1867766" y="-1614217"/>
            <a:ext cx="3735531" cy="373553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5400000">
            <a:off x="2912435" y="3472452"/>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TextBox 11"/>
          <p:cNvSpPr txBox="1"/>
          <p:nvPr/>
        </p:nvSpPr>
        <p:spPr>
          <a:xfrm>
            <a:off x="3663160" y="3397227"/>
            <a:ext cx="3773019" cy="487185"/>
          </a:xfrm>
          <a:prstGeom prst="rect">
            <a:avLst/>
          </a:prstGeom>
        </p:spPr>
        <p:txBody>
          <a:bodyPr lIns="0" tIns="0" rIns="0" bIns="0" rtlCol="0" anchor="t">
            <a:spAutoFit/>
          </a:bodyPr>
          <a:lstStyle/>
          <a:p>
            <a:pPr algn="l">
              <a:lnSpc>
                <a:spcPts val="3995"/>
              </a:lnSpc>
              <a:spcBef>
                <a:spcPct val="0"/>
              </a:spcBef>
            </a:pPr>
            <a:r>
              <a:rPr lang="en-US" sz="2853" spc="-57" dirty="0">
                <a:solidFill>
                  <a:srgbClr val="051D40"/>
                </a:solidFill>
                <a:latin typeface="Poppins"/>
                <a:ea typeface="Poppins"/>
                <a:cs typeface="Poppins"/>
                <a:sym typeface="Poppins"/>
              </a:rPr>
              <a:t>Abstract</a:t>
            </a:r>
          </a:p>
        </p:txBody>
      </p:sp>
      <p:sp>
        <p:nvSpPr>
          <p:cNvPr id="13" name="Freeform 13"/>
          <p:cNvSpPr/>
          <p:nvPr/>
        </p:nvSpPr>
        <p:spPr>
          <a:xfrm rot="5400000">
            <a:off x="2912435" y="4097959"/>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3663160" y="4022734"/>
            <a:ext cx="4143021" cy="487185"/>
          </a:xfrm>
          <a:prstGeom prst="rect">
            <a:avLst/>
          </a:prstGeom>
        </p:spPr>
        <p:txBody>
          <a:bodyPr lIns="0" tIns="0" rIns="0" bIns="0" rtlCol="0" anchor="t">
            <a:spAutoFit/>
          </a:bodyPr>
          <a:lstStyle/>
          <a:p>
            <a:pPr algn="l">
              <a:lnSpc>
                <a:spcPts val="3995"/>
              </a:lnSpc>
              <a:spcBef>
                <a:spcPct val="0"/>
              </a:spcBef>
            </a:pPr>
            <a:r>
              <a:rPr lang="en-US" sz="2853" spc="-57" dirty="0">
                <a:solidFill>
                  <a:srgbClr val="051D40"/>
                </a:solidFill>
                <a:latin typeface="Poppins"/>
                <a:ea typeface="Poppins"/>
                <a:cs typeface="Poppins"/>
                <a:sym typeface="Poppins"/>
              </a:rPr>
              <a:t>Problem Statement</a:t>
            </a:r>
          </a:p>
        </p:txBody>
      </p:sp>
      <p:sp>
        <p:nvSpPr>
          <p:cNvPr id="16" name="Freeform 16"/>
          <p:cNvSpPr/>
          <p:nvPr/>
        </p:nvSpPr>
        <p:spPr>
          <a:xfrm rot="5400000">
            <a:off x="2912435" y="4723196"/>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3663160" y="4647971"/>
            <a:ext cx="4652520" cy="487185"/>
          </a:xfrm>
          <a:prstGeom prst="rect">
            <a:avLst/>
          </a:prstGeom>
        </p:spPr>
        <p:txBody>
          <a:bodyPr lIns="0" tIns="0" rIns="0" bIns="0" rtlCol="0" anchor="t">
            <a:spAutoFit/>
          </a:bodyPr>
          <a:lstStyle/>
          <a:p>
            <a:pPr algn="l">
              <a:lnSpc>
                <a:spcPts val="3995"/>
              </a:lnSpc>
              <a:spcBef>
                <a:spcPct val="0"/>
              </a:spcBef>
            </a:pPr>
            <a:r>
              <a:rPr lang="en-US" sz="2853" spc="-57" dirty="0">
                <a:solidFill>
                  <a:srgbClr val="051D40"/>
                </a:solidFill>
                <a:latin typeface="Poppins"/>
                <a:ea typeface="Poppins"/>
                <a:cs typeface="Poppins"/>
                <a:sym typeface="Poppins"/>
              </a:rPr>
              <a:t>Objectives</a:t>
            </a:r>
          </a:p>
        </p:txBody>
      </p:sp>
      <p:sp>
        <p:nvSpPr>
          <p:cNvPr id="19" name="Freeform 19"/>
          <p:cNvSpPr/>
          <p:nvPr/>
        </p:nvSpPr>
        <p:spPr>
          <a:xfrm rot="5400000">
            <a:off x="2912435" y="5348703"/>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3663160" y="5273478"/>
            <a:ext cx="4397771" cy="487185"/>
          </a:xfrm>
          <a:prstGeom prst="rect">
            <a:avLst/>
          </a:prstGeom>
        </p:spPr>
        <p:txBody>
          <a:bodyPr lIns="0" tIns="0" rIns="0" bIns="0" rtlCol="0" anchor="t">
            <a:spAutoFit/>
          </a:bodyPr>
          <a:lstStyle/>
          <a:p>
            <a:pPr algn="l">
              <a:lnSpc>
                <a:spcPts val="3995"/>
              </a:lnSpc>
              <a:spcBef>
                <a:spcPct val="0"/>
              </a:spcBef>
            </a:pPr>
            <a:r>
              <a:rPr lang="en-US" sz="2853" spc="-57" dirty="0">
                <a:solidFill>
                  <a:srgbClr val="051D40"/>
                </a:solidFill>
                <a:latin typeface="Poppins"/>
                <a:ea typeface="Poppins"/>
                <a:cs typeface="Poppins"/>
                <a:sym typeface="Poppins"/>
              </a:rPr>
              <a:t>Introduction</a:t>
            </a:r>
          </a:p>
        </p:txBody>
      </p:sp>
      <p:sp>
        <p:nvSpPr>
          <p:cNvPr id="22" name="Freeform 22"/>
          <p:cNvSpPr/>
          <p:nvPr/>
        </p:nvSpPr>
        <p:spPr>
          <a:xfrm rot="5400000">
            <a:off x="2912435" y="5973940"/>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3" name="TextBox 23"/>
          <p:cNvSpPr txBox="1"/>
          <p:nvPr/>
        </p:nvSpPr>
        <p:spPr>
          <a:xfrm>
            <a:off x="3663160" y="5898715"/>
            <a:ext cx="7004840" cy="487185"/>
          </a:xfrm>
          <a:prstGeom prst="rect">
            <a:avLst/>
          </a:prstGeom>
        </p:spPr>
        <p:txBody>
          <a:bodyPr wrap="square" lIns="0" tIns="0" rIns="0" bIns="0" rtlCol="0" anchor="t">
            <a:spAutoFit/>
          </a:bodyPr>
          <a:lstStyle/>
          <a:p>
            <a:pPr algn="l">
              <a:lnSpc>
                <a:spcPts val="3995"/>
              </a:lnSpc>
              <a:spcBef>
                <a:spcPct val="0"/>
              </a:spcBef>
            </a:pPr>
            <a:r>
              <a:rPr lang="en-US" sz="2853" spc="-57" dirty="0">
                <a:solidFill>
                  <a:srgbClr val="051D40"/>
                </a:solidFill>
                <a:latin typeface="Poppins"/>
                <a:ea typeface="Poppins"/>
                <a:cs typeface="Poppins"/>
                <a:sym typeface="Poppins"/>
              </a:rPr>
              <a:t>Existing System- Limitations</a:t>
            </a:r>
          </a:p>
        </p:txBody>
      </p:sp>
      <p:sp>
        <p:nvSpPr>
          <p:cNvPr id="25" name="Freeform 25"/>
          <p:cNvSpPr/>
          <p:nvPr/>
        </p:nvSpPr>
        <p:spPr>
          <a:xfrm rot="5400000">
            <a:off x="2912435" y="6599447"/>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8" name="Freeform 28"/>
          <p:cNvSpPr/>
          <p:nvPr/>
        </p:nvSpPr>
        <p:spPr>
          <a:xfrm rot="5400000">
            <a:off x="2912435" y="7224684"/>
            <a:ext cx="510937" cy="453341"/>
          </a:xfrm>
          <a:custGeom>
            <a:avLst/>
            <a:gdLst/>
            <a:ahLst/>
            <a:cxnLst/>
            <a:rect l="l" t="t" r="r" b="b"/>
            <a:pathLst>
              <a:path w="510937" h="453341">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9" name="TextBox 29"/>
          <p:cNvSpPr txBox="1"/>
          <p:nvPr/>
        </p:nvSpPr>
        <p:spPr>
          <a:xfrm>
            <a:off x="3652166" y="7200388"/>
            <a:ext cx="6242840" cy="487185"/>
          </a:xfrm>
          <a:prstGeom prst="rect">
            <a:avLst/>
          </a:prstGeom>
        </p:spPr>
        <p:txBody>
          <a:bodyPr wrap="square" lIns="0" tIns="0" rIns="0" bIns="0" rtlCol="0" anchor="t">
            <a:spAutoFit/>
          </a:bodyPr>
          <a:lstStyle/>
          <a:p>
            <a:pPr algn="l">
              <a:lnSpc>
                <a:spcPts val="3995"/>
              </a:lnSpc>
              <a:spcBef>
                <a:spcPct val="0"/>
              </a:spcBef>
            </a:pPr>
            <a:r>
              <a:rPr lang="en-US" sz="2853" spc="-57" dirty="0">
                <a:solidFill>
                  <a:srgbClr val="051D40"/>
                </a:solidFill>
                <a:latin typeface="Poppins"/>
                <a:ea typeface="Poppins"/>
                <a:cs typeface="Poppins"/>
                <a:sym typeface="Poppins"/>
              </a:rPr>
              <a:t>Hardware &amp; Software Requirements</a:t>
            </a:r>
          </a:p>
        </p:txBody>
      </p:sp>
      <p:sp>
        <p:nvSpPr>
          <p:cNvPr id="31" name="Freeform 31"/>
          <p:cNvSpPr/>
          <p:nvPr/>
        </p:nvSpPr>
        <p:spPr>
          <a:xfrm rot="5400000">
            <a:off x="2912435" y="7850190"/>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2" name="TextBox 32"/>
          <p:cNvSpPr txBox="1"/>
          <p:nvPr/>
        </p:nvSpPr>
        <p:spPr>
          <a:xfrm>
            <a:off x="3663263" y="9058199"/>
            <a:ext cx="7004737" cy="487185"/>
          </a:xfrm>
          <a:prstGeom prst="rect">
            <a:avLst/>
          </a:prstGeom>
        </p:spPr>
        <p:txBody>
          <a:bodyPr wrap="square" lIns="0" tIns="0" rIns="0" bIns="0" rtlCol="0" anchor="t">
            <a:spAutoFit/>
          </a:bodyPr>
          <a:lstStyle/>
          <a:p>
            <a:pPr algn="l">
              <a:lnSpc>
                <a:spcPts val="3995"/>
              </a:lnSpc>
              <a:spcBef>
                <a:spcPct val="0"/>
              </a:spcBef>
            </a:pPr>
            <a:r>
              <a:rPr lang="en-US" sz="2853" spc="-57" dirty="0">
                <a:solidFill>
                  <a:srgbClr val="051D40"/>
                </a:solidFill>
                <a:latin typeface="Poppins"/>
                <a:ea typeface="Poppins"/>
                <a:cs typeface="Poppins"/>
                <a:sym typeface="Poppins"/>
              </a:rPr>
              <a:t>Advantages of Modular Approach</a:t>
            </a:r>
          </a:p>
        </p:txBody>
      </p:sp>
      <p:pic>
        <p:nvPicPr>
          <p:cNvPr id="5122" name="Picture 2" descr="The benefits of voice AI for the Food and Beverage Industry">
            <a:extLst>
              <a:ext uri="{FF2B5EF4-FFF2-40B4-BE49-F238E27FC236}">
                <a16:creationId xmlns:a16="http://schemas.microsoft.com/office/drawing/2014/main" id="{9C69D038-02FF-A4C0-2C1A-0D4D338558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48922" y="1355067"/>
            <a:ext cx="6760246" cy="7929676"/>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11">
            <a:extLst>
              <a:ext uri="{FF2B5EF4-FFF2-40B4-BE49-F238E27FC236}">
                <a16:creationId xmlns:a16="http://schemas.microsoft.com/office/drawing/2014/main" id="{3F6D8288-DDBC-4EA7-6632-9E012C6F6530}"/>
              </a:ext>
            </a:extLst>
          </p:cNvPr>
          <p:cNvSpPr txBox="1"/>
          <p:nvPr/>
        </p:nvSpPr>
        <p:spPr>
          <a:xfrm>
            <a:off x="3630599" y="6586673"/>
            <a:ext cx="6414508" cy="487185"/>
          </a:xfrm>
          <a:prstGeom prst="rect">
            <a:avLst/>
          </a:prstGeom>
        </p:spPr>
        <p:txBody>
          <a:bodyPr wrap="square" lIns="0" tIns="0" rIns="0" bIns="0" rtlCol="0" anchor="t">
            <a:spAutoFit/>
          </a:bodyPr>
          <a:lstStyle/>
          <a:p>
            <a:pPr algn="l">
              <a:lnSpc>
                <a:spcPts val="3995"/>
              </a:lnSpc>
              <a:spcBef>
                <a:spcPct val="0"/>
              </a:spcBef>
            </a:pPr>
            <a:r>
              <a:rPr lang="en-US" sz="2853" spc="-57" dirty="0">
                <a:solidFill>
                  <a:srgbClr val="051D40"/>
                </a:solidFill>
                <a:latin typeface="Poppins"/>
                <a:ea typeface="Poppins"/>
                <a:cs typeface="Poppins"/>
                <a:sym typeface="Poppins"/>
              </a:rPr>
              <a:t>Proposed System/Methodology</a:t>
            </a:r>
          </a:p>
        </p:txBody>
      </p:sp>
      <p:sp>
        <p:nvSpPr>
          <p:cNvPr id="36" name="Freeform 31">
            <a:extLst>
              <a:ext uri="{FF2B5EF4-FFF2-40B4-BE49-F238E27FC236}">
                <a16:creationId xmlns:a16="http://schemas.microsoft.com/office/drawing/2014/main" id="{053E3472-9AAF-B514-093B-2FC905A129DC}"/>
              </a:ext>
            </a:extLst>
          </p:cNvPr>
          <p:cNvSpPr/>
          <p:nvPr/>
        </p:nvSpPr>
        <p:spPr>
          <a:xfrm rot="5400000">
            <a:off x="2912435" y="8475696"/>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7" name="Freeform 31">
            <a:extLst>
              <a:ext uri="{FF2B5EF4-FFF2-40B4-BE49-F238E27FC236}">
                <a16:creationId xmlns:a16="http://schemas.microsoft.com/office/drawing/2014/main" id="{D6544940-1CDB-BDFD-7B01-904ACFF830B1}"/>
              </a:ext>
            </a:extLst>
          </p:cNvPr>
          <p:cNvSpPr/>
          <p:nvPr/>
        </p:nvSpPr>
        <p:spPr>
          <a:xfrm rot="5400000">
            <a:off x="2912434" y="9107490"/>
            <a:ext cx="510937" cy="453341"/>
          </a:xfrm>
          <a:custGeom>
            <a:avLst/>
            <a:gdLst/>
            <a:ahLst/>
            <a:cxnLst/>
            <a:rect l="l" t="t" r="r" b="b"/>
            <a:pathLst>
              <a:path w="510937" h="453341">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8" name="TextBox 32">
            <a:extLst>
              <a:ext uri="{FF2B5EF4-FFF2-40B4-BE49-F238E27FC236}">
                <a16:creationId xmlns:a16="http://schemas.microsoft.com/office/drawing/2014/main" id="{2DE754E4-2BCF-77F8-6381-3EF2F6B0F58D}"/>
              </a:ext>
            </a:extLst>
          </p:cNvPr>
          <p:cNvSpPr txBox="1"/>
          <p:nvPr/>
        </p:nvSpPr>
        <p:spPr>
          <a:xfrm>
            <a:off x="3688416" y="8451132"/>
            <a:ext cx="4397771" cy="487185"/>
          </a:xfrm>
          <a:prstGeom prst="rect">
            <a:avLst/>
          </a:prstGeom>
        </p:spPr>
        <p:txBody>
          <a:bodyPr lIns="0" tIns="0" rIns="0" bIns="0" rtlCol="0" anchor="t">
            <a:spAutoFit/>
          </a:bodyPr>
          <a:lstStyle/>
          <a:p>
            <a:pPr algn="l">
              <a:lnSpc>
                <a:spcPts val="3995"/>
              </a:lnSpc>
              <a:spcBef>
                <a:spcPct val="0"/>
              </a:spcBef>
            </a:pPr>
            <a:r>
              <a:rPr lang="en-US" sz="2853" spc="-57" dirty="0">
                <a:solidFill>
                  <a:srgbClr val="051D40"/>
                </a:solidFill>
                <a:latin typeface="Poppins"/>
                <a:ea typeface="Poppins"/>
                <a:cs typeface="Poppins"/>
                <a:sym typeface="Poppins"/>
              </a:rPr>
              <a:t>Module Descriptions</a:t>
            </a:r>
          </a:p>
        </p:txBody>
      </p:sp>
      <p:sp>
        <p:nvSpPr>
          <p:cNvPr id="39" name="TextBox 32">
            <a:extLst>
              <a:ext uri="{FF2B5EF4-FFF2-40B4-BE49-F238E27FC236}">
                <a16:creationId xmlns:a16="http://schemas.microsoft.com/office/drawing/2014/main" id="{0ADB89F5-9217-265B-27DF-4E0E9BC5EA37}"/>
              </a:ext>
            </a:extLst>
          </p:cNvPr>
          <p:cNvSpPr txBox="1"/>
          <p:nvPr/>
        </p:nvSpPr>
        <p:spPr>
          <a:xfrm>
            <a:off x="3667589" y="7837417"/>
            <a:ext cx="4397771" cy="487185"/>
          </a:xfrm>
          <a:prstGeom prst="rect">
            <a:avLst/>
          </a:prstGeom>
        </p:spPr>
        <p:txBody>
          <a:bodyPr lIns="0" tIns="0" rIns="0" bIns="0" rtlCol="0" anchor="t">
            <a:spAutoFit/>
          </a:bodyPr>
          <a:lstStyle/>
          <a:p>
            <a:pPr algn="l">
              <a:lnSpc>
                <a:spcPts val="3995"/>
              </a:lnSpc>
              <a:spcBef>
                <a:spcPct val="0"/>
              </a:spcBef>
            </a:pPr>
            <a:r>
              <a:rPr lang="en-US" sz="2853" spc="-57" dirty="0">
                <a:solidFill>
                  <a:srgbClr val="051D40"/>
                </a:solidFill>
                <a:latin typeface="Poppins"/>
                <a:ea typeface="Poppins"/>
                <a:cs typeface="Poppins"/>
                <a:sym typeface="Poppins"/>
              </a:rPr>
              <a:t>Feasibility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a:extLst>
            <a:ext uri="{FF2B5EF4-FFF2-40B4-BE49-F238E27FC236}">
              <a16:creationId xmlns:a16="http://schemas.microsoft.com/office/drawing/2014/main" id="{DD9BF208-E09F-7939-ADB1-DF246BF16D87}"/>
            </a:ext>
          </a:extLst>
        </p:cNvPr>
        <p:cNvGrpSpPr/>
        <p:nvPr/>
      </p:nvGrpSpPr>
      <p:grpSpPr>
        <a:xfrm>
          <a:off x="0" y="0"/>
          <a:ext cx="0" cy="0"/>
          <a:chOff x="0" y="0"/>
          <a:chExt cx="0" cy="0"/>
        </a:xfrm>
      </p:grpSpPr>
      <p:pic>
        <p:nvPicPr>
          <p:cNvPr id="1030" name="Picture 6" descr="3,000+ Fast Food Blur Stock Photos, Pictures &amp; Royalty-Free Images - iStock">
            <a:extLst>
              <a:ext uri="{FF2B5EF4-FFF2-40B4-BE49-F238E27FC236}">
                <a16:creationId xmlns:a16="http://schemas.microsoft.com/office/drawing/2014/main" id="{54933933-6937-B26C-5D39-7371BCD377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0" cy="615142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a:extLst>
              <a:ext uri="{FF2B5EF4-FFF2-40B4-BE49-F238E27FC236}">
                <a16:creationId xmlns:a16="http://schemas.microsoft.com/office/drawing/2014/main" id="{A045BD7D-95F7-FC2D-669A-5491C853B1AB}"/>
              </a:ext>
            </a:extLst>
          </p:cNvPr>
          <p:cNvGrpSpPr/>
          <p:nvPr/>
        </p:nvGrpSpPr>
        <p:grpSpPr>
          <a:xfrm>
            <a:off x="-188217" y="9258300"/>
            <a:ext cx="18476217" cy="1028700"/>
            <a:chOff x="0" y="0"/>
            <a:chExt cx="4866164" cy="270933"/>
          </a:xfrm>
        </p:grpSpPr>
        <p:sp>
          <p:nvSpPr>
            <p:cNvPr id="4" name="Freeform 4">
              <a:extLst>
                <a:ext uri="{FF2B5EF4-FFF2-40B4-BE49-F238E27FC236}">
                  <a16:creationId xmlns:a16="http://schemas.microsoft.com/office/drawing/2014/main" id="{6E15B776-C202-54A4-A2B6-D2E6D9B864BF}"/>
                </a:ext>
              </a:extLst>
            </p:cNvPr>
            <p:cNvSpPr/>
            <p:nvPr/>
          </p:nvSpPr>
          <p:spPr>
            <a:xfrm>
              <a:off x="0" y="0"/>
              <a:ext cx="4866164" cy="270933"/>
            </a:xfrm>
            <a:custGeom>
              <a:avLst/>
              <a:gdLst/>
              <a:ahLst/>
              <a:cxnLst/>
              <a:rect l="l" t="t" r="r" b="b"/>
              <a:pathLst>
                <a:path w="4866164" h="270933">
                  <a:moveTo>
                    <a:pt x="0" y="0"/>
                  </a:moveTo>
                  <a:lnTo>
                    <a:pt x="4866164" y="0"/>
                  </a:lnTo>
                  <a:lnTo>
                    <a:pt x="4866164" y="270933"/>
                  </a:lnTo>
                  <a:lnTo>
                    <a:pt x="0" y="270933"/>
                  </a:lnTo>
                  <a:close/>
                </a:path>
              </a:pathLst>
            </a:custGeom>
            <a:solidFill>
              <a:srgbClr val="5B98BA"/>
            </a:solidFill>
            <a:ln cap="sq">
              <a:noFill/>
              <a:prstDash val="solid"/>
              <a:miter/>
            </a:ln>
          </p:spPr>
        </p:sp>
        <p:sp>
          <p:nvSpPr>
            <p:cNvPr id="5" name="TextBox 5">
              <a:extLst>
                <a:ext uri="{FF2B5EF4-FFF2-40B4-BE49-F238E27FC236}">
                  <a16:creationId xmlns:a16="http://schemas.microsoft.com/office/drawing/2014/main" id="{59700F0E-18DC-4555-38AD-E48C4A313FEC}"/>
                </a:ext>
              </a:extLst>
            </p:cNvPr>
            <p:cNvSpPr txBox="1"/>
            <p:nvPr/>
          </p:nvSpPr>
          <p:spPr>
            <a:xfrm>
              <a:off x="0" y="-38100"/>
              <a:ext cx="4866164" cy="30903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a:extLst>
              <a:ext uri="{FF2B5EF4-FFF2-40B4-BE49-F238E27FC236}">
                <a16:creationId xmlns:a16="http://schemas.microsoft.com/office/drawing/2014/main" id="{E37F32F0-D3A0-C070-59AB-B785D1853B5A}"/>
              </a:ext>
            </a:extLst>
          </p:cNvPr>
          <p:cNvGrpSpPr/>
          <p:nvPr/>
        </p:nvGrpSpPr>
        <p:grpSpPr>
          <a:xfrm>
            <a:off x="1143000" y="2590556"/>
            <a:ext cx="16230600" cy="5981944"/>
            <a:chOff x="0" y="0"/>
            <a:chExt cx="3042735" cy="1344760"/>
          </a:xfrm>
        </p:grpSpPr>
        <p:sp>
          <p:nvSpPr>
            <p:cNvPr id="7" name="Freeform 7">
              <a:extLst>
                <a:ext uri="{FF2B5EF4-FFF2-40B4-BE49-F238E27FC236}">
                  <a16:creationId xmlns:a16="http://schemas.microsoft.com/office/drawing/2014/main" id="{3A1D7082-F511-C571-39BD-0BBD9A5A2E20}"/>
                </a:ext>
              </a:extLst>
            </p:cNvPr>
            <p:cNvSpPr/>
            <p:nvPr/>
          </p:nvSpPr>
          <p:spPr>
            <a:xfrm>
              <a:off x="0" y="0"/>
              <a:ext cx="3042735" cy="1344760"/>
            </a:xfrm>
            <a:custGeom>
              <a:avLst/>
              <a:gdLst/>
              <a:ahLst/>
              <a:cxnLst/>
              <a:rect l="l" t="t" r="r" b="b"/>
              <a:pathLst>
                <a:path w="3042735" h="1344760">
                  <a:moveTo>
                    <a:pt x="0" y="0"/>
                  </a:moveTo>
                  <a:lnTo>
                    <a:pt x="3042735" y="0"/>
                  </a:lnTo>
                  <a:lnTo>
                    <a:pt x="3042735" y="1344760"/>
                  </a:lnTo>
                  <a:lnTo>
                    <a:pt x="0" y="1344760"/>
                  </a:lnTo>
                  <a:close/>
                </a:path>
              </a:pathLst>
            </a:custGeom>
            <a:solidFill>
              <a:srgbClr val="145DA0"/>
            </a:solidFill>
            <a:ln cap="sq">
              <a:noFill/>
              <a:prstDash val="solid"/>
              <a:miter/>
            </a:ln>
          </p:spPr>
        </p:sp>
        <p:sp>
          <p:nvSpPr>
            <p:cNvPr id="8" name="TextBox 8">
              <a:extLst>
                <a:ext uri="{FF2B5EF4-FFF2-40B4-BE49-F238E27FC236}">
                  <a16:creationId xmlns:a16="http://schemas.microsoft.com/office/drawing/2014/main" id="{79F386A5-D382-96E8-BB1A-0F7FF811228E}"/>
                </a:ext>
              </a:extLst>
            </p:cNvPr>
            <p:cNvSpPr txBox="1"/>
            <p:nvPr/>
          </p:nvSpPr>
          <p:spPr>
            <a:xfrm>
              <a:off x="0" y="-38100"/>
              <a:ext cx="3042735" cy="138286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TextBox 9">
            <a:extLst>
              <a:ext uri="{FF2B5EF4-FFF2-40B4-BE49-F238E27FC236}">
                <a16:creationId xmlns:a16="http://schemas.microsoft.com/office/drawing/2014/main" id="{B8C0248E-BFDD-F0B4-FA43-19C6DC6808FE}"/>
              </a:ext>
            </a:extLst>
          </p:cNvPr>
          <p:cNvSpPr txBox="1"/>
          <p:nvPr/>
        </p:nvSpPr>
        <p:spPr>
          <a:xfrm>
            <a:off x="6346038" y="2660059"/>
            <a:ext cx="5748323" cy="1003827"/>
          </a:xfrm>
          <a:prstGeom prst="rect">
            <a:avLst/>
          </a:prstGeom>
        </p:spPr>
        <p:txBody>
          <a:bodyPr lIns="0" tIns="0" rIns="0" bIns="0" rtlCol="0" anchor="t">
            <a:spAutoFit/>
          </a:bodyPr>
          <a:lstStyle/>
          <a:p>
            <a:pPr marL="0" lvl="0" indent="0" algn="ctr">
              <a:lnSpc>
                <a:spcPts val="8195"/>
              </a:lnSpc>
              <a:spcBef>
                <a:spcPct val="0"/>
              </a:spcBef>
            </a:pPr>
            <a:r>
              <a:rPr lang="en-US" sz="5854" b="1" dirty="0">
                <a:solidFill>
                  <a:srgbClr val="FDFDFD"/>
                </a:solidFill>
                <a:latin typeface="Montserrat Bold"/>
                <a:ea typeface="Montserrat Bold"/>
                <a:cs typeface="Montserrat Bold"/>
                <a:sym typeface="Montserrat Bold"/>
              </a:rPr>
              <a:t>Abstract</a:t>
            </a:r>
          </a:p>
        </p:txBody>
      </p:sp>
      <p:sp>
        <p:nvSpPr>
          <p:cNvPr id="10" name="TextBox 10">
            <a:extLst>
              <a:ext uri="{FF2B5EF4-FFF2-40B4-BE49-F238E27FC236}">
                <a16:creationId xmlns:a16="http://schemas.microsoft.com/office/drawing/2014/main" id="{F5D31786-4F42-BADC-B5C8-35A827515FA1}"/>
              </a:ext>
            </a:extLst>
          </p:cNvPr>
          <p:cNvSpPr txBox="1"/>
          <p:nvPr/>
        </p:nvSpPr>
        <p:spPr>
          <a:xfrm>
            <a:off x="1981200" y="3672424"/>
            <a:ext cx="14782800" cy="3877985"/>
          </a:xfrm>
          <a:prstGeom prst="rect">
            <a:avLst/>
          </a:prstGeom>
        </p:spPr>
        <p:txBody>
          <a:bodyPr wrap="square" lIns="0" tIns="0" rIns="0" bIns="0" rtlCol="0" anchor="t">
            <a:spAutoFit/>
          </a:bodyPr>
          <a:lstStyle/>
          <a:p>
            <a:pPr algn="just"/>
            <a:r>
              <a:rPr lang="en-US" sz="2800" dirty="0">
                <a:solidFill>
                  <a:schemeClr val="bg1"/>
                </a:solidFill>
                <a:latin typeface="Times New Roman" panose="02020603050405020304" pitchFamily="18" charset="0"/>
                <a:cs typeface="Times New Roman" panose="02020603050405020304" pitchFamily="18" charset="0"/>
              </a:rPr>
              <a:t>In most college canteens, food is often either wasted or insufficient to meet student demand due to inaccurate estimation of required quantities. The </a:t>
            </a:r>
            <a:r>
              <a:rPr lang="en-US" sz="2800" i="1" dirty="0">
                <a:solidFill>
                  <a:schemeClr val="bg1"/>
                </a:solidFill>
                <a:latin typeface="Times New Roman" panose="02020603050405020304" pitchFamily="18" charset="0"/>
                <a:cs typeface="Times New Roman" panose="02020603050405020304" pitchFamily="18" charset="0"/>
              </a:rPr>
              <a:t>AI-Based Canteen Food Demand Predictor</a:t>
            </a:r>
            <a:r>
              <a:rPr lang="en-US" sz="2800" dirty="0">
                <a:solidFill>
                  <a:schemeClr val="bg1"/>
                </a:solidFill>
                <a:latin typeface="Times New Roman" panose="02020603050405020304" pitchFamily="18" charset="0"/>
                <a:cs typeface="Times New Roman" panose="02020603050405020304" pitchFamily="18" charset="0"/>
              </a:rPr>
              <a:t> project aims to overcome this issue by forecasting the amount of food needed each day using Artificial Intelligence and Machine Learning techniques. The system leverages historical data, including student strength, past sales, weekdays, seasonal trends, and special occasions, to generate accurate demand predictions. Algorithms such as Linear Regression, Random Forest, and LSTM are utilized for model training and validation. By comparing predicted and actual consumption, the system continuously improves its accuracy. This project helps minimize food wastage, control costs, and enhance canteen efficiency, promoting sustainable and data-driven food management across educational institutions.</a:t>
            </a:r>
          </a:p>
        </p:txBody>
      </p:sp>
    </p:spTree>
    <p:extLst>
      <p:ext uri="{BB962C8B-B14F-4D97-AF65-F5344CB8AC3E}">
        <p14:creationId xmlns:p14="http://schemas.microsoft.com/office/powerpoint/2010/main" val="2956852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2123887" y="-2346523"/>
            <a:ext cx="4693046" cy="469304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711707" y="-238014"/>
            <a:ext cx="7425849" cy="12137374"/>
            <a:chOff x="-38210" y="88900"/>
            <a:chExt cx="698610" cy="1141862"/>
          </a:xfrm>
        </p:grpSpPr>
        <p:sp>
          <p:nvSpPr>
            <p:cNvPr id="6" name="Freeform 6"/>
            <p:cNvSpPr/>
            <p:nvPr/>
          </p:nvSpPr>
          <p:spPr>
            <a:xfrm>
              <a:off x="-38210" y="237644"/>
              <a:ext cx="660400" cy="993118"/>
            </a:xfrm>
            <a:custGeom>
              <a:avLst/>
              <a:gdLst/>
              <a:ahLst/>
              <a:cxnLst/>
              <a:rect l="l" t="t" r="r" b="b"/>
              <a:pathLst>
                <a:path w="660400" h="993118">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p:spPr>
        </p:sp>
        <p:sp>
          <p:nvSpPr>
            <p:cNvPr id="7" name="TextBox 7"/>
            <p:cNvSpPr txBox="1"/>
            <p:nvPr/>
          </p:nvSpPr>
          <p:spPr>
            <a:xfrm>
              <a:off x="0" y="88900"/>
              <a:ext cx="660400" cy="904218"/>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518345" y="3122239"/>
            <a:ext cx="8414772" cy="5416868"/>
          </a:xfrm>
          <a:prstGeom prst="rect">
            <a:avLst/>
          </a:prstGeom>
        </p:spPr>
        <p:txBody>
          <a:bodyPr lIns="0" tIns="0" rIns="0" bIns="0" rtlCol="0" anchor="t">
            <a:spAutoFit/>
          </a:bodyPr>
          <a:lstStyle/>
          <a:p>
            <a:pPr algn="just"/>
            <a:r>
              <a:rPr lang="en-US" sz="3200" dirty="0">
                <a:latin typeface="Times New Roman" panose="02020603050405020304" pitchFamily="18" charset="0"/>
                <a:cs typeface="Times New Roman" panose="02020603050405020304" pitchFamily="18" charset="0"/>
              </a:rPr>
              <a:t>College canteens often face difficulties in estimating the right amount of food to prepare each day. Manual prediction leads to either excess food, causing wastage, or shortages, resulting in student dissatisfaction. Important factors like student strength, weekdays, and special events are often ignored. To overcome this, an AI-based system is needed to accurately predict daily food demand using historical data and machine learning techniques, reducing waste and improving canteen efficiency.</a:t>
            </a:r>
          </a:p>
        </p:txBody>
      </p:sp>
      <p:sp>
        <p:nvSpPr>
          <p:cNvPr id="12" name="TextBox 12"/>
          <p:cNvSpPr txBox="1"/>
          <p:nvPr/>
        </p:nvSpPr>
        <p:spPr>
          <a:xfrm>
            <a:off x="2695103" y="1977955"/>
            <a:ext cx="6177855" cy="756426"/>
          </a:xfrm>
          <a:prstGeom prst="rect">
            <a:avLst/>
          </a:prstGeom>
        </p:spPr>
        <p:txBody>
          <a:bodyPr wrap="square" lIns="0" tIns="0" rIns="0" bIns="0" rtlCol="0" anchor="t">
            <a:spAutoFit/>
          </a:bodyPr>
          <a:lstStyle/>
          <a:p>
            <a:pPr algn="ctr">
              <a:lnSpc>
                <a:spcPts val="6300"/>
              </a:lnSpc>
              <a:spcBef>
                <a:spcPct val="0"/>
              </a:spcBef>
            </a:pPr>
            <a:r>
              <a:rPr lang="en-IN" sz="4800" b="1" dirty="0">
                <a:latin typeface="Times New Roman" panose="02020603050405020304" pitchFamily="18" charset="0"/>
                <a:cs typeface="Times New Roman" panose="02020603050405020304" pitchFamily="18" charset="0"/>
              </a:rPr>
              <a:t>Problem Statement</a:t>
            </a:r>
            <a:endParaRPr lang="en-US" sz="4500" dirty="0">
              <a:latin typeface="Montserrat"/>
              <a:ea typeface="Montserrat"/>
              <a:cs typeface="Montserrat"/>
              <a:sym typeface="Montserrat"/>
            </a:endParaRPr>
          </a:p>
        </p:txBody>
      </p:sp>
      <p:sp>
        <p:nvSpPr>
          <p:cNvPr id="15" name="AutoShape 6" descr="How AI-Based Demand Forecasting Transforms Food Supply Chains?">
            <a:extLst>
              <a:ext uri="{FF2B5EF4-FFF2-40B4-BE49-F238E27FC236}">
                <a16:creationId xmlns:a16="http://schemas.microsoft.com/office/drawing/2014/main" id="{E31515E6-CAAF-7302-8399-4C833F2E563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6" name="AutoShape 8" descr="How AI-Based Demand Forecasting Transforms Food Supply Chains?">
            <a:extLst>
              <a:ext uri="{FF2B5EF4-FFF2-40B4-BE49-F238E27FC236}">
                <a16:creationId xmlns:a16="http://schemas.microsoft.com/office/drawing/2014/main" id="{53A23287-4BF7-F53F-5A67-722336D9E5BA}"/>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AutoShape 10" descr="How AI-Based Demand Forecasting Transforms Food Supply Chains?">
            <a:extLst>
              <a:ext uri="{FF2B5EF4-FFF2-40B4-BE49-F238E27FC236}">
                <a16:creationId xmlns:a16="http://schemas.microsoft.com/office/drawing/2014/main" id="{66B40AD7-5F15-AB69-674E-BC1FB3A43E81}"/>
              </a:ext>
            </a:extLst>
          </p:cNvPr>
          <p:cNvSpPr>
            <a:spLocks noChangeAspect="1" noChangeArrowheads="1"/>
          </p:cNvSpPr>
          <p:nvPr/>
        </p:nvSpPr>
        <p:spPr bwMode="auto">
          <a:xfrm>
            <a:off x="9296400" y="52959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9" name="AutoShape 14">
            <a:extLst>
              <a:ext uri="{FF2B5EF4-FFF2-40B4-BE49-F238E27FC236}">
                <a16:creationId xmlns:a16="http://schemas.microsoft.com/office/drawing/2014/main" id="{4341446B-EC50-B79F-ACDF-91B0070EBF25}"/>
              </a:ext>
            </a:extLst>
          </p:cNvPr>
          <p:cNvSpPr>
            <a:spLocks noChangeAspect="1" noChangeArrowheads="1"/>
          </p:cNvSpPr>
          <p:nvPr/>
        </p:nvSpPr>
        <p:spPr bwMode="auto">
          <a:xfrm>
            <a:off x="9448800" y="54483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0" name="AutoShape 16" descr="How AI-Based Demand Forecasting Transforms Food Supply Chains?">
            <a:extLst>
              <a:ext uri="{FF2B5EF4-FFF2-40B4-BE49-F238E27FC236}">
                <a16:creationId xmlns:a16="http://schemas.microsoft.com/office/drawing/2014/main" id="{9976A1BB-2027-02A2-3337-B902601E0152}"/>
              </a:ext>
            </a:extLst>
          </p:cNvPr>
          <p:cNvSpPr>
            <a:spLocks noChangeAspect="1" noChangeArrowheads="1"/>
          </p:cNvSpPr>
          <p:nvPr/>
        </p:nvSpPr>
        <p:spPr bwMode="auto">
          <a:xfrm>
            <a:off x="9601200" y="56007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1" name="AutoShape 18" descr="How AI-Based Demand Forecasting Transforms Food Supply Chains?">
            <a:extLst>
              <a:ext uri="{FF2B5EF4-FFF2-40B4-BE49-F238E27FC236}">
                <a16:creationId xmlns:a16="http://schemas.microsoft.com/office/drawing/2014/main" id="{27A15C3A-7B51-3A9E-819B-1603D05FA04F}"/>
              </a:ext>
            </a:extLst>
          </p:cNvPr>
          <p:cNvSpPr>
            <a:spLocks noChangeAspect="1" noChangeArrowheads="1"/>
          </p:cNvSpPr>
          <p:nvPr/>
        </p:nvSpPr>
        <p:spPr bwMode="auto">
          <a:xfrm>
            <a:off x="9753600" y="5753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146" name="Picture 2" descr="AI in Food Industry: Innovation &amp; Compliance Solutions">
            <a:extLst>
              <a:ext uri="{FF2B5EF4-FFF2-40B4-BE49-F238E27FC236}">
                <a16:creationId xmlns:a16="http://schemas.microsoft.com/office/drawing/2014/main" id="{9B3BCB53-BB7F-EC49-01D0-0054E8D5E9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976" t="15806" r="14884" b="5872"/>
          <a:stretch>
            <a:fillRect/>
          </a:stretch>
        </p:blipFill>
        <p:spPr bwMode="auto">
          <a:xfrm>
            <a:off x="11439949" y="4114800"/>
            <a:ext cx="5634506" cy="3886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6656283" y="-2445901"/>
            <a:ext cx="15178802" cy="1517880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6007842" y="-1797460"/>
            <a:ext cx="13881919" cy="1388191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163883" y="4688148"/>
            <a:ext cx="6033363" cy="935769"/>
          </a:xfrm>
          <a:prstGeom prst="rect">
            <a:avLst/>
          </a:prstGeom>
        </p:spPr>
        <p:txBody>
          <a:bodyPr lIns="0" tIns="0" rIns="0" bIns="0" rtlCol="0" anchor="t">
            <a:spAutoFit/>
          </a:bodyPr>
          <a:lstStyle/>
          <a:p>
            <a:pPr lvl="0">
              <a:lnSpc>
                <a:spcPts val="6553"/>
              </a:lnSpc>
              <a:spcBef>
                <a:spcPct val="0"/>
              </a:spcBef>
            </a:pPr>
            <a:r>
              <a:rPr lang="en-IN" sz="9600" b="1" i="1" dirty="0">
                <a:solidFill>
                  <a:schemeClr val="bg1"/>
                </a:solidFill>
                <a:latin typeface="Times New Roman" panose="02020603050405020304" pitchFamily="18" charset="0"/>
                <a:cs typeface="Times New Roman" panose="02020603050405020304" pitchFamily="18" charset="0"/>
              </a:rPr>
              <a:t>Objectives</a:t>
            </a:r>
            <a:r>
              <a:rPr lang="en-IN" sz="8800" b="1" u="sng" dirty="0">
                <a:latin typeface="Times New Roman" panose="02020603050405020304" pitchFamily="18" charset="0"/>
                <a:cs typeface="Times New Roman" panose="02020603050405020304" pitchFamily="18" charset="0"/>
              </a:rPr>
              <a:t> </a:t>
            </a:r>
            <a:endParaRPr lang="en-US" sz="8000" b="1" u="sng" dirty="0">
              <a:latin typeface="Montserrat Bold"/>
              <a:ea typeface="Montserrat Bold"/>
              <a:cs typeface="Montserrat Bold"/>
              <a:sym typeface="Montserrat Bold"/>
            </a:endParaRPr>
          </a:p>
        </p:txBody>
      </p:sp>
      <p:sp>
        <p:nvSpPr>
          <p:cNvPr id="10" name="Freeform 10"/>
          <p:cNvSpPr/>
          <p:nvPr/>
        </p:nvSpPr>
        <p:spPr>
          <a:xfrm>
            <a:off x="8139225" y="998713"/>
            <a:ext cx="1424256" cy="1424256"/>
          </a:xfrm>
          <a:custGeom>
            <a:avLst/>
            <a:gdLst/>
            <a:ahLst/>
            <a:cxnLst/>
            <a:rect l="l" t="t" r="r" b="b"/>
            <a:pathLst>
              <a:path w="1424256" h="1424256">
                <a:moveTo>
                  <a:pt x="0" y="0"/>
                </a:moveTo>
                <a:lnTo>
                  <a:pt x="1424255" y="0"/>
                </a:lnTo>
                <a:lnTo>
                  <a:pt x="1424255" y="1424256"/>
                </a:lnTo>
                <a:lnTo>
                  <a:pt x="0" y="14242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11" name="TextBox 11"/>
          <p:cNvSpPr txBox="1"/>
          <p:nvPr/>
        </p:nvSpPr>
        <p:spPr>
          <a:xfrm>
            <a:off x="9857204" y="1088744"/>
            <a:ext cx="7737211" cy="984885"/>
          </a:xfrm>
          <a:prstGeom prst="rect">
            <a:avLst/>
          </a:prstGeom>
        </p:spPr>
        <p:txBody>
          <a:bodyPr wrap="square" lIns="0" tIns="0" rIns="0" bIns="0" rtlCol="0" anchor="t">
            <a:spAutoFit/>
          </a:bodyPr>
          <a:lstStyle/>
          <a:p>
            <a:pPr algn="just"/>
            <a:r>
              <a:rPr lang="en-US" sz="3200" dirty="0">
                <a:latin typeface="Times New Roman" panose="02020603050405020304" pitchFamily="18" charset="0"/>
                <a:cs typeface="Times New Roman" panose="02020603050405020304" pitchFamily="18" charset="0"/>
              </a:rPr>
              <a:t>To accurately predict daily food demand in the college canteen using AI and ML techniques.</a:t>
            </a:r>
            <a:endParaRPr lang="en-US" sz="3200" u="none" strike="noStrike" spc="-35" dirty="0">
              <a:latin typeface="Poppins"/>
              <a:ea typeface="Poppins"/>
              <a:cs typeface="Poppins"/>
              <a:sym typeface="Poppins"/>
            </a:endParaRPr>
          </a:p>
        </p:txBody>
      </p:sp>
      <p:sp>
        <p:nvSpPr>
          <p:cNvPr id="12" name="TextBox 12"/>
          <p:cNvSpPr txBox="1"/>
          <p:nvPr/>
        </p:nvSpPr>
        <p:spPr>
          <a:xfrm>
            <a:off x="8279670" y="1344215"/>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dirty="0">
                <a:solidFill>
                  <a:srgbClr val="FDFDFD"/>
                </a:solidFill>
                <a:latin typeface="Montserrat"/>
                <a:ea typeface="Montserrat"/>
                <a:cs typeface="Montserrat"/>
                <a:sym typeface="Montserrat"/>
              </a:rPr>
              <a:t>01</a:t>
            </a:r>
          </a:p>
        </p:txBody>
      </p:sp>
      <p:sp>
        <p:nvSpPr>
          <p:cNvPr id="13" name="Freeform 13"/>
          <p:cNvSpPr/>
          <p:nvPr/>
        </p:nvSpPr>
        <p:spPr>
          <a:xfrm>
            <a:off x="8738191" y="2747771"/>
            <a:ext cx="1424256" cy="1424256"/>
          </a:xfrm>
          <a:custGeom>
            <a:avLst/>
            <a:gdLst/>
            <a:ahLst/>
            <a:cxnLst/>
            <a:rect l="l" t="t" r="r" b="b"/>
            <a:pathLst>
              <a:path w="1424256" h="1424256">
                <a:moveTo>
                  <a:pt x="0" y="0"/>
                </a:moveTo>
                <a:lnTo>
                  <a:pt x="1424256" y="0"/>
                </a:lnTo>
                <a:lnTo>
                  <a:pt x="1424256" y="1424256"/>
                </a:lnTo>
                <a:lnTo>
                  <a:pt x="0" y="14242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14" name="TextBox 14"/>
          <p:cNvSpPr txBox="1"/>
          <p:nvPr/>
        </p:nvSpPr>
        <p:spPr>
          <a:xfrm>
            <a:off x="10378118" y="2607171"/>
            <a:ext cx="7182065" cy="1477328"/>
          </a:xfrm>
          <a:prstGeom prst="rect">
            <a:avLst/>
          </a:prstGeom>
        </p:spPr>
        <p:txBody>
          <a:bodyPr wrap="square" lIns="0" tIns="0" rIns="0" bIns="0" rtlCol="0" anchor="t">
            <a:spAutoFit/>
          </a:bodyPr>
          <a:lstStyle/>
          <a:p>
            <a:pPr algn="just"/>
            <a:r>
              <a:rPr lang="en-US" sz="3200" dirty="0">
                <a:latin typeface="Times New Roman" panose="02020603050405020304" pitchFamily="18" charset="0"/>
                <a:cs typeface="Times New Roman" panose="02020603050405020304" pitchFamily="18" charset="0"/>
              </a:rPr>
              <a:t>To analyze historical data such as past sales, student strength, weekdays, and special events for better forecasting.</a:t>
            </a:r>
          </a:p>
        </p:txBody>
      </p:sp>
      <p:sp>
        <p:nvSpPr>
          <p:cNvPr id="15" name="TextBox 15"/>
          <p:cNvSpPr txBox="1"/>
          <p:nvPr/>
        </p:nvSpPr>
        <p:spPr>
          <a:xfrm>
            <a:off x="8883249" y="3047729"/>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dirty="0">
                <a:solidFill>
                  <a:srgbClr val="FDFDFD"/>
                </a:solidFill>
                <a:latin typeface="Montserrat"/>
                <a:ea typeface="Montserrat"/>
                <a:cs typeface="Montserrat"/>
                <a:sym typeface="Montserrat"/>
              </a:rPr>
              <a:t>02</a:t>
            </a:r>
          </a:p>
        </p:txBody>
      </p:sp>
      <p:sp>
        <p:nvSpPr>
          <p:cNvPr id="16" name="Freeform 16"/>
          <p:cNvSpPr/>
          <p:nvPr/>
        </p:nvSpPr>
        <p:spPr>
          <a:xfrm>
            <a:off x="8919632" y="4512222"/>
            <a:ext cx="1424256" cy="1424256"/>
          </a:xfrm>
          <a:custGeom>
            <a:avLst/>
            <a:gdLst/>
            <a:ahLst/>
            <a:cxnLst/>
            <a:rect l="l" t="t" r="r" b="b"/>
            <a:pathLst>
              <a:path w="1424256" h="1424256">
                <a:moveTo>
                  <a:pt x="0" y="0"/>
                </a:moveTo>
                <a:lnTo>
                  <a:pt x="1424256" y="0"/>
                </a:lnTo>
                <a:lnTo>
                  <a:pt x="1424256" y="1424256"/>
                </a:lnTo>
                <a:lnTo>
                  <a:pt x="0" y="14242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17" name="TextBox 17"/>
          <p:cNvSpPr txBox="1"/>
          <p:nvPr/>
        </p:nvSpPr>
        <p:spPr>
          <a:xfrm>
            <a:off x="10741001" y="4731907"/>
            <a:ext cx="6819183" cy="984885"/>
          </a:xfrm>
          <a:prstGeom prst="rect">
            <a:avLst/>
          </a:prstGeom>
        </p:spPr>
        <p:txBody>
          <a:bodyPr wrap="square" lIns="0" tIns="0" rIns="0" bIns="0" rtlCol="0" anchor="t">
            <a:spAutoFit/>
          </a:bodyPr>
          <a:lstStyle/>
          <a:p>
            <a:pPr algn="just"/>
            <a:r>
              <a:rPr lang="en-US" sz="3200" dirty="0">
                <a:latin typeface="Times New Roman" panose="02020603050405020304" pitchFamily="18" charset="0"/>
                <a:cs typeface="Times New Roman" panose="02020603050405020304" pitchFamily="18" charset="0"/>
              </a:rPr>
              <a:t>To reduce food wastage and manage resources efficiently.</a:t>
            </a:r>
          </a:p>
        </p:txBody>
      </p:sp>
      <p:sp>
        <p:nvSpPr>
          <p:cNvPr id="18" name="TextBox 18"/>
          <p:cNvSpPr txBox="1"/>
          <p:nvPr/>
        </p:nvSpPr>
        <p:spPr>
          <a:xfrm>
            <a:off x="9060783" y="4844880"/>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a:solidFill>
                  <a:srgbClr val="FDFDFD"/>
                </a:solidFill>
                <a:latin typeface="Montserrat"/>
                <a:ea typeface="Montserrat"/>
                <a:cs typeface="Montserrat"/>
                <a:sym typeface="Montserrat"/>
              </a:rPr>
              <a:t>03</a:t>
            </a:r>
          </a:p>
        </p:txBody>
      </p:sp>
      <p:sp>
        <p:nvSpPr>
          <p:cNvPr id="19" name="Freeform 19"/>
          <p:cNvSpPr/>
          <p:nvPr/>
        </p:nvSpPr>
        <p:spPr>
          <a:xfrm>
            <a:off x="8738191" y="6209690"/>
            <a:ext cx="1424256" cy="1424256"/>
          </a:xfrm>
          <a:custGeom>
            <a:avLst/>
            <a:gdLst/>
            <a:ahLst/>
            <a:cxnLst/>
            <a:rect l="l" t="t" r="r" b="b"/>
            <a:pathLst>
              <a:path w="1424256" h="1424256">
                <a:moveTo>
                  <a:pt x="0" y="0"/>
                </a:moveTo>
                <a:lnTo>
                  <a:pt x="1424255" y="0"/>
                </a:lnTo>
                <a:lnTo>
                  <a:pt x="1424255" y="1424256"/>
                </a:lnTo>
                <a:lnTo>
                  <a:pt x="0" y="14242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20" name="TextBox 20"/>
          <p:cNvSpPr txBox="1"/>
          <p:nvPr/>
        </p:nvSpPr>
        <p:spPr>
          <a:xfrm>
            <a:off x="10537003" y="6241493"/>
            <a:ext cx="7023181" cy="1477328"/>
          </a:xfrm>
          <a:prstGeom prst="rect">
            <a:avLst/>
          </a:prstGeom>
        </p:spPr>
        <p:txBody>
          <a:bodyPr wrap="square" lIns="0" tIns="0" rIns="0" bIns="0" rtlCol="0" anchor="t">
            <a:spAutoFit/>
          </a:bodyPr>
          <a:lstStyle/>
          <a:p>
            <a:pPr algn="just"/>
            <a:r>
              <a:rPr lang="en-US" sz="3200" dirty="0">
                <a:latin typeface="Times New Roman" panose="02020603050405020304" pitchFamily="18" charset="0"/>
                <a:cs typeface="Times New Roman" panose="02020603050405020304" pitchFamily="18" charset="0"/>
              </a:rPr>
              <a:t>To assist canteen staff in planning and decision-making through data-driven insights.</a:t>
            </a:r>
          </a:p>
        </p:txBody>
      </p:sp>
      <p:sp>
        <p:nvSpPr>
          <p:cNvPr id="21" name="TextBox 21"/>
          <p:cNvSpPr txBox="1"/>
          <p:nvPr/>
        </p:nvSpPr>
        <p:spPr>
          <a:xfrm>
            <a:off x="8883249" y="6521002"/>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dirty="0">
                <a:solidFill>
                  <a:srgbClr val="FDFDFD"/>
                </a:solidFill>
                <a:latin typeface="Montserrat"/>
                <a:ea typeface="Montserrat"/>
                <a:cs typeface="Montserrat"/>
                <a:sym typeface="Montserrat"/>
              </a:rPr>
              <a:t>04</a:t>
            </a:r>
          </a:p>
        </p:txBody>
      </p:sp>
      <p:grpSp>
        <p:nvGrpSpPr>
          <p:cNvPr id="22" name="Group 22"/>
          <p:cNvGrpSpPr/>
          <p:nvPr/>
        </p:nvGrpSpPr>
        <p:grpSpPr>
          <a:xfrm>
            <a:off x="7558920" y="1710841"/>
            <a:ext cx="373607" cy="3736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24" name="TextBox 24"/>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25" name="Group 25"/>
          <p:cNvGrpSpPr/>
          <p:nvPr/>
        </p:nvGrpSpPr>
        <p:grpSpPr>
          <a:xfrm>
            <a:off x="8198378" y="3352256"/>
            <a:ext cx="373607" cy="373607"/>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27" name="TextBox 27"/>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28" name="Group 28"/>
          <p:cNvGrpSpPr/>
          <p:nvPr/>
        </p:nvGrpSpPr>
        <p:grpSpPr>
          <a:xfrm>
            <a:off x="8203000" y="6591604"/>
            <a:ext cx="373607" cy="373607"/>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30" name="TextBox 30"/>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31" name="Group 31"/>
          <p:cNvGrpSpPr/>
          <p:nvPr/>
        </p:nvGrpSpPr>
        <p:grpSpPr>
          <a:xfrm>
            <a:off x="8364584" y="4956693"/>
            <a:ext cx="373607" cy="373607"/>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33" name="TextBox 33"/>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grpSp>
        <p:nvGrpSpPr>
          <p:cNvPr id="34" name="Group 28">
            <a:extLst>
              <a:ext uri="{FF2B5EF4-FFF2-40B4-BE49-F238E27FC236}">
                <a16:creationId xmlns:a16="http://schemas.microsoft.com/office/drawing/2014/main" id="{47D2CABF-7BFE-C77B-1DFF-06FF088B9D93}"/>
              </a:ext>
            </a:extLst>
          </p:cNvPr>
          <p:cNvGrpSpPr/>
          <p:nvPr/>
        </p:nvGrpSpPr>
        <p:grpSpPr>
          <a:xfrm>
            <a:off x="7730973" y="8039100"/>
            <a:ext cx="373607" cy="373607"/>
            <a:chOff x="0" y="0"/>
            <a:chExt cx="812800" cy="812800"/>
          </a:xfrm>
        </p:grpSpPr>
        <p:sp>
          <p:nvSpPr>
            <p:cNvPr id="35" name="Freeform 29">
              <a:extLst>
                <a:ext uri="{FF2B5EF4-FFF2-40B4-BE49-F238E27FC236}">
                  <a16:creationId xmlns:a16="http://schemas.microsoft.com/office/drawing/2014/main" id="{47EFE415-25A0-E48D-D5E9-D5A0D7311F5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id="36" name="TextBox 30">
              <a:extLst>
                <a:ext uri="{FF2B5EF4-FFF2-40B4-BE49-F238E27FC236}">
                  <a16:creationId xmlns:a16="http://schemas.microsoft.com/office/drawing/2014/main" id="{50A3E85D-7C6F-F0DB-592B-ECDA978E99BD}"/>
                </a:ext>
              </a:extLst>
            </p:cNvPr>
            <p:cNvSpPr txBox="1"/>
            <p:nvPr/>
          </p:nvSpPr>
          <p:spPr>
            <a:xfrm>
              <a:off x="76200" y="28575"/>
              <a:ext cx="660400" cy="708025"/>
            </a:xfrm>
            <a:prstGeom prst="rect">
              <a:avLst/>
            </a:prstGeom>
          </p:spPr>
          <p:txBody>
            <a:bodyPr lIns="0" tIns="0" rIns="0" bIns="0" rtlCol="0" anchor="ctr"/>
            <a:lstStyle/>
            <a:p>
              <a:pPr algn="ctr">
                <a:lnSpc>
                  <a:spcPts val="3640"/>
                </a:lnSpc>
              </a:pPr>
              <a:endParaRPr/>
            </a:p>
          </p:txBody>
        </p:sp>
      </p:grpSp>
      <p:sp>
        <p:nvSpPr>
          <p:cNvPr id="37" name="Freeform 19">
            <a:extLst>
              <a:ext uri="{FF2B5EF4-FFF2-40B4-BE49-F238E27FC236}">
                <a16:creationId xmlns:a16="http://schemas.microsoft.com/office/drawing/2014/main" id="{C03588AA-C5A4-4365-7C51-0EB9E27EE49D}"/>
              </a:ext>
            </a:extLst>
          </p:cNvPr>
          <p:cNvSpPr/>
          <p:nvPr/>
        </p:nvSpPr>
        <p:spPr>
          <a:xfrm>
            <a:off x="8264679" y="7818229"/>
            <a:ext cx="1424256" cy="1424256"/>
          </a:xfrm>
          <a:custGeom>
            <a:avLst/>
            <a:gdLst/>
            <a:ahLst/>
            <a:cxnLst/>
            <a:rect l="l" t="t" r="r" b="b"/>
            <a:pathLst>
              <a:path w="1424256" h="1424256">
                <a:moveTo>
                  <a:pt x="0" y="0"/>
                </a:moveTo>
                <a:lnTo>
                  <a:pt x="1424255" y="0"/>
                </a:lnTo>
                <a:lnTo>
                  <a:pt x="1424255" y="1424256"/>
                </a:lnTo>
                <a:lnTo>
                  <a:pt x="0" y="1424256"/>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IN" dirty="0"/>
          </a:p>
        </p:txBody>
      </p:sp>
      <p:sp>
        <p:nvSpPr>
          <p:cNvPr id="40" name="TextBox 21">
            <a:extLst>
              <a:ext uri="{FF2B5EF4-FFF2-40B4-BE49-F238E27FC236}">
                <a16:creationId xmlns:a16="http://schemas.microsoft.com/office/drawing/2014/main" id="{092C929A-E5E0-3436-BACC-522766A0281A}"/>
              </a:ext>
            </a:extLst>
          </p:cNvPr>
          <p:cNvSpPr txBox="1"/>
          <p:nvPr/>
        </p:nvSpPr>
        <p:spPr>
          <a:xfrm>
            <a:off x="8389803" y="8086148"/>
            <a:ext cx="1134140" cy="801632"/>
          </a:xfrm>
          <a:prstGeom prst="rect">
            <a:avLst/>
          </a:prstGeom>
        </p:spPr>
        <p:txBody>
          <a:bodyPr lIns="0" tIns="0" rIns="0" bIns="0" rtlCol="0" anchor="t">
            <a:spAutoFit/>
          </a:bodyPr>
          <a:lstStyle/>
          <a:p>
            <a:pPr marL="0" lvl="0" indent="0" algn="ctr">
              <a:lnSpc>
                <a:spcPts val="6697"/>
              </a:lnSpc>
              <a:spcBef>
                <a:spcPct val="0"/>
              </a:spcBef>
            </a:pPr>
            <a:r>
              <a:rPr lang="en-US" sz="4784" dirty="0">
                <a:solidFill>
                  <a:srgbClr val="FDFDFD"/>
                </a:solidFill>
                <a:latin typeface="Montserrat"/>
                <a:ea typeface="Montserrat"/>
                <a:cs typeface="Montserrat"/>
                <a:sym typeface="Montserrat"/>
              </a:rPr>
              <a:t>05</a:t>
            </a:r>
          </a:p>
        </p:txBody>
      </p:sp>
      <p:sp>
        <p:nvSpPr>
          <p:cNvPr id="43" name="TextBox 20">
            <a:extLst>
              <a:ext uri="{FF2B5EF4-FFF2-40B4-BE49-F238E27FC236}">
                <a16:creationId xmlns:a16="http://schemas.microsoft.com/office/drawing/2014/main" id="{BCCF0CBF-39E4-6A52-2773-8C7ACFD8C737}"/>
              </a:ext>
            </a:extLst>
          </p:cNvPr>
          <p:cNvSpPr txBox="1"/>
          <p:nvPr/>
        </p:nvSpPr>
        <p:spPr>
          <a:xfrm>
            <a:off x="10100545" y="8213371"/>
            <a:ext cx="7250527" cy="984885"/>
          </a:xfrm>
          <a:prstGeom prst="rect">
            <a:avLst/>
          </a:prstGeom>
        </p:spPr>
        <p:txBody>
          <a:bodyPr wrap="square" lIns="0" tIns="0" rIns="0" bIns="0" rtlCol="0" anchor="t">
            <a:spAutoFit/>
          </a:bodyPr>
          <a:lstStyle/>
          <a:p>
            <a:pPr algn="just"/>
            <a:r>
              <a:rPr lang="en-US" sz="3200" dirty="0">
                <a:latin typeface="Times New Roman" panose="02020603050405020304" pitchFamily="18" charset="0"/>
                <a:cs typeface="Times New Roman" panose="02020603050405020304" pitchFamily="18" charset="0"/>
              </a:rPr>
              <a:t>To promote sustainable and cost-effective canteen management.</a:t>
            </a: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a:off x="13266830" y="0"/>
            <a:ext cx="5021170" cy="10287000"/>
            <a:chOff x="0" y="0"/>
            <a:chExt cx="1322448" cy="2709333"/>
          </a:xfrm>
        </p:grpSpPr>
        <p:sp>
          <p:nvSpPr>
            <p:cNvPr id="3" name="Freeform 3"/>
            <p:cNvSpPr/>
            <p:nvPr/>
          </p:nvSpPr>
          <p:spPr>
            <a:xfrm>
              <a:off x="0" y="0"/>
              <a:ext cx="1322448" cy="2709333"/>
            </a:xfrm>
            <a:custGeom>
              <a:avLst/>
              <a:gdLst/>
              <a:ahLst/>
              <a:cxnLst/>
              <a:rect l="l" t="t" r="r" b="b"/>
              <a:pathLst>
                <a:path w="1322448" h="2709333">
                  <a:moveTo>
                    <a:pt x="0" y="0"/>
                  </a:moveTo>
                  <a:lnTo>
                    <a:pt x="1322448" y="0"/>
                  </a:lnTo>
                  <a:lnTo>
                    <a:pt x="1322448" y="2709333"/>
                  </a:lnTo>
                  <a:lnTo>
                    <a:pt x="0" y="2709333"/>
                  </a:lnTo>
                  <a:close/>
                </a:path>
              </a:pathLst>
            </a:custGeom>
            <a:solidFill>
              <a:srgbClr val="051D40"/>
            </a:solidFill>
          </p:spPr>
        </p:sp>
        <p:sp>
          <p:nvSpPr>
            <p:cNvPr id="4" name="TextBox 4"/>
            <p:cNvSpPr txBox="1"/>
            <p:nvPr/>
          </p:nvSpPr>
          <p:spPr>
            <a:xfrm>
              <a:off x="0" y="-38100"/>
              <a:ext cx="1322448" cy="274743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2787330" y="668528"/>
            <a:ext cx="7922504" cy="807913"/>
          </a:xfrm>
          <a:prstGeom prst="rect">
            <a:avLst/>
          </a:prstGeom>
        </p:spPr>
        <p:txBody>
          <a:bodyPr lIns="0" tIns="0" rIns="0" bIns="0" rtlCol="0" anchor="t">
            <a:spAutoFit/>
          </a:bodyPr>
          <a:lstStyle/>
          <a:p>
            <a:pPr lvl="0" algn="ctr">
              <a:lnSpc>
                <a:spcPts val="6300"/>
              </a:lnSpc>
              <a:spcBef>
                <a:spcPct val="0"/>
              </a:spcBef>
            </a:pPr>
            <a:r>
              <a:rPr lang="en-IN" sz="6600" b="1" dirty="0">
                <a:solidFill>
                  <a:srgbClr val="0033CC"/>
                </a:solidFill>
                <a:latin typeface="Times New Roman" panose="02020603050405020304" pitchFamily="18" charset="0"/>
                <a:cs typeface="Times New Roman" panose="02020603050405020304" pitchFamily="18" charset="0"/>
              </a:rPr>
              <a:t>Introduction</a:t>
            </a:r>
            <a:endParaRPr lang="en-US" sz="6000" b="1" u="none" strike="noStrike" dirty="0">
              <a:solidFill>
                <a:srgbClr val="0033CC"/>
              </a:solidFill>
              <a:latin typeface="Montserrat Bold"/>
              <a:ea typeface="Montserrat Bold"/>
              <a:cs typeface="Montserrat Bold"/>
              <a:sym typeface="Montserrat Bold"/>
            </a:endParaRPr>
          </a:p>
        </p:txBody>
      </p:sp>
      <p:grpSp>
        <p:nvGrpSpPr>
          <p:cNvPr id="6" name="Group 6"/>
          <p:cNvGrpSpPr/>
          <p:nvPr/>
        </p:nvGrpSpPr>
        <p:grpSpPr>
          <a:xfrm>
            <a:off x="-1595820" y="-1782102"/>
            <a:ext cx="3564204" cy="356420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609600" y="1952503"/>
            <a:ext cx="12277964" cy="7325082"/>
          </a:xfrm>
          <a:prstGeom prst="rect">
            <a:avLst/>
          </a:prstGeom>
        </p:spPr>
        <p:txBody>
          <a:bodyPr wrap="square" lIns="0" tIns="0" rIns="0" bIns="0" rtlCol="0" anchor="t">
            <a:spAutoFit/>
          </a:bodyPr>
          <a:lstStyle/>
          <a:p>
            <a:pPr algn="just"/>
            <a:r>
              <a:rPr lang="en-US" sz="2800" dirty="0">
                <a:latin typeface="Times New Roman" panose="02020603050405020304" pitchFamily="18" charset="0"/>
                <a:cs typeface="Times New Roman" panose="02020603050405020304" pitchFamily="18" charset="0"/>
              </a:rPr>
              <a:t>College canteens often face challenges in estimating the daily quantity of food to prepare. Overestimation leads to food wastage, while underestimation causes shortages and student dissatisfaction. These inefficiencies affect both operational costs and service quality.</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a:t>
            </a:r>
            <a:r>
              <a:rPr lang="en-US" sz="2800" i="1" dirty="0">
                <a:latin typeface="Times New Roman" panose="02020603050405020304" pitchFamily="18" charset="0"/>
                <a:cs typeface="Times New Roman" panose="02020603050405020304" pitchFamily="18" charset="0"/>
              </a:rPr>
              <a:t>AI-Based Canteen Food Demand Predictor</a:t>
            </a:r>
            <a:r>
              <a:rPr lang="en-US" sz="2800" dirty="0">
                <a:latin typeface="Times New Roman" panose="02020603050405020304" pitchFamily="18" charset="0"/>
                <a:cs typeface="Times New Roman" panose="02020603050405020304" pitchFamily="18" charset="0"/>
              </a:rPr>
              <a:t> aims to address this problem by leveraging Artificial Intelligence (AI) and Machine Learning (ML) techniques to forecast daily food demand accurately. The system analyzes historical data, including student attendance, past sales, weekdays, seasonal trends, and special events, to predict the quantity of each food item required.</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predictive model utilizes algorithms such as Linear Regression, Random Forest, and Long Short-Term Memory (LSTM) networks to generate accurate forecasts. By comparing predicted demand with actual usage, the system continually improves its accuracy. This solution helps canteen managers optimize resource usage, reduce food waste, control costs, and promote sustainable food management.</a:t>
            </a:r>
          </a:p>
          <a:p>
            <a:pPr algn="just"/>
            <a:endParaRPr lang="en-IN" sz="2800" dirty="0">
              <a:latin typeface="Times New Roman" panose="02020603050405020304" pitchFamily="18" charset="0"/>
              <a:cs typeface="Times New Roman" panose="02020603050405020304" pitchFamily="18" charset="0"/>
            </a:endParaRPr>
          </a:p>
        </p:txBody>
      </p:sp>
      <p:grpSp>
        <p:nvGrpSpPr>
          <p:cNvPr id="12" name="Group 12"/>
          <p:cNvGrpSpPr/>
          <p:nvPr/>
        </p:nvGrpSpPr>
        <p:grpSpPr>
          <a:xfrm>
            <a:off x="14700679" y="7074186"/>
            <a:ext cx="5946973" cy="594697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675033" y="9336315"/>
            <a:ext cx="11402164" cy="711357"/>
          </a:xfrm>
          <a:custGeom>
            <a:avLst/>
            <a:gdLst/>
            <a:ahLst/>
            <a:cxnLst/>
            <a:rect l="l" t="t" r="r" b="b"/>
            <a:pathLst>
              <a:path w="11402164" h="711357">
                <a:moveTo>
                  <a:pt x="0" y="0"/>
                </a:moveTo>
                <a:lnTo>
                  <a:pt x="11402164" y="0"/>
                </a:lnTo>
                <a:lnTo>
                  <a:pt x="11402164" y="711358"/>
                </a:lnTo>
                <a:lnTo>
                  <a:pt x="0" y="711358"/>
                </a:lnTo>
                <a:lnTo>
                  <a:pt x="0" y="0"/>
                </a:lnTo>
                <a:close/>
              </a:path>
            </a:pathLst>
          </a:custGeom>
          <a:blipFill>
            <a:blip r:embed="rId2"/>
            <a:stretch>
              <a:fillRect t="-216567"/>
            </a:stretch>
          </a:blipFill>
        </p:spPr>
      </p:sp>
      <p:pic>
        <p:nvPicPr>
          <p:cNvPr id="7170" name="Picture 2" descr="Applications of Artificial Intelligence in the Food Industry: A Competitive  Advantage for Producers and Distributors - Italian Food News">
            <a:extLst>
              <a:ext uri="{FF2B5EF4-FFF2-40B4-BE49-F238E27FC236}">
                <a16:creationId xmlns:a16="http://schemas.microsoft.com/office/drawing/2014/main" id="{01AAA48C-931E-E5AB-BD6E-B0934AECD90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58" r="11514"/>
          <a:stretch>
            <a:fillRect/>
          </a:stretch>
        </p:blipFill>
        <p:spPr bwMode="auto">
          <a:xfrm>
            <a:off x="13685708" y="3467100"/>
            <a:ext cx="4183414" cy="4114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1028700" y="8997950"/>
            <a:ext cx="2514600" cy="260350"/>
            <a:chOff x="0" y="0"/>
            <a:chExt cx="662281" cy="68570"/>
          </a:xfrm>
        </p:grpSpPr>
        <p:sp>
          <p:nvSpPr>
            <p:cNvPr id="4" name="Freeform 4"/>
            <p:cNvSpPr/>
            <p:nvPr/>
          </p:nvSpPr>
          <p:spPr>
            <a:xfrm>
              <a:off x="0" y="0"/>
              <a:ext cx="662281" cy="68570"/>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sp>
        <p:sp>
          <p:nvSpPr>
            <p:cNvPr id="5" name="TextBox 5"/>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0267950" y="1070700"/>
            <a:ext cx="7334250" cy="8942560"/>
            <a:chOff x="0" y="0"/>
            <a:chExt cx="1657912" cy="2284537"/>
          </a:xfrm>
        </p:grpSpPr>
        <p:sp>
          <p:nvSpPr>
            <p:cNvPr id="7" name="Freeform 7"/>
            <p:cNvSpPr/>
            <p:nvPr/>
          </p:nvSpPr>
          <p:spPr>
            <a:xfrm>
              <a:off x="0" y="0"/>
              <a:ext cx="1657912" cy="2284537"/>
            </a:xfrm>
            <a:custGeom>
              <a:avLst/>
              <a:gdLst/>
              <a:ahLst/>
              <a:cxnLst/>
              <a:rect l="l" t="t" r="r" b="b"/>
              <a:pathLst>
                <a:path w="1657912" h="2284537">
                  <a:moveTo>
                    <a:pt x="62724" y="0"/>
                  </a:moveTo>
                  <a:lnTo>
                    <a:pt x="1595188" y="0"/>
                  </a:lnTo>
                  <a:cubicBezTo>
                    <a:pt x="1611824" y="0"/>
                    <a:pt x="1627778" y="6608"/>
                    <a:pt x="1639541" y="18371"/>
                  </a:cubicBezTo>
                  <a:cubicBezTo>
                    <a:pt x="1651304" y="30134"/>
                    <a:pt x="1657912" y="46088"/>
                    <a:pt x="1657912" y="62724"/>
                  </a:cubicBezTo>
                  <a:lnTo>
                    <a:pt x="1657912" y="2221813"/>
                  </a:lnTo>
                  <a:cubicBezTo>
                    <a:pt x="1657912" y="2256454"/>
                    <a:pt x="1629830" y="2284537"/>
                    <a:pt x="1595188" y="2284537"/>
                  </a:cubicBezTo>
                  <a:lnTo>
                    <a:pt x="62724" y="2284537"/>
                  </a:lnTo>
                  <a:cubicBezTo>
                    <a:pt x="46088" y="2284537"/>
                    <a:pt x="30134" y="2277928"/>
                    <a:pt x="18371" y="2266165"/>
                  </a:cubicBezTo>
                  <a:cubicBezTo>
                    <a:pt x="6608" y="2254403"/>
                    <a:pt x="0" y="2238448"/>
                    <a:pt x="0" y="2221813"/>
                  </a:cubicBezTo>
                  <a:lnTo>
                    <a:pt x="0" y="62724"/>
                  </a:lnTo>
                  <a:cubicBezTo>
                    <a:pt x="0" y="46088"/>
                    <a:pt x="6608" y="30134"/>
                    <a:pt x="18371" y="18371"/>
                  </a:cubicBezTo>
                  <a:cubicBezTo>
                    <a:pt x="30134" y="6608"/>
                    <a:pt x="46088" y="0"/>
                    <a:pt x="62724" y="0"/>
                  </a:cubicBezTo>
                  <a:close/>
                </a:path>
              </a:pathLst>
            </a:custGeom>
            <a:solidFill>
              <a:srgbClr val="004AAD"/>
            </a:solidFill>
          </p:spPr>
        </p:sp>
        <p:sp>
          <p:nvSpPr>
            <p:cNvPr id="8" name="TextBox 8"/>
            <p:cNvSpPr txBox="1"/>
            <p:nvPr/>
          </p:nvSpPr>
          <p:spPr>
            <a:xfrm>
              <a:off x="0" y="-47625"/>
              <a:ext cx="1657912" cy="2332162"/>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803216" y="1154749"/>
            <a:ext cx="7124700" cy="923330"/>
          </a:xfrm>
          <a:prstGeom prst="rect">
            <a:avLst/>
          </a:prstGeom>
        </p:spPr>
        <p:txBody>
          <a:bodyPr wrap="square" lIns="0" tIns="0" rIns="0" bIns="0" rtlCol="0" anchor="t">
            <a:spAutoFit/>
          </a:bodyPr>
          <a:lstStyle/>
          <a:p>
            <a:pPr algn="ctr">
              <a:lnSpc>
                <a:spcPts val="7212"/>
              </a:lnSpc>
            </a:pPr>
            <a:r>
              <a:rPr lang="en-IN" sz="7200" b="1" dirty="0">
                <a:latin typeface="Times New Roman" panose="02020603050405020304" pitchFamily="18" charset="0"/>
                <a:cs typeface="Times New Roman" panose="02020603050405020304" pitchFamily="18" charset="0"/>
              </a:rPr>
              <a:t>Existing System</a:t>
            </a:r>
            <a:endParaRPr lang="en-US" sz="6600" dirty="0">
              <a:latin typeface="Roboto"/>
              <a:ea typeface="Roboto"/>
              <a:cs typeface="Roboto"/>
              <a:sym typeface="Roboto"/>
            </a:endParaRPr>
          </a:p>
        </p:txBody>
      </p:sp>
      <p:sp>
        <p:nvSpPr>
          <p:cNvPr id="11" name="TextBox 11"/>
          <p:cNvSpPr txBox="1"/>
          <p:nvPr/>
        </p:nvSpPr>
        <p:spPr>
          <a:xfrm>
            <a:off x="685800" y="2587325"/>
            <a:ext cx="7467600" cy="5909310"/>
          </a:xfrm>
          <a:prstGeom prst="rect">
            <a:avLst/>
          </a:prstGeom>
        </p:spPr>
        <p:txBody>
          <a:bodyPr wrap="square" lIns="0" tIns="0" rIns="0" bIns="0" rtlCol="0" anchor="t">
            <a:spAutoFit/>
          </a:bodyPr>
          <a:lstStyle/>
          <a:p>
            <a:pPr algn="just"/>
            <a:r>
              <a:rPr lang="en-US" sz="3200" dirty="0">
                <a:latin typeface="Times New Roman" panose="02020603050405020304" pitchFamily="18" charset="0"/>
                <a:cs typeface="Times New Roman" panose="02020603050405020304" pitchFamily="18" charset="0"/>
              </a:rPr>
              <a:t>In most college canteens, food demand is estimated manually by staff based on past experience or intuition. This approach lacks systematic analysis and often results in inaccurate predictions. Consequently, either excess food is prepared, leading to wastage, or insufficient food is made, causing shortages and student dissatisfaction. Critical factors such as weekdays, student strength, seasonal variations, and special events are generally ignored, making operations inefficient and resource-intensive.</a:t>
            </a:r>
          </a:p>
        </p:txBody>
      </p:sp>
      <p:grpSp>
        <p:nvGrpSpPr>
          <p:cNvPr id="13" name="Group 13"/>
          <p:cNvGrpSpPr/>
          <p:nvPr/>
        </p:nvGrpSpPr>
        <p:grpSpPr>
          <a:xfrm>
            <a:off x="9296400" y="1265017"/>
            <a:ext cx="1524000" cy="133852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9505950" y="1157174"/>
            <a:ext cx="1029211" cy="1233223"/>
          </a:xfrm>
          <a:prstGeom prst="rect">
            <a:avLst/>
          </a:prstGeom>
        </p:spPr>
        <p:txBody>
          <a:bodyPr wrap="square" lIns="0" tIns="0" rIns="0" bIns="0" rtlCol="0" anchor="t">
            <a:spAutoFit/>
          </a:bodyPr>
          <a:lstStyle/>
          <a:p>
            <a:pPr algn="ctr">
              <a:lnSpc>
                <a:spcPts val="11002"/>
              </a:lnSpc>
            </a:pPr>
            <a:r>
              <a:rPr lang="en-US" sz="6000" dirty="0">
                <a:solidFill>
                  <a:srgbClr val="000000"/>
                </a:solidFill>
                <a:latin typeface="League Spartan"/>
                <a:ea typeface="League Spartan"/>
                <a:cs typeface="League Spartan"/>
                <a:sym typeface="League Spartan"/>
              </a:rPr>
              <a:t>1</a:t>
            </a:r>
          </a:p>
        </p:txBody>
      </p:sp>
      <p:sp>
        <p:nvSpPr>
          <p:cNvPr id="25" name="TextBox 25"/>
          <p:cNvSpPr txBox="1"/>
          <p:nvPr/>
        </p:nvSpPr>
        <p:spPr>
          <a:xfrm>
            <a:off x="11130804" y="1512074"/>
            <a:ext cx="6509024" cy="861774"/>
          </a:xfrm>
          <a:prstGeom prst="rect">
            <a:avLst/>
          </a:prstGeom>
        </p:spPr>
        <p:txBody>
          <a:bodyPr wrap="square" lIns="0" tIns="0" rIns="0" bIns="0" rtlCol="0" anchor="t">
            <a:spAutoFit/>
          </a:bodyPr>
          <a:lstStyle/>
          <a:p>
            <a:r>
              <a:rPr lang="en-US" sz="2800" dirty="0">
                <a:solidFill>
                  <a:schemeClr val="bg1"/>
                </a:solidFill>
                <a:latin typeface="Times New Roman" panose="02020603050405020304" pitchFamily="18" charset="0"/>
                <a:cs typeface="Times New Roman" panose="02020603050405020304" pitchFamily="18" charset="0"/>
              </a:rPr>
              <a:t>Relies solely on guesswork to estimate food demand</a:t>
            </a:r>
          </a:p>
        </p:txBody>
      </p:sp>
      <p:sp>
        <p:nvSpPr>
          <p:cNvPr id="26" name="TextBox 26"/>
          <p:cNvSpPr txBox="1"/>
          <p:nvPr/>
        </p:nvSpPr>
        <p:spPr>
          <a:xfrm>
            <a:off x="11249525" y="4865452"/>
            <a:ext cx="5990224" cy="861774"/>
          </a:xfrm>
          <a:prstGeom prst="rect">
            <a:avLst/>
          </a:prstGeom>
        </p:spPr>
        <p:txBody>
          <a:bodyPr wrap="square" lIns="0" tIns="0" rIns="0" bIns="0" rtlCol="0" anchor="t">
            <a:spAutoFit/>
          </a:bodyPr>
          <a:lstStyle/>
          <a:p>
            <a:r>
              <a:rPr lang="en-US" sz="2800" dirty="0">
                <a:solidFill>
                  <a:schemeClr val="bg1"/>
                </a:solidFill>
                <a:latin typeface="Times New Roman" panose="02020603050405020304" pitchFamily="18" charset="0"/>
                <a:cs typeface="Times New Roman" panose="02020603050405020304" pitchFamily="18" charset="0"/>
              </a:rPr>
              <a:t>Leads to shortages when demand is underestimated</a:t>
            </a:r>
          </a:p>
        </p:txBody>
      </p:sp>
      <p:sp>
        <p:nvSpPr>
          <p:cNvPr id="27" name="TextBox 27"/>
          <p:cNvSpPr txBox="1"/>
          <p:nvPr/>
        </p:nvSpPr>
        <p:spPr>
          <a:xfrm>
            <a:off x="11319468" y="8657793"/>
            <a:ext cx="5918704" cy="680314"/>
          </a:xfrm>
          <a:prstGeom prst="rect">
            <a:avLst/>
          </a:prstGeom>
        </p:spPr>
        <p:txBody>
          <a:bodyPr wrap="square" lIns="0" tIns="0" rIns="0" bIns="0" rtlCol="0" anchor="t">
            <a:spAutoFit/>
          </a:bodyPr>
          <a:lstStyle/>
          <a:p>
            <a:pPr>
              <a:lnSpc>
                <a:spcPts val="2565"/>
              </a:lnSpc>
              <a:spcBef>
                <a:spcPct val="0"/>
              </a:spcBef>
            </a:pPr>
            <a:r>
              <a:rPr lang="en-US" sz="2800" dirty="0">
                <a:solidFill>
                  <a:schemeClr val="bg1"/>
                </a:solidFill>
                <a:latin typeface="Times New Roman" panose="02020603050405020304" pitchFamily="18" charset="0"/>
                <a:cs typeface="Times New Roman" panose="02020603050405020304" pitchFamily="18" charset="0"/>
              </a:rPr>
              <a:t>Inefficient use of resources, time, and labor</a:t>
            </a:r>
            <a:endParaRPr lang="en-US" sz="2400" dirty="0">
              <a:solidFill>
                <a:schemeClr val="bg1"/>
              </a:solidFill>
              <a:latin typeface="Poppins"/>
              <a:ea typeface="Poppins"/>
              <a:cs typeface="Poppins"/>
              <a:sym typeface="Poppins"/>
            </a:endParaRPr>
          </a:p>
        </p:txBody>
      </p:sp>
      <p:sp>
        <p:nvSpPr>
          <p:cNvPr id="29" name="TextBox 28">
            <a:extLst>
              <a:ext uri="{FF2B5EF4-FFF2-40B4-BE49-F238E27FC236}">
                <a16:creationId xmlns:a16="http://schemas.microsoft.com/office/drawing/2014/main" id="{62395E7B-6DA4-B451-44AB-98F7831602E4}"/>
              </a:ext>
            </a:extLst>
          </p:cNvPr>
          <p:cNvSpPr txBox="1"/>
          <p:nvPr/>
        </p:nvSpPr>
        <p:spPr>
          <a:xfrm>
            <a:off x="9363075" y="301511"/>
            <a:ext cx="9144000"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Limitations of the Existing System</a:t>
            </a:r>
            <a:endParaRPr lang="en-IN" sz="4000" dirty="0"/>
          </a:p>
        </p:txBody>
      </p:sp>
      <p:grpSp>
        <p:nvGrpSpPr>
          <p:cNvPr id="30" name="Group 13">
            <a:extLst>
              <a:ext uri="{FF2B5EF4-FFF2-40B4-BE49-F238E27FC236}">
                <a16:creationId xmlns:a16="http://schemas.microsoft.com/office/drawing/2014/main" id="{E0858252-4548-6A74-46B9-A1B5FB1DB470}"/>
              </a:ext>
            </a:extLst>
          </p:cNvPr>
          <p:cNvGrpSpPr/>
          <p:nvPr/>
        </p:nvGrpSpPr>
        <p:grpSpPr>
          <a:xfrm>
            <a:off x="9363075" y="2895946"/>
            <a:ext cx="1524000" cy="1378297"/>
            <a:chOff x="0" y="28575"/>
            <a:chExt cx="812800" cy="836953"/>
          </a:xfrm>
        </p:grpSpPr>
        <p:sp>
          <p:nvSpPr>
            <p:cNvPr id="31" name="Freeform 14">
              <a:extLst>
                <a:ext uri="{FF2B5EF4-FFF2-40B4-BE49-F238E27FC236}">
                  <a16:creationId xmlns:a16="http://schemas.microsoft.com/office/drawing/2014/main" id="{8C6FD3C4-37F4-A577-A310-A5B1F5395B5F}"/>
                </a:ext>
              </a:extLst>
            </p:cNvPr>
            <p:cNvSpPr/>
            <p:nvPr/>
          </p:nvSpPr>
          <p:spPr>
            <a:xfrm>
              <a:off x="0" y="52728"/>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id="32" name="TextBox 15">
              <a:extLst>
                <a:ext uri="{FF2B5EF4-FFF2-40B4-BE49-F238E27FC236}">
                  <a16:creationId xmlns:a16="http://schemas.microsoft.com/office/drawing/2014/main" id="{F9C3A976-B736-A610-2E4F-24910F404BCA}"/>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3" name="Group 13">
            <a:extLst>
              <a:ext uri="{FF2B5EF4-FFF2-40B4-BE49-F238E27FC236}">
                <a16:creationId xmlns:a16="http://schemas.microsoft.com/office/drawing/2014/main" id="{8FF5C23A-E3F5-2E4C-5553-C2EA84596BE4}"/>
              </a:ext>
            </a:extLst>
          </p:cNvPr>
          <p:cNvGrpSpPr/>
          <p:nvPr/>
        </p:nvGrpSpPr>
        <p:grpSpPr>
          <a:xfrm>
            <a:off x="9404261" y="4627078"/>
            <a:ext cx="1524000" cy="1338522"/>
            <a:chOff x="0" y="0"/>
            <a:chExt cx="812800" cy="812800"/>
          </a:xfrm>
        </p:grpSpPr>
        <p:sp>
          <p:nvSpPr>
            <p:cNvPr id="34" name="Freeform 14">
              <a:extLst>
                <a:ext uri="{FF2B5EF4-FFF2-40B4-BE49-F238E27FC236}">
                  <a16:creationId xmlns:a16="http://schemas.microsoft.com/office/drawing/2014/main" id="{F7D13AF6-3CB6-B311-41A4-30FCF79F715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id="35" name="TextBox 15">
              <a:extLst>
                <a:ext uri="{FF2B5EF4-FFF2-40B4-BE49-F238E27FC236}">
                  <a16:creationId xmlns:a16="http://schemas.microsoft.com/office/drawing/2014/main" id="{5ADCC65B-4935-4397-B2B7-168ED397496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6" name="Group 13">
            <a:extLst>
              <a:ext uri="{FF2B5EF4-FFF2-40B4-BE49-F238E27FC236}">
                <a16:creationId xmlns:a16="http://schemas.microsoft.com/office/drawing/2014/main" id="{DADE7217-FDB1-84FE-606D-5EBFE3691E11}"/>
              </a:ext>
            </a:extLst>
          </p:cNvPr>
          <p:cNvGrpSpPr/>
          <p:nvPr/>
        </p:nvGrpSpPr>
        <p:grpSpPr>
          <a:xfrm>
            <a:off x="9439275" y="6452656"/>
            <a:ext cx="1524000" cy="1338522"/>
            <a:chOff x="0" y="0"/>
            <a:chExt cx="812800" cy="812800"/>
          </a:xfrm>
        </p:grpSpPr>
        <p:sp>
          <p:nvSpPr>
            <p:cNvPr id="37" name="Freeform 14">
              <a:extLst>
                <a:ext uri="{FF2B5EF4-FFF2-40B4-BE49-F238E27FC236}">
                  <a16:creationId xmlns:a16="http://schemas.microsoft.com/office/drawing/2014/main" id="{A5FCAB2C-69F3-2D72-65A1-67987A105AE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id="38" name="TextBox 15">
              <a:extLst>
                <a:ext uri="{FF2B5EF4-FFF2-40B4-BE49-F238E27FC236}">
                  <a16:creationId xmlns:a16="http://schemas.microsoft.com/office/drawing/2014/main" id="{E1C82C1C-63EC-03D4-D236-38E4A3842920}"/>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39" name="Group 13">
            <a:extLst>
              <a:ext uri="{FF2B5EF4-FFF2-40B4-BE49-F238E27FC236}">
                <a16:creationId xmlns:a16="http://schemas.microsoft.com/office/drawing/2014/main" id="{19D139DF-C2CB-5B38-15B7-E020AB76E3C9}"/>
              </a:ext>
            </a:extLst>
          </p:cNvPr>
          <p:cNvGrpSpPr/>
          <p:nvPr/>
        </p:nvGrpSpPr>
        <p:grpSpPr>
          <a:xfrm>
            <a:off x="9439156" y="8268358"/>
            <a:ext cx="1524000" cy="1338522"/>
            <a:chOff x="0" y="0"/>
            <a:chExt cx="812800" cy="812800"/>
          </a:xfrm>
        </p:grpSpPr>
        <p:sp>
          <p:nvSpPr>
            <p:cNvPr id="40" name="Freeform 14">
              <a:extLst>
                <a:ext uri="{FF2B5EF4-FFF2-40B4-BE49-F238E27FC236}">
                  <a16:creationId xmlns:a16="http://schemas.microsoft.com/office/drawing/2014/main" id="{2D1E2DE1-6600-709E-EB11-906723D5C1F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id="41" name="TextBox 15">
              <a:extLst>
                <a:ext uri="{FF2B5EF4-FFF2-40B4-BE49-F238E27FC236}">
                  <a16:creationId xmlns:a16="http://schemas.microsoft.com/office/drawing/2014/main" id="{271BEE8A-C56E-3710-B0DD-C02B7D367618}"/>
                </a:ext>
              </a:extLst>
            </p:cNvPr>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42" name="TextBox 22">
            <a:extLst>
              <a:ext uri="{FF2B5EF4-FFF2-40B4-BE49-F238E27FC236}">
                <a16:creationId xmlns:a16="http://schemas.microsoft.com/office/drawing/2014/main" id="{1A3AD2C3-AAB4-3E01-01B2-E7CF3012F330}"/>
              </a:ext>
            </a:extLst>
          </p:cNvPr>
          <p:cNvSpPr txBox="1"/>
          <p:nvPr/>
        </p:nvSpPr>
        <p:spPr>
          <a:xfrm>
            <a:off x="9609805" y="2808214"/>
            <a:ext cx="1029211" cy="1233223"/>
          </a:xfrm>
          <a:prstGeom prst="rect">
            <a:avLst/>
          </a:prstGeom>
        </p:spPr>
        <p:txBody>
          <a:bodyPr wrap="square" lIns="0" tIns="0" rIns="0" bIns="0" rtlCol="0" anchor="t">
            <a:spAutoFit/>
          </a:bodyPr>
          <a:lstStyle/>
          <a:p>
            <a:pPr algn="ctr">
              <a:lnSpc>
                <a:spcPts val="11002"/>
              </a:lnSpc>
            </a:pPr>
            <a:r>
              <a:rPr lang="en-US" sz="6000" dirty="0">
                <a:solidFill>
                  <a:srgbClr val="000000"/>
                </a:solidFill>
                <a:latin typeface="League Spartan"/>
                <a:ea typeface="League Spartan"/>
                <a:cs typeface="League Spartan"/>
                <a:sym typeface="League Spartan"/>
              </a:rPr>
              <a:t>2</a:t>
            </a:r>
          </a:p>
        </p:txBody>
      </p:sp>
      <p:sp>
        <p:nvSpPr>
          <p:cNvPr id="44" name="TextBox 22">
            <a:extLst>
              <a:ext uri="{FF2B5EF4-FFF2-40B4-BE49-F238E27FC236}">
                <a16:creationId xmlns:a16="http://schemas.microsoft.com/office/drawing/2014/main" id="{D72B893B-697D-5092-A389-153DC4C0C125}"/>
              </a:ext>
            </a:extLst>
          </p:cNvPr>
          <p:cNvSpPr txBox="1"/>
          <p:nvPr/>
        </p:nvSpPr>
        <p:spPr>
          <a:xfrm>
            <a:off x="9651655" y="4484143"/>
            <a:ext cx="1029211" cy="1233223"/>
          </a:xfrm>
          <a:prstGeom prst="rect">
            <a:avLst/>
          </a:prstGeom>
        </p:spPr>
        <p:txBody>
          <a:bodyPr wrap="square" lIns="0" tIns="0" rIns="0" bIns="0" rtlCol="0" anchor="t">
            <a:spAutoFit/>
          </a:bodyPr>
          <a:lstStyle/>
          <a:p>
            <a:pPr algn="ctr">
              <a:lnSpc>
                <a:spcPts val="11002"/>
              </a:lnSpc>
            </a:pPr>
            <a:r>
              <a:rPr lang="en-US" sz="6000" dirty="0">
                <a:solidFill>
                  <a:srgbClr val="000000"/>
                </a:solidFill>
                <a:latin typeface="League Spartan"/>
                <a:ea typeface="League Spartan"/>
                <a:cs typeface="League Spartan"/>
                <a:sym typeface="League Spartan"/>
              </a:rPr>
              <a:t>3</a:t>
            </a:r>
          </a:p>
        </p:txBody>
      </p:sp>
      <p:sp>
        <p:nvSpPr>
          <p:cNvPr id="45" name="TextBox 22">
            <a:extLst>
              <a:ext uri="{FF2B5EF4-FFF2-40B4-BE49-F238E27FC236}">
                <a16:creationId xmlns:a16="http://schemas.microsoft.com/office/drawing/2014/main" id="{0146C7F5-2563-EAFD-8583-0B3D40A7F7C7}"/>
              </a:ext>
            </a:extLst>
          </p:cNvPr>
          <p:cNvSpPr txBox="1"/>
          <p:nvPr/>
        </p:nvSpPr>
        <p:spPr>
          <a:xfrm>
            <a:off x="9714989" y="6309721"/>
            <a:ext cx="1029211" cy="1233223"/>
          </a:xfrm>
          <a:prstGeom prst="rect">
            <a:avLst/>
          </a:prstGeom>
        </p:spPr>
        <p:txBody>
          <a:bodyPr wrap="square" lIns="0" tIns="0" rIns="0" bIns="0" rtlCol="0" anchor="t">
            <a:spAutoFit/>
          </a:bodyPr>
          <a:lstStyle/>
          <a:p>
            <a:pPr algn="ctr">
              <a:lnSpc>
                <a:spcPts val="11002"/>
              </a:lnSpc>
            </a:pPr>
            <a:r>
              <a:rPr lang="en-US" sz="6000" dirty="0">
                <a:solidFill>
                  <a:srgbClr val="000000"/>
                </a:solidFill>
                <a:latin typeface="League Spartan"/>
                <a:ea typeface="League Spartan"/>
                <a:cs typeface="League Spartan"/>
                <a:sym typeface="League Spartan"/>
              </a:rPr>
              <a:t>4</a:t>
            </a:r>
          </a:p>
        </p:txBody>
      </p:sp>
      <p:sp>
        <p:nvSpPr>
          <p:cNvPr id="46" name="TextBox 22">
            <a:extLst>
              <a:ext uri="{FF2B5EF4-FFF2-40B4-BE49-F238E27FC236}">
                <a16:creationId xmlns:a16="http://schemas.microsoft.com/office/drawing/2014/main" id="{EF1BEF94-A80E-E5C6-F192-2586C97B2683}"/>
              </a:ext>
            </a:extLst>
          </p:cNvPr>
          <p:cNvSpPr txBox="1"/>
          <p:nvPr/>
        </p:nvSpPr>
        <p:spPr>
          <a:xfrm>
            <a:off x="9692682" y="8142871"/>
            <a:ext cx="1029211" cy="1233223"/>
          </a:xfrm>
          <a:prstGeom prst="rect">
            <a:avLst/>
          </a:prstGeom>
        </p:spPr>
        <p:txBody>
          <a:bodyPr wrap="square" lIns="0" tIns="0" rIns="0" bIns="0" rtlCol="0" anchor="t">
            <a:spAutoFit/>
          </a:bodyPr>
          <a:lstStyle/>
          <a:p>
            <a:pPr algn="ctr">
              <a:lnSpc>
                <a:spcPts val="11002"/>
              </a:lnSpc>
            </a:pPr>
            <a:r>
              <a:rPr lang="en-US" sz="6000" dirty="0">
                <a:solidFill>
                  <a:srgbClr val="000000"/>
                </a:solidFill>
                <a:latin typeface="League Spartan"/>
                <a:ea typeface="League Spartan"/>
                <a:cs typeface="League Spartan"/>
                <a:sym typeface="League Spartan"/>
              </a:rPr>
              <a:t>5</a:t>
            </a:r>
          </a:p>
        </p:txBody>
      </p:sp>
      <p:sp>
        <p:nvSpPr>
          <p:cNvPr id="49" name="TextBox 26">
            <a:extLst>
              <a:ext uri="{FF2B5EF4-FFF2-40B4-BE49-F238E27FC236}">
                <a16:creationId xmlns:a16="http://schemas.microsoft.com/office/drawing/2014/main" id="{17450EEE-C2B1-4149-D28D-55A415439DD9}"/>
              </a:ext>
            </a:extLst>
          </p:cNvPr>
          <p:cNvSpPr txBox="1"/>
          <p:nvPr/>
        </p:nvSpPr>
        <p:spPr>
          <a:xfrm>
            <a:off x="11189789" y="3264825"/>
            <a:ext cx="6109696" cy="680314"/>
          </a:xfrm>
          <a:prstGeom prst="rect">
            <a:avLst/>
          </a:prstGeom>
        </p:spPr>
        <p:txBody>
          <a:bodyPr wrap="square" lIns="0" tIns="0" rIns="0" bIns="0" rtlCol="0" anchor="t">
            <a:spAutoFit/>
          </a:bodyPr>
          <a:lstStyle/>
          <a:p>
            <a:pPr>
              <a:lnSpc>
                <a:spcPts val="2565"/>
              </a:lnSpc>
              <a:spcBef>
                <a:spcPct val="0"/>
              </a:spcBef>
            </a:pPr>
            <a:r>
              <a:rPr lang="en-US" sz="2800" dirty="0">
                <a:solidFill>
                  <a:schemeClr val="bg1"/>
                </a:solidFill>
                <a:latin typeface="Times New Roman" panose="02020603050405020304" pitchFamily="18" charset="0"/>
                <a:cs typeface="Times New Roman" panose="02020603050405020304" pitchFamily="18" charset="0"/>
              </a:rPr>
              <a:t>Frequently causes food wastage due to overproduction</a:t>
            </a:r>
            <a:endParaRPr lang="en-US" sz="2400" dirty="0">
              <a:solidFill>
                <a:schemeClr val="bg1"/>
              </a:solidFill>
              <a:latin typeface="Poppins"/>
              <a:ea typeface="Poppins"/>
              <a:cs typeface="Poppins"/>
              <a:sym typeface="Poppins"/>
            </a:endParaRPr>
          </a:p>
        </p:txBody>
      </p:sp>
      <p:sp>
        <p:nvSpPr>
          <p:cNvPr id="50" name="TextBox 26">
            <a:extLst>
              <a:ext uri="{FF2B5EF4-FFF2-40B4-BE49-F238E27FC236}">
                <a16:creationId xmlns:a16="http://schemas.microsoft.com/office/drawing/2014/main" id="{F3C85C79-6040-F499-5318-C44CAFF1374D}"/>
              </a:ext>
            </a:extLst>
          </p:cNvPr>
          <p:cNvSpPr txBox="1"/>
          <p:nvPr/>
        </p:nvSpPr>
        <p:spPr>
          <a:xfrm>
            <a:off x="11319468" y="6781760"/>
            <a:ext cx="5990224" cy="680314"/>
          </a:xfrm>
          <a:prstGeom prst="rect">
            <a:avLst/>
          </a:prstGeom>
        </p:spPr>
        <p:txBody>
          <a:bodyPr wrap="square" lIns="0" tIns="0" rIns="0" bIns="0" rtlCol="0" anchor="t">
            <a:spAutoFit/>
          </a:bodyPr>
          <a:lstStyle/>
          <a:p>
            <a:pPr>
              <a:lnSpc>
                <a:spcPts val="2565"/>
              </a:lnSpc>
              <a:spcBef>
                <a:spcPct val="0"/>
              </a:spcBef>
            </a:pPr>
            <a:r>
              <a:rPr lang="en-US" sz="2800" dirty="0">
                <a:solidFill>
                  <a:schemeClr val="bg1"/>
                </a:solidFill>
                <a:latin typeface="Times New Roman" panose="02020603050405020304" pitchFamily="18" charset="0"/>
                <a:cs typeface="Times New Roman" panose="02020603050405020304" pitchFamily="18" charset="0"/>
              </a:rPr>
              <a:t>Lacks data-driven insights to guide future planning</a:t>
            </a:r>
            <a:endParaRPr lang="en-US" sz="2400" dirty="0">
              <a:solidFill>
                <a:schemeClr val="bg1"/>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3887641" y="439033"/>
            <a:ext cx="11497268" cy="807913"/>
          </a:xfrm>
          <a:prstGeom prst="rect">
            <a:avLst/>
          </a:prstGeom>
        </p:spPr>
        <p:txBody>
          <a:bodyPr wrap="square" lIns="0" tIns="0" rIns="0" bIns="0" rtlCol="0" anchor="t">
            <a:spAutoFit/>
          </a:bodyPr>
          <a:lstStyle/>
          <a:p>
            <a:pPr lvl="0" algn="ctr">
              <a:lnSpc>
                <a:spcPts val="6300"/>
              </a:lnSpc>
              <a:spcBef>
                <a:spcPct val="0"/>
              </a:spcBef>
            </a:pPr>
            <a:r>
              <a:rPr lang="en-IN" sz="6000" b="1" dirty="0">
                <a:latin typeface="Times New Roman" panose="02020603050405020304" pitchFamily="18" charset="0"/>
                <a:cs typeface="Times New Roman" panose="02020603050405020304" pitchFamily="18" charset="0"/>
              </a:rPr>
              <a:t>Proposed System / Methodology</a:t>
            </a:r>
            <a:endParaRPr lang="en-US" sz="6000" b="1" u="none" strike="noStrike" dirty="0">
              <a:latin typeface="Montserrat Bold"/>
              <a:ea typeface="Montserrat Bold"/>
              <a:cs typeface="Montserrat Bold"/>
              <a:sym typeface="Montserrat Bold"/>
            </a:endParaRPr>
          </a:p>
        </p:txBody>
      </p:sp>
      <p:grpSp>
        <p:nvGrpSpPr>
          <p:cNvPr id="6" name="Group 6"/>
          <p:cNvGrpSpPr/>
          <p:nvPr/>
        </p:nvGrpSpPr>
        <p:grpSpPr>
          <a:xfrm>
            <a:off x="-1137885" y="-1024122"/>
            <a:ext cx="3564204" cy="356420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485900" y="1557763"/>
            <a:ext cx="15316200" cy="1969770"/>
          </a:xfrm>
          <a:prstGeom prst="rect">
            <a:avLst/>
          </a:prstGeom>
        </p:spPr>
        <p:txBody>
          <a:bodyPr wrap="square" lIns="0" tIns="0" rIns="0" bIns="0" rtlCol="0" anchor="t">
            <a:spAutoFit/>
          </a:bodyPr>
          <a:lstStyle/>
          <a:p>
            <a:pPr algn="just"/>
            <a:r>
              <a:rPr lang="en-US" sz="3200" dirty="0">
                <a:latin typeface="Times New Roman" panose="02020603050405020304" pitchFamily="18" charset="0"/>
                <a:cs typeface="Times New Roman" panose="02020603050405020304" pitchFamily="18" charset="0"/>
              </a:rPr>
              <a:t>The proposed system is an </a:t>
            </a:r>
            <a:r>
              <a:rPr lang="en-US" sz="3200" b="1" dirty="0">
                <a:latin typeface="Times New Roman" panose="02020603050405020304" pitchFamily="18" charset="0"/>
                <a:cs typeface="Times New Roman" panose="02020603050405020304" pitchFamily="18" charset="0"/>
              </a:rPr>
              <a:t>AI-driven food demand prediction model</a:t>
            </a:r>
            <a:r>
              <a:rPr lang="en-US" sz="3200" dirty="0">
                <a:latin typeface="Times New Roman" panose="02020603050405020304" pitchFamily="18" charset="0"/>
                <a:cs typeface="Times New Roman" panose="02020603050405020304" pitchFamily="18" charset="0"/>
              </a:rPr>
              <a:t> that uses historical data and contextual factors to forecast the daily requirement for each menu item. Unlike the manual estimation method, this system adopts a structured, data-driven approach to improve accuracy and operational efficiency.</a:t>
            </a:r>
          </a:p>
        </p:txBody>
      </p:sp>
      <p:grpSp>
        <p:nvGrpSpPr>
          <p:cNvPr id="12" name="Group 12"/>
          <p:cNvGrpSpPr/>
          <p:nvPr/>
        </p:nvGrpSpPr>
        <p:grpSpPr>
          <a:xfrm>
            <a:off x="14700679" y="7074186"/>
            <a:ext cx="5946973" cy="594697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594175" y="8410948"/>
            <a:ext cx="11402164" cy="711357"/>
          </a:xfrm>
          <a:custGeom>
            <a:avLst/>
            <a:gdLst/>
            <a:ahLst/>
            <a:cxnLst/>
            <a:rect l="l" t="t" r="r" b="b"/>
            <a:pathLst>
              <a:path w="11402164" h="711357">
                <a:moveTo>
                  <a:pt x="0" y="0"/>
                </a:moveTo>
                <a:lnTo>
                  <a:pt x="11402164" y="0"/>
                </a:lnTo>
                <a:lnTo>
                  <a:pt x="11402164" y="711358"/>
                </a:lnTo>
                <a:lnTo>
                  <a:pt x="0" y="711358"/>
                </a:lnTo>
                <a:lnTo>
                  <a:pt x="0" y="0"/>
                </a:lnTo>
                <a:close/>
              </a:path>
            </a:pathLst>
          </a:custGeom>
          <a:blipFill>
            <a:blip r:embed="rId2"/>
            <a:stretch>
              <a:fillRect t="-216567"/>
            </a:stretch>
          </a:blipFill>
        </p:spPr>
      </p:sp>
      <p:grpSp>
        <p:nvGrpSpPr>
          <p:cNvPr id="16" name="Group 16"/>
          <p:cNvGrpSpPr/>
          <p:nvPr/>
        </p:nvGrpSpPr>
        <p:grpSpPr>
          <a:xfrm>
            <a:off x="533400" y="5128008"/>
            <a:ext cx="17180675" cy="3749292"/>
            <a:chOff x="0" y="0"/>
            <a:chExt cx="2999100" cy="868800"/>
          </a:xfrm>
        </p:grpSpPr>
        <p:sp>
          <p:nvSpPr>
            <p:cNvPr id="17" name="Freeform 17"/>
            <p:cNvSpPr/>
            <p:nvPr/>
          </p:nvSpPr>
          <p:spPr>
            <a:xfrm>
              <a:off x="0" y="0"/>
              <a:ext cx="2999100" cy="868800"/>
            </a:xfrm>
            <a:custGeom>
              <a:avLst/>
              <a:gdLst/>
              <a:ahLst/>
              <a:cxnLst/>
              <a:rect l="l" t="t" r="r" b="b"/>
              <a:pathLst>
                <a:path w="2999100" h="868800">
                  <a:moveTo>
                    <a:pt x="9518" y="0"/>
                  </a:moveTo>
                  <a:lnTo>
                    <a:pt x="2989581" y="0"/>
                  </a:lnTo>
                  <a:cubicBezTo>
                    <a:pt x="2992106" y="0"/>
                    <a:pt x="2994527" y="1003"/>
                    <a:pt x="2996312" y="2788"/>
                  </a:cubicBezTo>
                  <a:cubicBezTo>
                    <a:pt x="2998097" y="4573"/>
                    <a:pt x="2999100" y="6994"/>
                    <a:pt x="2999100" y="9518"/>
                  </a:cubicBezTo>
                  <a:lnTo>
                    <a:pt x="2999100" y="859282"/>
                  </a:lnTo>
                  <a:cubicBezTo>
                    <a:pt x="2999100" y="861806"/>
                    <a:pt x="2998097" y="864227"/>
                    <a:pt x="2996312" y="866012"/>
                  </a:cubicBezTo>
                  <a:cubicBezTo>
                    <a:pt x="2994527" y="867797"/>
                    <a:pt x="2992106" y="868800"/>
                    <a:pt x="2989581" y="868800"/>
                  </a:cubicBezTo>
                  <a:lnTo>
                    <a:pt x="9518" y="868800"/>
                  </a:lnTo>
                  <a:cubicBezTo>
                    <a:pt x="4261" y="868800"/>
                    <a:pt x="0" y="864538"/>
                    <a:pt x="0" y="859282"/>
                  </a:cubicBezTo>
                  <a:lnTo>
                    <a:pt x="0" y="9518"/>
                  </a:lnTo>
                  <a:cubicBezTo>
                    <a:pt x="0" y="6994"/>
                    <a:pt x="1003" y="4573"/>
                    <a:pt x="2788" y="2788"/>
                  </a:cubicBezTo>
                  <a:cubicBezTo>
                    <a:pt x="4573" y="1003"/>
                    <a:pt x="6994" y="0"/>
                    <a:pt x="9518" y="0"/>
                  </a:cubicBezTo>
                  <a:close/>
                </a:path>
              </a:pathLst>
            </a:custGeom>
            <a:solidFill>
              <a:srgbClr val="00569E"/>
            </a:solidFill>
          </p:spPr>
        </p:sp>
        <p:sp>
          <p:nvSpPr>
            <p:cNvPr id="18" name="TextBox 18"/>
            <p:cNvSpPr txBox="1"/>
            <p:nvPr/>
          </p:nvSpPr>
          <p:spPr>
            <a:xfrm>
              <a:off x="0" y="-38100"/>
              <a:ext cx="2999100" cy="9069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644217" y="3749267"/>
            <a:ext cx="2802643" cy="1827721"/>
            <a:chOff x="-3925" y="-50664"/>
            <a:chExt cx="1024430" cy="317260"/>
          </a:xfrm>
        </p:grpSpPr>
        <p:sp>
          <p:nvSpPr>
            <p:cNvPr id="20" name="Freeform 20"/>
            <p:cNvSpPr/>
            <p:nvPr/>
          </p:nvSpPr>
          <p:spPr>
            <a:xfrm>
              <a:off x="7214" y="-11454"/>
              <a:ext cx="1013291" cy="250585"/>
            </a:xfrm>
            <a:custGeom>
              <a:avLst/>
              <a:gdLst/>
              <a:ahLst/>
              <a:cxnLst/>
              <a:rect l="l" t="t" r="r" b="b"/>
              <a:pathLst>
                <a:path w="1013291" h="250585">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1">
              <a:gsLst>
                <a:gs pos="0">
                  <a:srgbClr val="00569E">
                    <a:alpha val="100000"/>
                  </a:srgbClr>
                </a:gs>
                <a:gs pos="100000">
                  <a:srgbClr val="014074">
                    <a:alpha val="100000"/>
                  </a:srgbClr>
                </a:gs>
              </a:gsLst>
              <a:path path="circle">
                <a:fillToRect r="100000" b="100000"/>
              </a:path>
              <a:tileRect l="-100000" t="-100000"/>
            </a:gradFill>
            <a:ln cap="rnd">
              <a:noFill/>
              <a:prstDash val="solid"/>
              <a:round/>
            </a:ln>
          </p:spPr>
        </p:sp>
        <p:sp>
          <p:nvSpPr>
            <p:cNvPr id="21" name="TextBox 21"/>
            <p:cNvSpPr txBox="1"/>
            <p:nvPr/>
          </p:nvSpPr>
          <p:spPr>
            <a:xfrm>
              <a:off x="-3925" y="-50664"/>
              <a:ext cx="1013291" cy="317260"/>
            </a:xfrm>
            <a:prstGeom prst="rect">
              <a:avLst/>
            </a:prstGeom>
          </p:spPr>
          <p:txBody>
            <a:bodyPr lIns="0" tIns="0" rIns="0" bIns="0" rtlCol="0" anchor="ctr"/>
            <a:lstStyle/>
            <a:p>
              <a:pPr lvl="0" algn="ctr">
                <a:lnSpc>
                  <a:spcPts val="3480"/>
                </a:lnSpc>
                <a:spcBef>
                  <a:spcPct val="0"/>
                </a:spcBef>
              </a:pPr>
              <a:r>
                <a:rPr lang="en-US" sz="3200" b="1" dirty="0">
                  <a:solidFill>
                    <a:schemeClr val="bg1"/>
                  </a:solidFill>
                  <a:latin typeface="Times New Roman" panose="02020603050405020304" pitchFamily="18" charset="0"/>
                  <a:cs typeface="Times New Roman" panose="02020603050405020304" pitchFamily="18" charset="0"/>
                </a:rPr>
                <a:t>Data </a:t>
              </a:r>
            </a:p>
            <a:p>
              <a:pPr lvl="0" algn="ctr">
                <a:lnSpc>
                  <a:spcPts val="3480"/>
                </a:lnSpc>
                <a:spcBef>
                  <a:spcPct val="0"/>
                </a:spcBef>
              </a:pPr>
              <a:r>
                <a:rPr lang="en-US" sz="3200" b="1" dirty="0">
                  <a:solidFill>
                    <a:schemeClr val="bg1"/>
                  </a:solidFill>
                  <a:latin typeface="Times New Roman" panose="02020603050405020304" pitchFamily="18" charset="0"/>
                  <a:cs typeface="Times New Roman" panose="02020603050405020304" pitchFamily="18" charset="0"/>
                </a:rPr>
                <a:t>Collection</a:t>
              </a:r>
              <a:endParaRPr lang="en-US" sz="2800" b="1" u="none" strike="noStrike" dirty="0">
                <a:solidFill>
                  <a:schemeClr val="bg1"/>
                </a:solidFill>
                <a:latin typeface="Poppins Bold"/>
                <a:ea typeface="Poppins Bold"/>
                <a:cs typeface="Poppins Bold"/>
                <a:sym typeface="Poppins Bold"/>
              </a:endParaRPr>
            </a:p>
          </p:txBody>
        </p:sp>
      </p:grpSp>
      <p:sp>
        <p:nvSpPr>
          <p:cNvPr id="24" name="TextBox 24"/>
          <p:cNvSpPr txBox="1"/>
          <p:nvPr/>
        </p:nvSpPr>
        <p:spPr>
          <a:xfrm>
            <a:off x="4876800" y="4820708"/>
            <a:ext cx="2772169" cy="685553"/>
          </a:xfrm>
          <a:prstGeom prst="rect">
            <a:avLst/>
          </a:prstGeom>
        </p:spPr>
        <p:txBody>
          <a:bodyPr lIns="0" tIns="0" rIns="0" bIns="0" rtlCol="0" anchor="ctr"/>
          <a:lstStyle/>
          <a:p>
            <a:pPr lvl="0" algn="ctr">
              <a:lnSpc>
                <a:spcPts val="3480"/>
              </a:lnSpc>
              <a:spcBef>
                <a:spcPct val="0"/>
              </a:spcBef>
            </a:pPr>
            <a:endParaRPr lang="en-US" sz="2486" b="1" u="none" strike="noStrike" dirty="0">
              <a:solidFill>
                <a:srgbClr val="FFFFFF"/>
              </a:solidFill>
              <a:latin typeface="Poppins Bold"/>
              <a:ea typeface="Poppins Bold"/>
              <a:cs typeface="Poppins Bold"/>
              <a:sym typeface="Poppins Bold"/>
            </a:endParaRPr>
          </a:p>
        </p:txBody>
      </p:sp>
      <p:sp>
        <p:nvSpPr>
          <p:cNvPr id="28" name="TextBox 28"/>
          <p:cNvSpPr txBox="1"/>
          <p:nvPr/>
        </p:nvSpPr>
        <p:spPr>
          <a:xfrm>
            <a:off x="816677" y="5704702"/>
            <a:ext cx="2661498" cy="2215991"/>
          </a:xfrm>
          <a:prstGeom prst="rect">
            <a:avLst/>
          </a:prstGeom>
        </p:spPr>
        <p:txBody>
          <a:bodyPr lIns="0" tIns="0" rIns="0" bIns="0" rtlCol="0" anchor="t">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Gather historical data including daily sales, student attendance, weekdays, seasonal trends, weather, and special events.</a:t>
            </a:r>
          </a:p>
        </p:txBody>
      </p:sp>
      <p:sp>
        <p:nvSpPr>
          <p:cNvPr id="29" name="TextBox 29"/>
          <p:cNvSpPr txBox="1"/>
          <p:nvPr/>
        </p:nvSpPr>
        <p:spPr>
          <a:xfrm>
            <a:off x="3917988" y="5603891"/>
            <a:ext cx="2661498" cy="2585323"/>
          </a:xfrm>
          <a:prstGeom prst="rect">
            <a:avLst/>
          </a:prstGeom>
        </p:spPr>
        <p:txBody>
          <a:bodyPr lIns="0" tIns="0" rIns="0" bIns="0" rtlCol="0" anchor="t">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Clean the dataset by handling missing values, duplicates, and encoding categorical variables to ensure data quality.</a:t>
            </a:r>
          </a:p>
        </p:txBody>
      </p:sp>
      <p:sp>
        <p:nvSpPr>
          <p:cNvPr id="30" name="TextBox 30"/>
          <p:cNvSpPr txBox="1"/>
          <p:nvPr/>
        </p:nvSpPr>
        <p:spPr>
          <a:xfrm>
            <a:off x="7414279" y="5621892"/>
            <a:ext cx="2661498" cy="2585323"/>
          </a:xfrm>
          <a:prstGeom prst="rect">
            <a:avLst/>
          </a:prstGeom>
        </p:spPr>
        <p:txBody>
          <a:bodyPr lIns="0" tIns="0" rIns="0" bIns="0" rtlCol="0" anchor="t">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Identify key features such as day of the week, student strength, past sales, and event indicators that influence food demand.</a:t>
            </a:r>
          </a:p>
        </p:txBody>
      </p:sp>
      <p:grpSp>
        <p:nvGrpSpPr>
          <p:cNvPr id="37" name="Group 19">
            <a:extLst>
              <a:ext uri="{FF2B5EF4-FFF2-40B4-BE49-F238E27FC236}">
                <a16:creationId xmlns:a16="http://schemas.microsoft.com/office/drawing/2014/main" id="{ECCD86F0-413F-B2F0-345A-54FF15F6288B}"/>
              </a:ext>
            </a:extLst>
          </p:cNvPr>
          <p:cNvGrpSpPr/>
          <p:nvPr/>
        </p:nvGrpSpPr>
        <p:grpSpPr>
          <a:xfrm>
            <a:off x="3887641" y="3969146"/>
            <a:ext cx="2772169" cy="1482594"/>
            <a:chOff x="2384" y="-11454"/>
            <a:chExt cx="1013291" cy="250585"/>
          </a:xfrm>
        </p:grpSpPr>
        <p:sp>
          <p:nvSpPr>
            <p:cNvPr id="38" name="Freeform 20">
              <a:extLst>
                <a:ext uri="{FF2B5EF4-FFF2-40B4-BE49-F238E27FC236}">
                  <a16:creationId xmlns:a16="http://schemas.microsoft.com/office/drawing/2014/main" id="{3C7B618D-39A0-7217-8602-75C4D87FBB8E}"/>
                </a:ext>
              </a:extLst>
            </p:cNvPr>
            <p:cNvSpPr/>
            <p:nvPr/>
          </p:nvSpPr>
          <p:spPr>
            <a:xfrm>
              <a:off x="2384" y="-11454"/>
              <a:ext cx="1013291" cy="250585"/>
            </a:xfrm>
            <a:custGeom>
              <a:avLst/>
              <a:gdLst/>
              <a:ahLst/>
              <a:cxnLst/>
              <a:rect l="l" t="t" r="r" b="b"/>
              <a:pathLst>
                <a:path w="1013291" h="250585">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1">
              <a:gsLst>
                <a:gs pos="0">
                  <a:srgbClr val="00569E">
                    <a:alpha val="100000"/>
                  </a:srgbClr>
                </a:gs>
                <a:gs pos="100000">
                  <a:srgbClr val="014074">
                    <a:alpha val="100000"/>
                  </a:srgbClr>
                </a:gs>
              </a:gsLst>
              <a:path path="circle">
                <a:fillToRect r="100000" b="100000"/>
              </a:path>
              <a:tileRect l="-100000" t="-100000"/>
            </a:gradFill>
            <a:ln cap="rnd">
              <a:noFill/>
              <a:prstDash val="solid"/>
              <a:round/>
            </a:ln>
          </p:spPr>
        </p:sp>
        <p:sp>
          <p:nvSpPr>
            <p:cNvPr id="39" name="TextBox 21">
              <a:extLst>
                <a:ext uri="{FF2B5EF4-FFF2-40B4-BE49-F238E27FC236}">
                  <a16:creationId xmlns:a16="http://schemas.microsoft.com/office/drawing/2014/main" id="{0546DB3C-5CDD-6B6C-AA84-24D69D07E446}"/>
                </a:ext>
              </a:extLst>
            </p:cNvPr>
            <p:cNvSpPr txBox="1"/>
            <p:nvPr/>
          </p:nvSpPr>
          <p:spPr>
            <a:xfrm>
              <a:off x="58864" y="12884"/>
              <a:ext cx="908307" cy="149362"/>
            </a:xfrm>
            <a:prstGeom prst="rect">
              <a:avLst/>
            </a:prstGeom>
          </p:spPr>
          <p:txBody>
            <a:bodyPr lIns="0" tIns="0" rIns="0" bIns="0" rtlCol="0" anchor="ctr"/>
            <a:lstStyle/>
            <a:p>
              <a:pPr lvl="0" algn="ctr">
                <a:lnSpc>
                  <a:spcPts val="3480"/>
                </a:lnSpc>
                <a:spcBef>
                  <a:spcPct val="0"/>
                </a:spcBef>
              </a:pPr>
              <a:r>
                <a:rPr lang="en-US" sz="3200" b="1" dirty="0">
                  <a:solidFill>
                    <a:schemeClr val="bg1"/>
                  </a:solidFill>
                  <a:latin typeface="Times New Roman" panose="02020603050405020304" pitchFamily="18" charset="0"/>
                  <a:cs typeface="Times New Roman" panose="02020603050405020304" pitchFamily="18" charset="0"/>
                </a:rPr>
                <a:t>Data Preprocessing</a:t>
              </a:r>
              <a:endParaRPr lang="en-US" sz="2800" b="1" dirty="0">
                <a:solidFill>
                  <a:schemeClr val="bg1"/>
                </a:solidFill>
                <a:latin typeface="Poppins Bold"/>
                <a:ea typeface="Poppins Bold"/>
                <a:cs typeface="Poppins Bold"/>
                <a:sym typeface="Poppins Bold"/>
              </a:endParaRPr>
            </a:p>
          </p:txBody>
        </p:sp>
      </p:grpSp>
      <p:sp>
        <p:nvSpPr>
          <p:cNvPr id="41" name="Freeform 20">
            <a:extLst>
              <a:ext uri="{FF2B5EF4-FFF2-40B4-BE49-F238E27FC236}">
                <a16:creationId xmlns:a16="http://schemas.microsoft.com/office/drawing/2014/main" id="{D5A0C96D-3FFA-1304-87F4-9109D39B86FA}"/>
              </a:ext>
            </a:extLst>
          </p:cNvPr>
          <p:cNvSpPr/>
          <p:nvPr/>
        </p:nvSpPr>
        <p:spPr>
          <a:xfrm>
            <a:off x="7127366" y="3969145"/>
            <a:ext cx="3235324" cy="1500594"/>
          </a:xfrm>
          <a:custGeom>
            <a:avLst/>
            <a:gdLst/>
            <a:ahLst/>
            <a:cxnLst/>
            <a:rect l="l" t="t" r="r" b="b"/>
            <a:pathLst>
              <a:path w="1013291" h="250585">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1">
            <a:gsLst>
              <a:gs pos="0">
                <a:srgbClr val="00569E">
                  <a:alpha val="100000"/>
                </a:srgbClr>
              </a:gs>
              <a:gs pos="100000">
                <a:srgbClr val="014074">
                  <a:alpha val="100000"/>
                </a:srgbClr>
              </a:gs>
            </a:gsLst>
            <a:path path="circle">
              <a:fillToRect r="100000" b="100000"/>
            </a:path>
            <a:tileRect l="-100000" t="-100000"/>
          </a:gradFill>
          <a:ln cap="rnd">
            <a:noFill/>
            <a:prstDash val="solid"/>
            <a:round/>
          </a:ln>
        </p:spPr>
        <p:txBody>
          <a:bodyPr/>
          <a:lstStyle/>
          <a:p>
            <a:pPr algn="ctr"/>
            <a:r>
              <a:rPr lang="en-US" sz="3200" b="1" dirty="0">
                <a:solidFill>
                  <a:schemeClr val="bg1"/>
                </a:solidFill>
                <a:latin typeface="Times New Roman" panose="02020603050405020304" pitchFamily="18" charset="0"/>
                <a:cs typeface="Times New Roman" panose="02020603050405020304" pitchFamily="18" charset="0"/>
              </a:rPr>
              <a:t>Feature Selection &amp; Extraction</a:t>
            </a:r>
            <a:endParaRPr lang="en-IN" sz="3200" dirty="0">
              <a:solidFill>
                <a:schemeClr val="bg1"/>
              </a:solidFill>
            </a:endParaRPr>
          </a:p>
        </p:txBody>
      </p:sp>
      <p:sp>
        <p:nvSpPr>
          <p:cNvPr id="43" name="Freeform 20">
            <a:extLst>
              <a:ext uri="{FF2B5EF4-FFF2-40B4-BE49-F238E27FC236}">
                <a16:creationId xmlns:a16="http://schemas.microsoft.com/office/drawing/2014/main" id="{BC8AC352-0898-9C5C-0260-45CF28C650EF}"/>
              </a:ext>
            </a:extLst>
          </p:cNvPr>
          <p:cNvSpPr/>
          <p:nvPr/>
        </p:nvSpPr>
        <p:spPr>
          <a:xfrm>
            <a:off x="10857581" y="3973345"/>
            <a:ext cx="3235324" cy="1500594"/>
          </a:xfrm>
          <a:custGeom>
            <a:avLst/>
            <a:gdLst/>
            <a:ahLst/>
            <a:cxnLst/>
            <a:rect l="l" t="t" r="r" b="b"/>
            <a:pathLst>
              <a:path w="1013291" h="250585">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1">
            <a:gsLst>
              <a:gs pos="0">
                <a:srgbClr val="00569E">
                  <a:alpha val="100000"/>
                </a:srgbClr>
              </a:gs>
              <a:gs pos="100000">
                <a:srgbClr val="014074">
                  <a:alpha val="100000"/>
                </a:srgbClr>
              </a:gs>
            </a:gsLst>
            <a:path path="circle">
              <a:fillToRect r="100000" b="100000"/>
            </a:path>
            <a:tileRect l="-100000" t="-100000"/>
          </a:gradFill>
          <a:ln cap="rnd">
            <a:noFill/>
            <a:prstDash val="solid"/>
            <a:round/>
          </a:ln>
        </p:spPr>
        <p:txBody>
          <a:bodyPr/>
          <a:lstStyle/>
          <a:p>
            <a:pPr algn="ctr"/>
            <a:r>
              <a:rPr lang="en-US" sz="3200" b="1" dirty="0">
                <a:solidFill>
                  <a:schemeClr val="bg1"/>
                </a:solidFill>
                <a:latin typeface="Times New Roman" panose="02020603050405020304" pitchFamily="18" charset="0"/>
                <a:cs typeface="Times New Roman" panose="02020603050405020304" pitchFamily="18" charset="0"/>
              </a:rPr>
              <a:t>Model Training &amp; Testing</a:t>
            </a:r>
            <a:endParaRPr lang="en-IN" sz="3200" dirty="0">
              <a:solidFill>
                <a:schemeClr val="bg1"/>
              </a:solidFill>
            </a:endParaRPr>
          </a:p>
        </p:txBody>
      </p:sp>
      <p:sp>
        <p:nvSpPr>
          <p:cNvPr id="46" name="TextBox 30">
            <a:extLst>
              <a:ext uri="{FF2B5EF4-FFF2-40B4-BE49-F238E27FC236}">
                <a16:creationId xmlns:a16="http://schemas.microsoft.com/office/drawing/2014/main" id="{B54BFA3D-BD27-7BF3-0EA1-D25C94E8AC23}"/>
              </a:ext>
            </a:extLst>
          </p:cNvPr>
          <p:cNvSpPr txBox="1"/>
          <p:nvPr/>
        </p:nvSpPr>
        <p:spPr>
          <a:xfrm>
            <a:off x="11144494" y="5596858"/>
            <a:ext cx="2661498" cy="2954655"/>
          </a:xfrm>
          <a:prstGeom prst="rect">
            <a:avLst/>
          </a:prstGeom>
        </p:spPr>
        <p:txBody>
          <a:bodyPr lIns="0" tIns="0" rIns="0" bIns="0" rtlCol="0" anchor="t">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Train machine learning models like Linear Regression, Random Forest, and LSTM using training data and evaluate their performance on test data. </a:t>
            </a:r>
          </a:p>
        </p:txBody>
      </p:sp>
      <p:sp>
        <p:nvSpPr>
          <p:cNvPr id="47" name="TextBox 30">
            <a:extLst>
              <a:ext uri="{FF2B5EF4-FFF2-40B4-BE49-F238E27FC236}">
                <a16:creationId xmlns:a16="http://schemas.microsoft.com/office/drawing/2014/main" id="{03BC1318-1A23-9A8A-14F7-CCAAE37A391E}"/>
              </a:ext>
            </a:extLst>
          </p:cNvPr>
          <p:cNvSpPr txBox="1"/>
          <p:nvPr/>
        </p:nvSpPr>
        <p:spPr>
          <a:xfrm>
            <a:off x="14662662" y="5769471"/>
            <a:ext cx="2661498" cy="2215991"/>
          </a:xfrm>
          <a:prstGeom prst="rect">
            <a:avLst/>
          </a:prstGeom>
        </p:spPr>
        <p:txBody>
          <a:bodyPr lIns="0" tIns="0" rIns="0" bIns="0" rtlCol="0" anchor="t">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Generate daily food demand forecasts and display insights on a user-friendly dashboard for canteen managers.</a:t>
            </a:r>
          </a:p>
        </p:txBody>
      </p:sp>
      <p:sp>
        <p:nvSpPr>
          <p:cNvPr id="48" name="Freeform 20">
            <a:extLst>
              <a:ext uri="{FF2B5EF4-FFF2-40B4-BE49-F238E27FC236}">
                <a16:creationId xmlns:a16="http://schemas.microsoft.com/office/drawing/2014/main" id="{C74BD249-9833-3900-5D1D-47B68D885F0F}"/>
              </a:ext>
            </a:extLst>
          </p:cNvPr>
          <p:cNvSpPr/>
          <p:nvPr/>
        </p:nvSpPr>
        <p:spPr>
          <a:xfrm>
            <a:off x="14325600" y="3973346"/>
            <a:ext cx="3348565" cy="1577334"/>
          </a:xfrm>
          <a:custGeom>
            <a:avLst/>
            <a:gdLst/>
            <a:ahLst/>
            <a:cxnLst/>
            <a:rect l="l" t="t" r="r" b="b"/>
            <a:pathLst>
              <a:path w="1013291" h="250585">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1">
            <a:gsLst>
              <a:gs pos="0">
                <a:srgbClr val="00569E">
                  <a:alpha val="100000"/>
                </a:srgbClr>
              </a:gs>
              <a:gs pos="100000">
                <a:srgbClr val="014074">
                  <a:alpha val="100000"/>
                </a:srgbClr>
              </a:gs>
            </a:gsLst>
            <a:path path="circle">
              <a:fillToRect r="100000" b="100000"/>
            </a:path>
            <a:tileRect l="-100000" t="-100000"/>
          </a:gradFill>
          <a:ln cap="rnd">
            <a:noFill/>
            <a:prstDash val="solid"/>
            <a:round/>
          </a:ln>
        </p:spPr>
        <p:txBody>
          <a:bodyPr/>
          <a:lstStyle/>
          <a:p>
            <a:pPr algn="ctr"/>
            <a:r>
              <a:rPr lang="en-US" sz="3200" b="1" dirty="0">
                <a:solidFill>
                  <a:schemeClr val="bg1"/>
                </a:solidFill>
                <a:latin typeface="Times New Roman" panose="02020603050405020304" pitchFamily="18" charset="0"/>
                <a:cs typeface="Times New Roman" panose="02020603050405020304" pitchFamily="18" charset="0"/>
              </a:rPr>
              <a:t>Forecasting &amp; Dashboard Integration</a:t>
            </a:r>
            <a:endParaRPr lang="en-IN" sz="320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266830" y="0"/>
            <a:ext cx="5021170" cy="10287000"/>
            <a:chOff x="0" y="0"/>
            <a:chExt cx="1322448" cy="2709333"/>
          </a:xfrm>
        </p:grpSpPr>
        <p:sp>
          <p:nvSpPr>
            <p:cNvPr id="3" name="Freeform 3"/>
            <p:cNvSpPr/>
            <p:nvPr/>
          </p:nvSpPr>
          <p:spPr>
            <a:xfrm>
              <a:off x="0" y="0"/>
              <a:ext cx="1322448" cy="2709333"/>
            </a:xfrm>
            <a:custGeom>
              <a:avLst/>
              <a:gdLst/>
              <a:ahLst/>
              <a:cxnLst/>
              <a:rect l="l" t="t" r="r" b="b"/>
              <a:pathLst>
                <a:path w="1322448" h="2709333">
                  <a:moveTo>
                    <a:pt x="0" y="0"/>
                  </a:moveTo>
                  <a:lnTo>
                    <a:pt x="1322448" y="0"/>
                  </a:lnTo>
                  <a:lnTo>
                    <a:pt x="1322448" y="2709333"/>
                  </a:lnTo>
                  <a:lnTo>
                    <a:pt x="0" y="2709333"/>
                  </a:lnTo>
                  <a:close/>
                </a:path>
              </a:pathLst>
            </a:custGeom>
            <a:solidFill>
              <a:srgbClr val="051D40"/>
            </a:solidFill>
          </p:spPr>
        </p:sp>
        <p:sp>
          <p:nvSpPr>
            <p:cNvPr id="4" name="TextBox 4"/>
            <p:cNvSpPr txBox="1"/>
            <p:nvPr/>
          </p:nvSpPr>
          <p:spPr>
            <a:xfrm>
              <a:off x="0" y="-38100"/>
              <a:ext cx="1322448" cy="2747433"/>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823799" y="2161890"/>
            <a:ext cx="9668468" cy="738664"/>
          </a:xfrm>
          <a:prstGeom prst="rect">
            <a:avLst/>
          </a:prstGeom>
        </p:spPr>
        <p:txBody>
          <a:bodyPr wrap="square" lIns="0" tIns="0" rIns="0" bIns="0" rtlCol="0" anchor="t">
            <a:spAutoFit/>
          </a:bodyPr>
          <a:lstStyle/>
          <a:p>
            <a:pPr algn="ctr"/>
            <a:r>
              <a:rPr lang="en-IN" sz="4800" b="1" dirty="0">
                <a:solidFill>
                  <a:srgbClr val="0033CC"/>
                </a:solidFill>
                <a:latin typeface="Times New Roman" panose="02020603050405020304" pitchFamily="18" charset="0"/>
                <a:cs typeface="Times New Roman" panose="02020603050405020304" pitchFamily="18" charset="0"/>
              </a:rPr>
              <a:t>Proposed System with </a:t>
            </a:r>
            <a:r>
              <a:rPr lang="en-US" sz="4800" b="1" dirty="0">
                <a:solidFill>
                  <a:srgbClr val="0033CC"/>
                </a:solidFill>
                <a:latin typeface="Times New Roman" panose="02020603050405020304" pitchFamily="18" charset="0"/>
                <a:cs typeface="Times New Roman" panose="02020603050405020304" pitchFamily="18" charset="0"/>
              </a:rPr>
              <a:t>Advantages</a:t>
            </a:r>
          </a:p>
        </p:txBody>
      </p:sp>
      <p:grpSp>
        <p:nvGrpSpPr>
          <p:cNvPr id="6" name="Group 6"/>
          <p:cNvGrpSpPr/>
          <p:nvPr/>
        </p:nvGrpSpPr>
        <p:grpSpPr>
          <a:xfrm>
            <a:off x="-1595820" y="-1782102"/>
            <a:ext cx="3564204" cy="356420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997954" y="3419951"/>
            <a:ext cx="9320159" cy="3447098"/>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Highly accurate demand predictions using AI and ML.</a:t>
            </a:r>
          </a:p>
          <a:p>
            <a:pPr marL="342900" indent="-3429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Reduces food wastage and optimizes cost efficiency.</a:t>
            </a:r>
          </a:p>
          <a:p>
            <a:pPr marL="342900" indent="-3429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Continuously improves with new data for real-time adaptability.</a:t>
            </a:r>
          </a:p>
          <a:p>
            <a:pPr marL="342900" indent="-3429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User-friendly interface for easy decision-making by canteen administrators.</a:t>
            </a:r>
          </a:p>
          <a:p>
            <a:endParaRPr lang="en-IN" sz="3200" dirty="0">
              <a:latin typeface="Times New Roman" panose="02020603050405020304" pitchFamily="18" charset="0"/>
              <a:cs typeface="Times New Roman" panose="02020603050405020304" pitchFamily="18" charset="0"/>
            </a:endParaRPr>
          </a:p>
        </p:txBody>
      </p:sp>
      <p:grpSp>
        <p:nvGrpSpPr>
          <p:cNvPr id="12" name="Group 12"/>
          <p:cNvGrpSpPr/>
          <p:nvPr/>
        </p:nvGrpSpPr>
        <p:grpSpPr>
          <a:xfrm>
            <a:off x="14700679" y="7074186"/>
            <a:ext cx="5946973" cy="5946973"/>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pic>
        <p:nvPicPr>
          <p:cNvPr id="1026" name="Picture 2" descr="Researchers stress 'transformative possibility' for AI in nutrition and  research">
            <a:extLst>
              <a:ext uri="{FF2B5EF4-FFF2-40B4-BE49-F238E27FC236}">
                <a16:creationId xmlns:a16="http://schemas.microsoft.com/office/drawing/2014/main" id="{36A09412-DB88-9459-E4FC-70ADAAEC5B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92267" y="1164695"/>
            <a:ext cx="7471883" cy="82460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1066800" y="647700"/>
            <a:ext cx="16078199" cy="1330942"/>
          </a:xfrm>
          <a:prstGeom prst="rect">
            <a:avLst/>
          </a:prstGeom>
        </p:spPr>
        <p:txBody>
          <a:bodyPr wrap="square" lIns="0" tIns="0" rIns="0" bIns="0" rtlCol="0" anchor="t">
            <a:spAutoFit/>
          </a:bodyPr>
          <a:lstStyle/>
          <a:p>
            <a:pPr algn="ctr">
              <a:lnSpc>
                <a:spcPts val="11572"/>
              </a:lnSpc>
            </a:pPr>
            <a:r>
              <a:rPr lang="en-IN" sz="7200" b="1" dirty="0">
                <a:solidFill>
                  <a:srgbClr val="0033CC"/>
                </a:solidFill>
                <a:latin typeface="Times New Roman" panose="02020603050405020304" pitchFamily="18" charset="0"/>
                <a:cs typeface="Times New Roman" panose="02020603050405020304" pitchFamily="18" charset="0"/>
              </a:rPr>
              <a:t>Hardware and Software Requirements</a:t>
            </a:r>
            <a:endParaRPr lang="en-US" sz="7200" b="1" dirty="0">
              <a:solidFill>
                <a:srgbClr val="0033CC"/>
              </a:solidFill>
              <a:latin typeface="League Spartan"/>
              <a:ea typeface="League Spartan"/>
              <a:cs typeface="League Spartan"/>
              <a:sym typeface="League Spartan"/>
            </a:endParaRPr>
          </a:p>
        </p:txBody>
      </p:sp>
      <p:sp>
        <p:nvSpPr>
          <p:cNvPr id="11" name="TextBox 11"/>
          <p:cNvSpPr txBox="1"/>
          <p:nvPr/>
        </p:nvSpPr>
        <p:spPr>
          <a:xfrm>
            <a:off x="16467343" y="3876924"/>
            <a:ext cx="3086100" cy="2352325"/>
          </a:xfrm>
          <a:prstGeom prst="rect">
            <a:avLst/>
          </a:prstGeom>
        </p:spPr>
        <p:txBody>
          <a:bodyPr lIns="50800" tIns="50800" rIns="50800" bIns="50800" rtlCol="0" anchor="ctr"/>
          <a:lstStyle/>
          <a:p>
            <a:pPr algn="ctr">
              <a:lnSpc>
                <a:spcPts val="2659"/>
              </a:lnSpc>
            </a:pPr>
            <a:endParaRPr/>
          </a:p>
        </p:txBody>
      </p:sp>
      <p:sp>
        <p:nvSpPr>
          <p:cNvPr id="12" name="Content Placeholder 2">
            <a:extLst>
              <a:ext uri="{FF2B5EF4-FFF2-40B4-BE49-F238E27FC236}">
                <a16:creationId xmlns:a16="http://schemas.microsoft.com/office/drawing/2014/main" id="{88864E1C-47B5-8304-0EAD-3FF13F7764D9}"/>
              </a:ext>
            </a:extLst>
          </p:cNvPr>
          <p:cNvSpPr txBox="1">
            <a:spLocks/>
          </p:cNvSpPr>
          <p:nvPr/>
        </p:nvSpPr>
        <p:spPr>
          <a:xfrm>
            <a:off x="1524000" y="2705100"/>
            <a:ext cx="15773400" cy="56388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IN" sz="6000" b="1" i="1" u="sng" dirty="0">
                <a:solidFill>
                  <a:schemeClr val="accent2">
                    <a:lumMod val="75000"/>
                  </a:schemeClr>
                </a:solidFill>
                <a:latin typeface="Times New Roman" panose="02020603050405020304" pitchFamily="18" charset="0"/>
                <a:cs typeface="Times New Roman" panose="02020603050405020304" pitchFamily="18" charset="0"/>
              </a:rPr>
              <a:t>Hardware Requirements</a:t>
            </a:r>
          </a:p>
          <a:p>
            <a:pPr marL="0" indent="0" algn="just">
              <a:buFont typeface="Arial" pitchFamily="34" charset="0"/>
              <a:buNone/>
            </a:pPr>
            <a:endParaRPr lang="en-IN" dirty="0">
              <a:solidFill>
                <a:srgbClr val="00B0F0"/>
              </a:solidFill>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Processor:</a:t>
            </a:r>
            <a:r>
              <a:rPr lang="en-IN" dirty="0">
                <a:latin typeface="Times New Roman" panose="02020603050405020304" pitchFamily="18" charset="0"/>
                <a:cs typeface="Times New Roman" panose="02020603050405020304" pitchFamily="18" charset="0"/>
              </a:rPr>
              <a:t> Intel i3/i5 or higher (for smooth ML execution)</a:t>
            </a:r>
          </a:p>
          <a:p>
            <a:pPr algn="just"/>
            <a:r>
              <a:rPr lang="en-IN" b="1" dirty="0">
                <a:latin typeface="Times New Roman" panose="02020603050405020304" pitchFamily="18" charset="0"/>
                <a:cs typeface="Times New Roman" panose="02020603050405020304" pitchFamily="18" charset="0"/>
              </a:rPr>
              <a:t>RAM:</a:t>
            </a:r>
            <a:r>
              <a:rPr lang="en-IN" dirty="0">
                <a:latin typeface="Times New Roman" panose="02020603050405020304" pitchFamily="18" charset="0"/>
                <a:cs typeface="Times New Roman" panose="02020603050405020304" pitchFamily="18" charset="0"/>
              </a:rPr>
              <a:t> Minimum 4 GB (8 GB recommended for faster model training)</a:t>
            </a:r>
          </a:p>
          <a:p>
            <a:pPr algn="just"/>
            <a:r>
              <a:rPr lang="en-IN" b="1" dirty="0">
                <a:latin typeface="Times New Roman" panose="02020603050405020304" pitchFamily="18" charset="0"/>
                <a:cs typeface="Times New Roman" panose="02020603050405020304" pitchFamily="18" charset="0"/>
              </a:rPr>
              <a:t>Storage:</a:t>
            </a:r>
            <a:r>
              <a:rPr lang="en-IN" dirty="0">
                <a:latin typeface="Times New Roman" panose="02020603050405020304" pitchFamily="18" charset="0"/>
                <a:cs typeface="Times New Roman" panose="02020603050405020304" pitchFamily="18" charset="0"/>
              </a:rPr>
              <a:t> 250 GB HDD/SSD (for datasets and project files)</a:t>
            </a:r>
          </a:p>
          <a:p>
            <a:pPr algn="just"/>
            <a:r>
              <a:rPr lang="en-IN" b="1" dirty="0">
                <a:latin typeface="Times New Roman" panose="02020603050405020304" pitchFamily="18" charset="0"/>
                <a:cs typeface="Times New Roman" panose="02020603050405020304" pitchFamily="18" charset="0"/>
              </a:rPr>
              <a:t>System Type:</a:t>
            </a:r>
            <a:r>
              <a:rPr lang="en-IN" dirty="0">
                <a:latin typeface="Times New Roman" panose="02020603050405020304" pitchFamily="18" charset="0"/>
                <a:cs typeface="Times New Roman" panose="02020603050405020304" pitchFamily="18" charset="0"/>
              </a:rPr>
              <a:t> 64-bit Operating System</a:t>
            </a:r>
          </a:p>
          <a:p>
            <a:pPr algn="just"/>
            <a:r>
              <a:rPr lang="en-IN" b="1" dirty="0">
                <a:latin typeface="Times New Roman" panose="02020603050405020304" pitchFamily="18" charset="0"/>
                <a:cs typeface="Times New Roman" panose="02020603050405020304" pitchFamily="18" charset="0"/>
              </a:rPr>
              <a:t>Graphics:</a:t>
            </a:r>
            <a:r>
              <a:rPr lang="en-IN" dirty="0">
                <a:latin typeface="Times New Roman" panose="02020603050405020304" pitchFamily="18" charset="0"/>
                <a:cs typeface="Times New Roman" panose="02020603050405020304" pitchFamily="18" charset="0"/>
              </a:rPr>
              <a:t> Basic integrated graphics (GPU optional for LSTM training)</a:t>
            </a:r>
          </a:p>
          <a:p>
            <a:pPr marL="0" indent="0" algn="just">
              <a:buFont typeface="Arial" pitchFamily="34" charset="0"/>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70871-2DA5-25F7-D44E-5B00BE639AF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938469-31EA-1700-D9D5-E66FE342762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a:extLst>
              <a:ext uri="{FF2B5EF4-FFF2-40B4-BE49-F238E27FC236}">
                <a16:creationId xmlns:a16="http://schemas.microsoft.com/office/drawing/2014/main" id="{52ED3B57-A55E-CAB2-B8B9-DE2A56ACFCD1}"/>
              </a:ext>
            </a:extLst>
          </p:cNvPr>
          <p:cNvSpPr txBox="1"/>
          <p:nvPr/>
        </p:nvSpPr>
        <p:spPr>
          <a:xfrm>
            <a:off x="1104900" y="607520"/>
            <a:ext cx="16078199" cy="1330942"/>
          </a:xfrm>
          <a:prstGeom prst="rect">
            <a:avLst/>
          </a:prstGeom>
        </p:spPr>
        <p:txBody>
          <a:bodyPr wrap="square" lIns="0" tIns="0" rIns="0" bIns="0" rtlCol="0" anchor="t">
            <a:spAutoFit/>
          </a:bodyPr>
          <a:lstStyle/>
          <a:p>
            <a:pPr algn="ctr">
              <a:lnSpc>
                <a:spcPts val="11572"/>
              </a:lnSpc>
            </a:pPr>
            <a:r>
              <a:rPr lang="en-IN" sz="6000" b="1" i="1" u="sng" dirty="0">
                <a:solidFill>
                  <a:schemeClr val="accent2">
                    <a:lumMod val="75000"/>
                  </a:schemeClr>
                </a:solidFill>
                <a:latin typeface="Times New Roman" panose="02020603050405020304" pitchFamily="18" charset="0"/>
                <a:cs typeface="Times New Roman" panose="02020603050405020304" pitchFamily="18" charset="0"/>
              </a:rPr>
              <a:t>Software Requirements</a:t>
            </a:r>
            <a:endParaRPr lang="en-US" sz="6000" b="1" i="1" u="sng" dirty="0">
              <a:solidFill>
                <a:schemeClr val="accent2">
                  <a:lumMod val="75000"/>
                </a:schemeClr>
              </a:solidFill>
              <a:latin typeface="League Spartan"/>
              <a:ea typeface="League Spartan"/>
              <a:cs typeface="League Spartan"/>
              <a:sym typeface="League Spartan"/>
            </a:endParaRPr>
          </a:p>
        </p:txBody>
      </p:sp>
      <p:sp>
        <p:nvSpPr>
          <p:cNvPr id="12" name="Content Placeholder 2">
            <a:extLst>
              <a:ext uri="{FF2B5EF4-FFF2-40B4-BE49-F238E27FC236}">
                <a16:creationId xmlns:a16="http://schemas.microsoft.com/office/drawing/2014/main" id="{4A7555E1-CD83-C564-D5D9-369E28CDC545}"/>
              </a:ext>
            </a:extLst>
          </p:cNvPr>
          <p:cNvSpPr txBox="1">
            <a:spLocks/>
          </p:cNvSpPr>
          <p:nvPr/>
        </p:nvSpPr>
        <p:spPr>
          <a:xfrm>
            <a:off x="1524000" y="2324100"/>
            <a:ext cx="17068800" cy="70104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IN" b="1" dirty="0">
                <a:latin typeface="Times New Roman" panose="02020603050405020304" pitchFamily="18" charset="0"/>
                <a:cs typeface="Times New Roman" panose="02020603050405020304" pitchFamily="18" charset="0"/>
              </a:rPr>
              <a:t>Operating System:</a:t>
            </a:r>
            <a:r>
              <a:rPr lang="en-IN" dirty="0">
                <a:latin typeface="Times New Roman" panose="02020603050405020304" pitchFamily="18" charset="0"/>
                <a:cs typeface="Times New Roman" panose="02020603050405020304" pitchFamily="18" charset="0"/>
              </a:rPr>
              <a:t> Windows 10/11 or Linux (Ubuntu recommended for ML)</a:t>
            </a:r>
          </a:p>
          <a:p>
            <a:pPr algn="just"/>
            <a:r>
              <a:rPr lang="en-IN" b="1" dirty="0">
                <a:latin typeface="Times New Roman" panose="02020603050405020304" pitchFamily="18" charset="0"/>
                <a:cs typeface="Times New Roman" panose="02020603050405020304" pitchFamily="18" charset="0"/>
              </a:rPr>
              <a:t>Programming Language:</a:t>
            </a:r>
            <a:r>
              <a:rPr lang="en-IN" dirty="0">
                <a:latin typeface="Times New Roman" panose="02020603050405020304" pitchFamily="18" charset="0"/>
                <a:cs typeface="Times New Roman" panose="02020603050405020304" pitchFamily="18" charset="0"/>
              </a:rPr>
              <a:t> Python 3.x</a:t>
            </a:r>
          </a:p>
          <a:p>
            <a:pPr algn="just"/>
            <a:r>
              <a:rPr lang="en-IN" b="1" dirty="0">
                <a:latin typeface="Times New Roman" panose="02020603050405020304" pitchFamily="18" charset="0"/>
                <a:cs typeface="Times New Roman" panose="02020603050405020304" pitchFamily="18" charset="0"/>
              </a:rPr>
              <a:t>Libraries/Frameworks:</a:t>
            </a:r>
            <a:endParaRPr lang="en-IN" dirty="0">
              <a:latin typeface="Times New Roman" panose="02020603050405020304" pitchFamily="18" charset="0"/>
              <a:cs typeface="Times New Roman" panose="02020603050405020304" pitchFamily="18" charset="0"/>
            </a:endParaRPr>
          </a:p>
          <a:p>
            <a:pPr lvl="1" algn="just"/>
            <a:r>
              <a:rPr lang="en-IN" b="1" dirty="0">
                <a:latin typeface="Times New Roman" panose="02020603050405020304" pitchFamily="18" charset="0"/>
                <a:cs typeface="Times New Roman" panose="02020603050405020304" pitchFamily="18" charset="0"/>
              </a:rPr>
              <a:t>NumPy</a:t>
            </a:r>
            <a:r>
              <a:rPr lang="en-IN" dirty="0">
                <a:latin typeface="Times New Roman" panose="02020603050405020304" pitchFamily="18" charset="0"/>
                <a:cs typeface="Times New Roman" panose="02020603050405020304" pitchFamily="18" charset="0"/>
              </a:rPr>
              <a:t> – numerical operations</a:t>
            </a:r>
          </a:p>
          <a:p>
            <a:pPr lvl="1" algn="just"/>
            <a:r>
              <a:rPr lang="en-IN" b="1" dirty="0">
                <a:latin typeface="Times New Roman" panose="02020603050405020304" pitchFamily="18" charset="0"/>
                <a:cs typeface="Times New Roman" panose="02020603050405020304" pitchFamily="18" charset="0"/>
              </a:rPr>
              <a:t>Pandas</a:t>
            </a:r>
            <a:r>
              <a:rPr lang="en-IN" dirty="0">
                <a:latin typeface="Times New Roman" panose="02020603050405020304" pitchFamily="18" charset="0"/>
                <a:cs typeface="Times New Roman" panose="02020603050405020304" pitchFamily="18" charset="0"/>
              </a:rPr>
              <a:t> – data preprocessing</a:t>
            </a:r>
          </a:p>
          <a:p>
            <a:pPr lvl="1" algn="just"/>
            <a:r>
              <a:rPr lang="en-IN" b="1" dirty="0">
                <a:latin typeface="Times New Roman" panose="02020603050405020304" pitchFamily="18" charset="0"/>
                <a:cs typeface="Times New Roman" panose="02020603050405020304" pitchFamily="18" charset="0"/>
              </a:rPr>
              <a:t>Matplotlib / Seaborn</a:t>
            </a:r>
            <a:r>
              <a:rPr lang="en-IN" dirty="0">
                <a:latin typeface="Times New Roman" panose="02020603050405020304" pitchFamily="18" charset="0"/>
                <a:cs typeface="Times New Roman" panose="02020603050405020304" pitchFamily="18" charset="0"/>
              </a:rPr>
              <a:t> – data visualization</a:t>
            </a:r>
          </a:p>
          <a:p>
            <a:pPr lvl="1" algn="just"/>
            <a:r>
              <a:rPr lang="en-IN" b="1" dirty="0">
                <a:latin typeface="Times New Roman" panose="02020603050405020304" pitchFamily="18" charset="0"/>
                <a:cs typeface="Times New Roman" panose="02020603050405020304" pitchFamily="18" charset="0"/>
              </a:rPr>
              <a:t>Scikit-learn</a:t>
            </a:r>
            <a:r>
              <a:rPr lang="en-IN" dirty="0">
                <a:latin typeface="Times New Roman" panose="02020603050405020304" pitchFamily="18" charset="0"/>
                <a:cs typeface="Times New Roman" panose="02020603050405020304" pitchFamily="18" charset="0"/>
              </a:rPr>
              <a:t> – Linear Regression &amp; Random Forest</a:t>
            </a:r>
          </a:p>
          <a:p>
            <a:pPr lvl="1" algn="just"/>
            <a:r>
              <a:rPr lang="en-IN" b="1" dirty="0">
                <a:latin typeface="Times New Roman" panose="02020603050405020304" pitchFamily="18" charset="0"/>
                <a:cs typeface="Times New Roman" panose="02020603050405020304" pitchFamily="18" charset="0"/>
              </a:rPr>
              <a:t>TensorFlow / </a:t>
            </a:r>
            <a:r>
              <a:rPr lang="en-IN" b="1" dirty="0" err="1">
                <a:latin typeface="Times New Roman" panose="02020603050405020304" pitchFamily="18" charset="0"/>
                <a:cs typeface="Times New Roman" panose="02020603050405020304" pitchFamily="18" charset="0"/>
              </a:rPr>
              <a:t>Keras</a:t>
            </a:r>
            <a:r>
              <a:rPr lang="en-IN" dirty="0">
                <a:latin typeface="Times New Roman" panose="02020603050405020304" pitchFamily="18" charset="0"/>
                <a:cs typeface="Times New Roman" panose="02020603050405020304" pitchFamily="18" charset="0"/>
              </a:rPr>
              <a:t> – LSTM implementation</a:t>
            </a:r>
          </a:p>
          <a:p>
            <a:pPr algn="just"/>
            <a:r>
              <a:rPr lang="en-IN" b="1" dirty="0">
                <a:latin typeface="Times New Roman" panose="02020603050405020304" pitchFamily="18" charset="0"/>
                <a:cs typeface="Times New Roman" panose="02020603050405020304" pitchFamily="18" charset="0"/>
              </a:rPr>
              <a:t>IDE / Development Tools: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Jupyter</a:t>
            </a:r>
            <a:r>
              <a:rPr lang="en-IN" dirty="0">
                <a:latin typeface="Times New Roman" panose="02020603050405020304" pitchFamily="18" charset="0"/>
                <a:cs typeface="Times New Roman" panose="02020603050405020304" pitchFamily="18" charset="0"/>
              </a:rPr>
              <a:t> Notebook, PyCharm, or VS Code</a:t>
            </a:r>
          </a:p>
          <a:p>
            <a:pPr algn="just"/>
            <a:r>
              <a:rPr lang="en-IN" b="1" dirty="0">
                <a:latin typeface="Times New Roman" panose="02020603050405020304" pitchFamily="18" charset="0"/>
                <a:cs typeface="Times New Roman" panose="02020603050405020304" pitchFamily="18" charset="0"/>
              </a:rPr>
              <a:t>Database (Optional):</a:t>
            </a:r>
            <a:r>
              <a:rPr lang="en-IN" dirty="0">
                <a:latin typeface="Times New Roman" panose="02020603050405020304" pitchFamily="18" charset="0"/>
                <a:cs typeface="Times New Roman" panose="02020603050405020304" pitchFamily="18" charset="0"/>
              </a:rPr>
              <a:t> MySQL or SQLite for storing historical data</a:t>
            </a:r>
          </a:p>
          <a:p>
            <a:pPr algn="just"/>
            <a:r>
              <a:rPr lang="en-IN" b="1" dirty="0">
                <a:latin typeface="Times New Roman" panose="02020603050405020304" pitchFamily="18" charset="0"/>
                <a:cs typeface="Times New Roman" panose="02020603050405020304" pitchFamily="18" charset="0"/>
              </a:rPr>
              <a:t>Version Control (Optional):</a:t>
            </a:r>
            <a:r>
              <a:rPr lang="en-IN" dirty="0">
                <a:latin typeface="Times New Roman" panose="02020603050405020304" pitchFamily="18" charset="0"/>
                <a:cs typeface="Times New Roman" panose="02020603050405020304" pitchFamily="18" charset="0"/>
              </a:rPr>
              <a:t> GitHub for collaboration and backup</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5225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53" name="Freeform 5">
            <a:extLst>
              <a:ext uri="{FF2B5EF4-FFF2-40B4-BE49-F238E27FC236}">
                <a16:creationId xmlns:a16="http://schemas.microsoft.com/office/drawing/2014/main" id="{85AA2AAC-1E1B-9B00-21AB-B8ED49869086}"/>
              </a:ext>
            </a:extLst>
          </p:cNvPr>
          <p:cNvSpPr/>
          <p:nvPr/>
        </p:nvSpPr>
        <p:spPr>
          <a:xfrm>
            <a:off x="13792830" y="8261978"/>
            <a:ext cx="4069838" cy="582587"/>
          </a:xfrm>
          <a:custGeom>
            <a:avLst/>
            <a:gdLst/>
            <a:ahLst/>
            <a:cxnLst/>
            <a:rect l="l" t="t" r="r" b="b"/>
            <a:pathLst>
              <a:path w="4154377" h="582587">
                <a:moveTo>
                  <a:pt x="0" y="0"/>
                </a:moveTo>
                <a:lnTo>
                  <a:pt x="4154377" y="0"/>
                </a:lnTo>
                <a:lnTo>
                  <a:pt x="4154377" y="582587"/>
                </a:lnTo>
                <a:lnTo>
                  <a:pt x="0" y="582587"/>
                </a:lnTo>
                <a:lnTo>
                  <a:pt x="0" y="0"/>
                </a:lnTo>
                <a:close/>
              </a:path>
            </a:pathLst>
          </a:custGeom>
          <a:blipFill>
            <a:blip r:embed="rId2"/>
            <a:stretch>
              <a:fillRect t="-40835"/>
            </a:stretch>
          </a:blipFill>
        </p:spPr>
      </p:sp>
      <p:sp>
        <p:nvSpPr>
          <p:cNvPr id="52" name="Freeform 5">
            <a:extLst>
              <a:ext uri="{FF2B5EF4-FFF2-40B4-BE49-F238E27FC236}">
                <a16:creationId xmlns:a16="http://schemas.microsoft.com/office/drawing/2014/main" id="{36D188A1-5581-E3BB-4C3B-6F2E92ABA0AB}"/>
              </a:ext>
            </a:extLst>
          </p:cNvPr>
          <p:cNvSpPr/>
          <p:nvPr/>
        </p:nvSpPr>
        <p:spPr>
          <a:xfrm>
            <a:off x="9253085" y="8301719"/>
            <a:ext cx="4069838" cy="582587"/>
          </a:xfrm>
          <a:custGeom>
            <a:avLst/>
            <a:gdLst/>
            <a:ahLst/>
            <a:cxnLst/>
            <a:rect l="l" t="t" r="r" b="b"/>
            <a:pathLst>
              <a:path w="4154377" h="582587">
                <a:moveTo>
                  <a:pt x="0" y="0"/>
                </a:moveTo>
                <a:lnTo>
                  <a:pt x="4154377" y="0"/>
                </a:lnTo>
                <a:lnTo>
                  <a:pt x="4154377" y="582587"/>
                </a:lnTo>
                <a:lnTo>
                  <a:pt x="0" y="582587"/>
                </a:lnTo>
                <a:lnTo>
                  <a:pt x="0" y="0"/>
                </a:lnTo>
                <a:close/>
              </a:path>
            </a:pathLst>
          </a:custGeom>
          <a:blipFill>
            <a:blip r:embed="rId2"/>
            <a:stretch>
              <a:fillRect t="-40835"/>
            </a:stretch>
          </a:blipFill>
        </p:spPr>
      </p:sp>
      <p:sp>
        <p:nvSpPr>
          <p:cNvPr id="51" name="Freeform 5">
            <a:extLst>
              <a:ext uri="{FF2B5EF4-FFF2-40B4-BE49-F238E27FC236}">
                <a16:creationId xmlns:a16="http://schemas.microsoft.com/office/drawing/2014/main" id="{2626272A-E466-B70A-EBB8-1E161641E203}"/>
              </a:ext>
            </a:extLst>
          </p:cNvPr>
          <p:cNvSpPr/>
          <p:nvPr/>
        </p:nvSpPr>
        <p:spPr>
          <a:xfrm>
            <a:off x="4965079" y="8284983"/>
            <a:ext cx="4069838" cy="582587"/>
          </a:xfrm>
          <a:custGeom>
            <a:avLst/>
            <a:gdLst/>
            <a:ahLst/>
            <a:cxnLst/>
            <a:rect l="l" t="t" r="r" b="b"/>
            <a:pathLst>
              <a:path w="4154377" h="582587">
                <a:moveTo>
                  <a:pt x="0" y="0"/>
                </a:moveTo>
                <a:lnTo>
                  <a:pt x="4154377" y="0"/>
                </a:lnTo>
                <a:lnTo>
                  <a:pt x="4154377" y="582587"/>
                </a:lnTo>
                <a:lnTo>
                  <a:pt x="0" y="582587"/>
                </a:lnTo>
                <a:lnTo>
                  <a:pt x="0" y="0"/>
                </a:lnTo>
                <a:close/>
              </a:path>
            </a:pathLst>
          </a:custGeom>
          <a:blipFill>
            <a:blip r:embed="rId2"/>
            <a:stretch>
              <a:fillRect t="-40835"/>
            </a:stretch>
          </a:blipFill>
        </p:spPr>
      </p:sp>
      <p:grpSp>
        <p:nvGrpSpPr>
          <p:cNvPr id="2" name="Group 2"/>
          <p:cNvGrpSpPr/>
          <p:nvPr/>
        </p:nvGrpSpPr>
        <p:grpSpPr>
          <a:xfrm>
            <a:off x="247242" y="242294"/>
            <a:ext cx="17793515" cy="9802411"/>
            <a:chOff x="0" y="0"/>
            <a:chExt cx="4982580" cy="2744893"/>
          </a:xfrm>
        </p:grpSpPr>
        <p:sp>
          <p:nvSpPr>
            <p:cNvPr id="3" name="Freeform 3"/>
            <p:cNvSpPr/>
            <p:nvPr/>
          </p:nvSpPr>
          <p:spPr>
            <a:xfrm>
              <a:off x="0" y="0"/>
              <a:ext cx="4982580" cy="2744893"/>
            </a:xfrm>
            <a:custGeom>
              <a:avLst/>
              <a:gdLst/>
              <a:ahLst/>
              <a:cxnLst/>
              <a:rect l="l" t="t" r="r" b="b"/>
              <a:pathLst>
                <a:path w="4982580" h="2744893">
                  <a:moveTo>
                    <a:pt x="0" y="0"/>
                  </a:moveTo>
                  <a:lnTo>
                    <a:pt x="4982580" y="0"/>
                  </a:lnTo>
                  <a:lnTo>
                    <a:pt x="4982580" y="2744893"/>
                  </a:lnTo>
                  <a:lnTo>
                    <a:pt x="0" y="2744893"/>
                  </a:lnTo>
                  <a:close/>
                </a:path>
              </a:pathLst>
            </a:custGeom>
            <a:solidFill>
              <a:srgbClr val="000000">
                <a:alpha val="0"/>
              </a:srgbClr>
            </a:solidFill>
            <a:ln w="228600" cap="sq">
              <a:solidFill>
                <a:srgbClr val="145DA0"/>
              </a:solidFill>
              <a:prstDash val="solid"/>
              <a:miter/>
            </a:ln>
          </p:spPr>
        </p:sp>
        <p:sp>
          <p:nvSpPr>
            <p:cNvPr id="4" name="TextBox 4"/>
            <p:cNvSpPr txBox="1"/>
            <p:nvPr/>
          </p:nvSpPr>
          <p:spPr>
            <a:xfrm>
              <a:off x="0" y="-38100"/>
              <a:ext cx="4982580" cy="278299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699947" y="8351385"/>
            <a:ext cx="4069838" cy="582587"/>
          </a:xfrm>
          <a:custGeom>
            <a:avLst/>
            <a:gdLst/>
            <a:ahLst/>
            <a:cxnLst/>
            <a:rect l="l" t="t" r="r" b="b"/>
            <a:pathLst>
              <a:path w="4154377" h="582587">
                <a:moveTo>
                  <a:pt x="0" y="0"/>
                </a:moveTo>
                <a:lnTo>
                  <a:pt x="4154377" y="0"/>
                </a:lnTo>
                <a:lnTo>
                  <a:pt x="4154377" y="582587"/>
                </a:lnTo>
                <a:lnTo>
                  <a:pt x="0" y="582587"/>
                </a:lnTo>
                <a:lnTo>
                  <a:pt x="0" y="0"/>
                </a:lnTo>
                <a:close/>
              </a:path>
            </a:pathLst>
          </a:custGeom>
          <a:blipFill>
            <a:blip r:embed="rId2"/>
            <a:stretch>
              <a:fillRect t="-40835"/>
            </a:stretch>
          </a:blipFill>
        </p:spPr>
      </p:sp>
      <p:grpSp>
        <p:nvGrpSpPr>
          <p:cNvPr id="6" name="Group 6"/>
          <p:cNvGrpSpPr/>
          <p:nvPr/>
        </p:nvGrpSpPr>
        <p:grpSpPr>
          <a:xfrm>
            <a:off x="847450" y="2409102"/>
            <a:ext cx="3856713" cy="5973865"/>
            <a:chOff x="0" y="0"/>
            <a:chExt cx="1416547" cy="2013207"/>
          </a:xfrm>
        </p:grpSpPr>
        <p:sp>
          <p:nvSpPr>
            <p:cNvPr id="7" name="Freeform 7"/>
            <p:cNvSpPr/>
            <p:nvPr/>
          </p:nvSpPr>
          <p:spPr>
            <a:xfrm>
              <a:off x="0" y="0"/>
              <a:ext cx="1416547" cy="2013207"/>
            </a:xfrm>
            <a:custGeom>
              <a:avLst/>
              <a:gdLst/>
              <a:ahLst/>
              <a:cxnLst/>
              <a:rect l="l" t="t" r="r" b="b"/>
              <a:pathLst>
                <a:path w="1416547" h="201320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sp>
        <p:sp>
          <p:nvSpPr>
            <p:cNvPr id="8" name="TextBox 8"/>
            <p:cNvSpPr txBox="1"/>
            <p:nvPr/>
          </p:nvSpPr>
          <p:spPr>
            <a:xfrm>
              <a:off x="0" y="-38100"/>
              <a:ext cx="1416547" cy="205130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AutoShape 9"/>
          <p:cNvSpPr/>
          <p:nvPr/>
        </p:nvSpPr>
        <p:spPr>
          <a:xfrm>
            <a:off x="799417" y="4884507"/>
            <a:ext cx="3798184" cy="6459"/>
          </a:xfrm>
          <a:prstGeom prst="line">
            <a:avLst/>
          </a:prstGeom>
          <a:ln w="38100" cap="flat">
            <a:solidFill>
              <a:srgbClr val="145DA0"/>
            </a:solidFill>
            <a:prstDash val="solid"/>
            <a:headEnd type="none" w="sm" len="sm"/>
            <a:tailEnd type="none" w="sm" len="sm"/>
          </a:ln>
        </p:spPr>
      </p:sp>
      <p:sp>
        <p:nvSpPr>
          <p:cNvPr id="23" name="TextBox 23"/>
          <p:cNvSpPr txBox="1"/>
          <p:nvPr/>
        </p:nvSpPr>
        <p:spPr>
          <a:xfrm>
            <a:off x="5156875" y="1147974"/>
            <a:ext cx="7884841" cy="807913"/>
          </a:xfrm>
          <a:prstGeom prst="rect">
            <a:avLst/>
          </a:prstGeom>
        </p:spPr>
        <p:txBody>
          <a:bodyPr lIns="0" tIns="0" rIns="0" bIns="0" rtlCol="0" anchor="t">
            <a:spAutoFit/>
          </a:bodyPr>
          <a:lstStyle/>
          <a:p>
            <a:pPr lvl="0" algn="ctr">
              <a:lnSpc>
                <a:spcPts val="6300"/>
              </a:lnSpc>
              <a:spcBef>
                <a:spcPct val="0"/>
              </a:spcBef>
            </a:pPr>
            <a:r>
              <a:rPr lang="en-IN" sz="6600" b="1" dirty="0">
                <a:latin typeface="Times New Roman" panose="02020603050405020304" pitchFamily="18" charset="0"/>
                <a:cs typeface="Times New Roman" panose="02020603050405020304" pitchFamily="18" charset="0"/>
              </a:rPr>
              <a:t>Feasibility Analysis</a:t>
            </a:r>
            <a:endParaRPr lang="en-US" sz="6000" b="1" dirty="0">
              <a:latin typeface="Montserrat Bold"/>
              <a:ea typeface="Montserrat Bold"/>
              <a:cs typeface="Montserrat Bold"/>
              <a:sym typeface="Montserrat Bold"/>
            </a:endParaRPr>
          </a:p>
        </p:txBody>
      </p:sp>
      <p:sp>
        <p:nvSpPr>
          <p:cNvPr id="24" name="TextBox 24"/>
          <p:cNvSpPr txBox="1"/>
          <p:nvPr/>
        </p:nvSpPr>
        <p:spPr>
          <a:xfrm>
            <a:off x="953013" y="5397103"/>
            <a:ext cx="3579202" cy="2585323"/>
          </a:xfrm>
          <a:prstGeom prst="rect">
            <a:avLst/>
          </a:prstGeom>
        </p:spPr>
        <p:txBody>
          <a:bodyPr lIns="0" tIns="0" rIns="0" bIns="0" rtlCol="0" anchor="t">
            <a:spAutoFit/>
          </a:bodyPr>
          <a:lstStyle/>
          <a:p>
            <a:pPr algn="ctr"/>
            <a:r>
              <a:rPr lang="en-US" sz="2400" b="1" dirty="0">
                <a:latin typeface="Times New Roman" panose="02020603050405020304" pitchFamily="18" charset="0"/>
                <a:cs typeface="Times New Roman" panose="02020603050405020304" pitchFamily="18" charset="0"/>
              </a:rPr>
              <a:t>Uses common hardware (laptops/PCs with 4–8 GB RAM) and open-source tools like Python, Scikit-learn, and TensorFlow. No specialized equipment is needed.</a:t>
            </a:r>
            <a:endParaRPr lang="en-US" sz="2000" b="1" u="none" strike="noStrike" spc="-30" dirty="0">
              <a:solidFill>
                <a:srgbClr val="145DA0"/>
              </a:solidFill>
              <a:latin typeface="Poppins"/>
              <a:ea typeface="Poppins"/>
              <a:cs typeface="Poppins"/>
              <a:sym typeface="Poppins"/>
            </a:endParaRPr>
          </a:p>
        </p:txBody>
      </p:sp>
      <p:sp>
        <p:nvSpPr>
          <p:cNvPr id="25" name="TextBox 25"/>
          <p:cNvSpPr txBox="1"/>
          <p:nvPr/>
        </p:nvSpPr>
        <p:spPr>
          <a:xfrm>
            <a:off x="932361" y="3454051"/>
            <a:ext cx="3490991" cy="887551"/>
          </a:xfrm>
          <a:prstGeom prst="rect">
            <a:avLst/>
          </a:prstGeom>
        </p:spPr>
        <p:txBody>
          <a:bodyPr lIns="0" tIns="0" rIns="0" bIns="0" rtlCol="0" anchor="t">
            <a:spAutoFit/>
          </a:bodyPr>
          <a:lstStyle/>
          <a:p>
            <a:pPr algn="ctr">
              <a:lnSpc>
                <a:spcPts val="3406"/>
              </a:lnSpc>
              <a:spcBef>
                <a:spcPct val="0"/>
              </a:spcBef>
            </a:pPr>
            <a:r>
              <a:rPr lang="en-US" sz="3600" b="1" dirty="0">
                <a:solidFill>
                  <a:srgbClr val="0033CC"/>
                </a:solidFill>
                <a:latin typeface="Times New Roman" panose="02020603050405020304" pitchFamily="18" charset="0"/>
                <a:cs typeface="Times New Roman" panose="02020603050405020304" pitchFamily="18" charset="0"/>
              </a:rPr>
              <a:t>Technical </a:t>
            </a:r>
          </a:p>
          <a:p>
            <a:pPr algn="ctr">
              <a:lnSpc>
                <a:spcPts val="3406"/>
              </a:lnSpc>
              <a:spcBef>
                <a:spcPct val="0"/>
              </a:spcBef>
            </a:pPr>
            <a:r>
              <a:rPr lang="en-US" sz="3600" b="1" dirty="0">
                <a:solidFill>
                  <a:srgbClr val="0033CC"/>
                </a:solidFill>
                <a:latin typeface="Times New Roman" panose="02020603050405020304" pitchFamily="18" charset="0"/>
                <a:cs typeface="Times New Roman" panose="02020603050405020304" pitchFamily="18" charset="0"/>
              </a:rPr>
              <a:t>Feasibility</a:t>
            </a:r>
            <a:endParaRPr lang="en-US" sz="3200" b="1" dirty="0">
              <a:solidFill>
                <a:srgbClr val="0033CC"/>
              </a:solidFill>
              <a:latin typeface="Poppins Bold"/>
              <a:ea typeface="Poppins Bold"/>
              <a:cs typeface="Poppins Bold"/>
              <a:sym typeface="Poppins Bold"/>
            </a:endParaRPr>
          </a:p>
        </p:txBody>
      </p:sp>
      <p:grpSp>
        <p:nvGrpSpPr>
          <p:cNvPr id="42" name="Group 6">
            <a:extLst>
              <a:ext uri="{FF2B5EF4-FFF2-40B4-BE49-F238E27FC236}">
                <a16:creationId xmlns:a16="http://schemas.microsoft.com/office/drawing/2014/main" id="{BF11F587-F9D4-3FE0-EB3A-9349B7A301E2}"/>
              </a:ext>
            </a:extLst>
          </p:cNvPr>
          <p:cNvGrpSpPr/>
          <p:nvPr/>
        </p:nvGrpSpPr>
        <p:grpSpPr>
          <a:xfrm>
            <a:off x="5151399" y="2466351"/>
            <a:ext cx="3856713" cy="5973865"/>
            <a:chOff x="0" y="0"/>
            <a:chExt cx="1416547" cy="2013207"/>
          </a:xfrm>
        </p:grpSpPr>
        <p:sp>
          <p:nvSpPr>
            <p:cNvPr id="43" name="Freeform 7">
              <a:extLst>
                <a:ext uri="{FF2B5EF4-FFF2-40B4-BE49-F238E27FC236}">
                  <a16:creationId xmlns:a16="http://schemas.microsoft.com/office/drawing/2014/main" id="{797A303A-4BCC-1E3C-C1ED-955F5818F2CA}"/>
                </a:ext>
              </a:extLst>
            </p:cNvPr>
            <p:cNvSpPr/>
            <p:nvPr/>
          </p:nvSpPr>
          <p:spPr>
            <a:xfrm>
              <a:off x="0" y="0"/>
              <a:ext cx="1416547" cy="2013207"/>
            </a:xfrm>
            <a:custGeom>
              <a:avLst/>
              <a:gdLst/>
              <a:ahLst/>
              <a:cxnLst/>
              <a:rect l="l" t="t" r="r" b="b"/>
              <a:pathLst>
                <a:path w="1416547" h="201320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sp>
        <p:sp>
          <p:nvSpPr>
            <p:cNvPr id="44" name="TextBox 8">
              <a:extLst>
                <a:ext uri="{FF2B5EF4-FFF2-40B4-BE49-F238E27FC236}">
                  <a16:creationId xmlns:a16="http://schemas.microsoft.com/office/drawing/2014/main" id="{4ECBC9C3-9DB0-89DE-506D-5FE2C55847EA}"/>
                </a:ext>
              </a:extLst>
            </p:cNvPr>
            <p:cNvSpPr txBox="1"/>
            <p:nvPr/>
          </p:nvSpPr>
          <p:spPr>
            <a:xfrm>
              <a:off x="0" y="-38100"/>
              <a:ext cx="1416547" cy="2051307"/>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45" name="Group 6">
            <a:extLst>
              <a:ext uri="{FF2B5EF4-FFF2-40B4-BE49-F238E27FC236}">
                <a16:creationId xmlns:a16="http://schemas.microsoft.com/office/drawing/2014/main" id="{720C5DB9-DF59-B943-E2D4-ED0145F959CE}"/>
              </a:ext>
            </a:extLst>
          </p:cNvPr>
          <p:cNvGrpSpPr/>
          <p:nvPr/>
        </p:nvGrpSpPr>
        <p:grpSpPr>
          <a:xfrm>
            <a:off x="9474735" y="2423693"/>
            <a:ext cx="3856713" cy="5973865"/>
            <a:chOff x="0" y="0"/>
            <a:chExt cx="1416547" cy="2013207"/>
          </a:xfrm>
        </p:grpSpPr>
        <p:sp>
          <p:nvSpPr>
            <p:cNvPr id="46" name="Freeform 7">
              <a:extLst>
                <a:ext uri="{FF2B5EF4-FFF2-40B4-BE49-F238E27FC236}">
                  <a16:creationId xmlns:a16="http://schemas.microsoft.com/office/drawing/2014/main" id="{C785673E-E2CC-F6A7-0F41-3B673AC4DB33}"/>
                </a:ext>
              </a:extLst>
            </p:cNvPr>
            <p:cNvSpPr/>
            <p:nvPr/>
          </p:nvSpPr>
          <p:spPr>
            <a:xfrm>
              <a:off x="0" y="0"/>
              <a:ext cx="1416547" cy="2013207"/>
            </a:xfrm>
            <a:custGeom>
              <a:avLst/>
              <a:gdLst/>
              <a:ahLst/>
              <a:cxnLst/>
              <a:rect l="l" t="t" r="r" b="b"/>
              <a:pathLst>
                <a:path w="1416547" h="201320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sp>
        <p:sp>
          <p:nvSpPr>
            <p:cNvPr id="47" name="TextBox 8">
              <a:extLst>
                <a:ext uri="{FF2B5EF4-FFF2-40B4-BE49-F238E27FC236}">
                  <a16:creationId xmlns:a16="http://schemas.microsoft.com/office/drawing/2014/main" id="{70692BF0-1678-93F8-729E-37796D2DFDB5}"/>
                </a:ext>
              </a:extLst>
            </p:cNvPr>
            <p:cNvSpPr txBox="1"/>
            <p:nvPr/>
          </p:nvSpPr>
          <p:spPr>
            <a:xfrm>
              <a:off x="0" y="-38100"/>
              <a:ext cx="1416547" cy="2051307"/>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48" name="Group 6">
            <a:extLst>
              <a:ext uri="{FF2B5EF4-FFF2-40B4-BE49-F238E27FC236}">
                <a16:creationId xmlns:a16="http://schemas.microsoft.com/office/drawing/2014/main" id="{75024ECA-C28D-1588-F025-F60AE792DB03}"/>
              </a:ext>
            </a:extLst>
          </p:cNvPr>
          <p:cNvGrpSpPr/>
          <p:nvPr/>
        </p:nvGrpSpPr>
        <p:grpSpPr>
          <a:xfrm>
            <a:off x="13792830" y="2466351"/>
            <a:ext cx="3856713" cy="5973865"/>
            <a:chOff x="0" y="0"/>
            <a:chExt cx="1416547" cy="2013207"/>
          </a:xfrm>
        </p:grpSpPr>
        <p:sp>
          <p:nvSpPr>
            <p:cNvPr id="49" name="Freeform 7">
              <a:extLst>
                <a:ext uri="{FF2B5EF4-FFF2-40B4-BE49-F238E27FC236}">
                  <a16:creationId xmlns:a16="http://schemas.microsoft.com/office/drawing/2014/main" id="{0FB6322B-FEED-0F84-199B-ECD19D313196}"/>
                </a:ext>
              </a:extLst>
            </p:cNvPr>
            <p:cNvSpPr/>
            <p:nvPr/>
          </p:nvSpPr>
          <p:spPr>
            <a:xfrm>
              <a:off x="0" y="0"/>
              <a:ext cx="1416547" cy="2013207"/>
            </a:xfrm>
            <a:custGeom>
              <a:avLst/>
              <a:gdLst/>
              <a:ahLst/>
              <a:cxnLst/>
              <a:rect l="l" t="t" r="r" b="b"/>
              <a:pathLst>
                <a:path w="1416547" h="2013207">
                  <a:moveTo>
                    <a:pt x="46046" y="0"/>
                  </a:moveTo>
                  <a:lnTo>
                    <a:pt x="1370502" y="0"/>
                  </a:lnTo>
                  <a:cubicBezTo>
                    <a:pt x="1382714" y="0"/>
                    <a:pt x="1394426" y="4851"/>
                    <a:pt x="1403061" y="13487"/>
                  </a:cubicBezTo>
                  <a:cubicBezTo>
                    <a:pt x="1411696" y="22122"/>
                    <a:pt x="1416547" y="33834"/>
                    <a:pt x="1416547" y="46046"/>
                  </a:cubicBezTo>
                  <a:lnTo>
                    <a:pt x="1416547" y="1967161"/>
                  </a:lnTo>
                  <a:cubicBezTo>
                    <a:pt x="1416547" y="1979373"/>
                    <a:pt x="1411696" y="1991085"/>
                    <a:pt x="1403061" y="1999720"/>
                  </a:cubicBezTo>
                  <a:cubicBezTo>
                    <a:pt x="1394426" y="2008356"/>
                    <a:pt x="1382714" y="2013207"/>
                    <a:pt x="1370502" y="2013207"/>
                  </a:cubicBezTo>
                  <a:lnTo>
                    <a:pt x="46046" y="2013207"/>
                  </a:lnTo>
                  <a:cubicBezTo>
                    <a:pt x="33834" y="2013207"/>
                    <a:pt x="22122" y="2008356"/>
                    <a:pt x="13487" y="1999720"/>
                  </a:cubicBezTo>
                  <a:cubicBezTo>
                    <a:pt x="4851" y="1991085"/>
                    <a:pt x="0" y="1979373"/>
                    <a:pt x="0" y="196716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sp>
        <p:sp>
          <p:nvSpPr>
            <p:cNvPr id="50" name="TextBox 8">
              <a:extLst>
                <a:ext uri="{FF2B5EF4-FFF2-40B4-BE49-F238E27FC236}">
                  <a16:creationId xmlns:a16="http://schemas.microsoft.com/office/drawing/2014/main" id="{6807B069-73A2-D37B-1046-14ABE4D64709}"/>
                </a:ext>
              </a:extLst>
            </p:cNvPr>
            <p:cNvSpPr txBox="1"/>
            <p:nvPr/>
          </p:nvSpPr>
          <p:spPr>
            <a:xfrm>
              <a:off x="0" y="-38100"/>
              <a:ext cx="1416547" cy="205130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4" name="AutoShape 9">
            <a:extLst>
              <a:ext uri="{FF2B5EF4-FFF2-40B4-BE49-F238E27FC236}">
                <a16:creationId xmlns:a16="http://schemas.microsoft.com/office/drawing/2014/main" id="{9C0B2F05-6F56-332F-CB7D-56862EF1FF1B}"/>
              </a:ext>
            </a:extLst>
          </p:cNvPr>
          <p:cNvSpPr/>
          <p:nvPr/>
        </p:nvSpPr>
        <p:spPr>
          <a:xfrm>
            <a:off x="5202093" y="4890966"/>
            <a:ext cx="3798184" cy="6459"/>
          </a:xfrm>
          <a:prstGeom prst="line">
            <a:avLst/>
          </a:prstGeom>
          <a:ln w="38100" cap="flat">
            <a:solidFill>
              <a:srgbClr val="145DA0"/>
            </a:solidFill>
            <a:prstDash val="solid"/>
            <a:headEnd type="none" w="sm" len="sm"/>
            <a:tailEnd type="none" w="sm" len="sm"/>
          </a:ln>
        </p:spPr>
      </p:sp>
      <p:sp>
        <p:nvSpPr>
          <p:cNvPr id="55" name="TextBox 24">
            <a:extLst>
              <a:ext uri="{FF2B5EF4-FFF2-40B4-BE49-F238E27FC236}">
                <a16:creationId xmlns:a16="http://schemas.microsoft.com/office/drawing/2014/main" id="{ECA546E8-E67F-9A2A-A30C-1F7FCB88E9C0}"/>
              </a:ext>
            </a:extLst>
          </p:cNvPr>
          <p:cNvSpPr txBox="1"/>
          <p:nvPr/>
        </p:nvSpPr>
        <p:spPr>
          <a:xfrm>
            <a:off x="5311584" y="5369770"/>
            <a:ext cx="3579202" cy="2215991"/>
          </a:xfrm>
          <a:prstGeom prst="rect">
            <a:avLst/>
          </a:prstGeom>
        </p:spPr>
        <p:txBody>
          <a:bodyPr lIns="0" tIns="0" rIns="0" bIns="0" rtlCol="0" anchor="t">
            <a:spAutoFit/>
          </a:bodyPr>
          <a:lstStyle/>
          <a:p>
            <a:pPr algn="ctr"/>
            <a:r>
              <a:rPr lang="en-US" sz="2400" b="1" dirty="0">
                <a:latin typeface="Times New Roman" panose="02020603050405020304" pitchFamily="18" charset="0"/>
                <a:cs typeface="Times New Roman" panose="02020603050405020304" pitchFamily="18" charset="0"/>
              </a:rPr>
              <a:t>Primarily relies on free software libraries, making it cost-effective. Reduces food wastage and shortages, saving operational costs.</a:t>
            </a:r>
            <a:endParaRPr lang="en-US" sz="2000" b="1" u="none" strike="noStrike" spc="-30" dirty="0">
              <a:solidFill>
                <a:srgbClr val="145DA0"/>
              </a:solidFill>
              <a:latin typeface="Poppins"/>
              <a:ea typeface="Poppins"/>
              <a:cs typeface="Poppins"/>
              <a:sym typeface="Poppins"/>
            </a:endParaRPr>
          </a:p>
        </p:txBody>
      </p:sp>
      <p:sp>
        <p:nvSpPr>
          <p:cNvPr id="56" name="AutoShape 9">
            <a:extLst>
              <a:ext uri="{FF2B5EF4-FFF2-40B4-BE49-F238E27FC236}">
                <a16:creationId xmlns:a16="http://schemas.microsoft.com/office/drawing/2014/main" id="{9D22666C-0062-66E9-CAAD-2AAE7A31A4E3}"/>
              </a:ext>
            </a:extLst>
          </p:cNvPr>
          <p:cNvSpPr/>
          <p:nvPr/>
        </p:nvSpPr>
        <p:spPr>
          <a:xfrm>
            <a:off x="9510493" y="4897425"/>
            <a:ext cx="3798184" cy="6459"/>
          </a:xfrm>
          <a:prstGeom prst="line">
            <a:avLst/>
          </a:prstGeom>
          <a:ln w="38100" cap="flat">
            <a:solidFill>
              <a:srgbClr val="145DA0"/>
            </a:solidFill>
            <a:prstDash val="solid"/>
            <a:headEnd type="none" w="sm" len="sm"/>
            <a:tailEnd type="none" w="sm" len="sm"/>
          </a:ln>
        </p:spPr>
      </p:sp>
      <p:sp>
        <p:nvSpPr>
          <p:cNvPr id="57" name="TextBox 24">
            <a:extLst>
              <a:ext uri="{FF2B5EF4-FFF2-40B4-BE49-F238E27FC236}">
                <a16:creationId xmlns:a16="http://schemas.microsoft.com/office/drawing/2014/main" id="{BB103034-58F5-1BAC-FD73-4E72C2B11BAA}"/>
              </a:ext>
            </a:extLst>
          </p:cNvPr>
          <p:cNvSpPr txBox="1"/>
          <p:nvPr/>
        </p:nvSpPr>
        <p:spPr>
          <a:xfrm>
            <a:off x="9613490" y="5453283"/>
            <a:ext cx="3579202" cy="1846659"/>
          </a:xfrm>
          <a:prstGeom prst="rect">
            <a:avLst/>
          </a:prstGeom>
        </p:spPr>
        <p:txBody>
          <a:bodyPr lIns="0" tIns="0" rIns="0" bIns="0" rtlCol="0" anchor="t">
            <a:spAutoFit/>
          </a:bodyPr>
          <a:lstStyle/>
          <a:p>
            <a:pPr algn="ctr"/>
            <a:r>
              <a:rPr lang="en-US" sz="2400" b="1" dirty="0">
                <a:latin typeface="Times New Roman" panose="02020603050405020304" pitchFamily="18" charset="0"/>
                <a:cs typeface="Times New Roman" panose="02020603050405020304" pitchFamily="18" charset="0"/>
              </a:rPr>
              <a:t>Easy-to-use interface requires minimal training and integrates smoothly into existing canteen workflows.</a:t>
            </a:r>
          </a:p>
        </p:txBody>
      </p:sp>
      <p:sp>
        <p:nvSpPr>
          <p:cNvPr id="58" name="AutoShape 9">
            <a:extLst>
              <a:ext uri="{FF2B5EF4-FFF2-40B4-BE49-F238E27FC236}">
                <a16:creationId xmlns:a16="http://schemas.microsoft.com/office/drawing/2014/main" id="{914A7D22-D7EF-B6D9-E06F-0A66FC27D25F}"/>
              </a:ext>
            </a:extLst>
          </p:cNvPr>
          <p:cNvSpPr/>
          <p:nvPr/>
        </p:nvSpPr>
        <p:spPr>
          <a:xfrm>
            <a:off x="13883860" y="4903884"/>
            <a:ext cx="3798184" cy="6459"/>
          </a:xfrm>
          <a:prstGeom prst="line">
            <a:avLst/>
          </a:prstGeom>
          <a:ln w="38100" cap="flat">
            <a:solidFill>
              <a:srgbClr val="145DA0"/>
            </a:solidFill>
            <a:prstDash val="solid"/>
            <a:headEnd type="none" w="sm" len="sm"/>
            <a:tailEnd type="none" w="sm" len="sm"/>
          </a:ln>
        </p:spPr>
      </p:sp>
      <p:sp>
        <p:nvSpPr>
          <p:cNvPr id="59" name="TextBox 24">
            <a:extLst>
              <a:ext uri="{FF2B5EF4-FFF2-40B4-BE49-F238E27FC236}">
                <a16:creationId xmlns:a16="http://schemas.microsoft.com/office/drawing/2014/main" id="{411DF488-F25F-8D53-3B81-2EAEB151EB8A}"/>
              </a:ext>
            </a:extLst>
          </p:cNvPr>
          <p:cNvSpPr txBox="1"/>
          <p:nvPr/>
        </p:nvSpPr>
        <p:spPr>
          <a:xfrm>
            <a:off x="13931585" y="5425597"/>
            <a:ext cx="3579202" cy="1846659"/>
          </a:xfrm>
          <a:prstGeom prst="rect">
            <a:avLst/>
          </a:prstGeom>
        </p:spPr>
        <p:txBody>
          <a:bodyPr lIns="0" tIns="0" rIns="0" bIns="0" rtlCol="0" anchor="t">
            <a:spAutoFit/>
          </a:bodyPr>
          <a:lstStyle/>
          <a:p>
            <a:pPr algn="ctr"/>
            <a:r>
              <a:rPr lang="en-US" sz="2400" b="1" dirty="0">
                <a:latin typeface="Times New Roman" panose="02020603050405020304" pitchFamily="18" charset="0"/>
                <a:cs typeface="Times New Roman" panose="02020603050405020304" pitchFamily="18" charset="0"/>
              </a:rPr>
              <a:t>Promotes sustainability by reducing food waste, ensuring fair distribution, and encouraging eco-friendly practices.</a:t>
            </a:r>
            <a:endParaRPr lang="en-US" sz="2000" b="1" u="none" strike="noStrike" spc="-30" dirty="0">
              <a:solidFill>
                <a:srgbClr val="145DA0"/>
              </a:solidFill>
              <a:latin typeface="Poppins"/>
              <a:ea typeface="Poppins"/>
              <a:cs typeface="Poppins"/>
              <a:sym typeface="Poppins"/>
            </a:endParaRPr>
          </a:p>
        </p:txBody>
      </p:sp>
      <p:sp>
        <p:nvSpPr>
          <p:cNvPr id="60" name="TextBox 25">
            <a:extLst>
              <a:ext uri="{FF2B5EF4-FFF2-40B4-BE49-F238E27FC236}">
                <a16:creationId xmlns:a16="http://schemas.microsoft.com/office/drawing/2014/main" id="{3929857A-F4D2-14B9-1751-CD1DACD3A962}"/>
              </a:ext>
            </a:extLst>
          </p:cNvPr>
          <p:cNvSpPr txBox="1"/>
          <p:nvPr/>
        </p:nvSpPr>
        <p:spPr>
          <a:xfrm>
            <a:off x="5254502" y="3450134"/>
            <a:ext cx="3490991" cy="887551"/>
          </a:xfrm>
          <a:prstGeom prst="rect">
            <a:avLst/>
          </a:prstGeom>
        </p:spPr>
        <p:txBody>
          <a:bodyPr lIns="0" tIns="0" rIns="0" bIns="0" rtlCol="0" anchor="t">
            <a:spAutoFit/>
          </a:bodyPr>
          <a:lstStyle/>
          <a:p>
            <a:pPr algn="ctr">
              <a:lnSpc>
                <a:spcPts val="3406"/>
              </a:lnSpc>
              <a:spcBef>
                <a:spcPct val="0"/>
              </a:spcBef>
            </a:pPr>
            <a:r>
              <a:rPr lang="en-US" sz="3600" b="1" dirty="0">
                <a:solidFill>
                  <a:srgbClr val="0033CC"/>
                </a:solidFill>
                <a:latin typeface="Times New Roman" panose="02020603050405020304" pitchFamily="18" charset="0"/>
                <a:cs typeface="Times New Roman" panose="02020603050405020304" pitchFamily="18" charset="0"/>
              </a:rPr>
              <a:t>Economic Feasibility</a:t>
            </a:r>
            <a:endParaRPr lang="en-US" sz="3200" b="1" dirty="0">
              <a:solidFill>
                <a:srgbClr val="0033CC"/>
              </a:solidFill>
              <a:latin typeface="Poppins Bold"/>
              <a:ea typeface="Poppins Bold"/>
              <a:cs typeface="Poppins Bold"/>
              <a:sym typeface="Poppins Bold"/>
            </a:endParaRPr>
          </a:p>
        </p:txBody>
      </p:sp>
      <p:sp>
        <p:nvSpPr>
          <p:cNvPr id="61" name="TextBox 25">
            <a:extLst>
              <a:ext uri="{FF2B5EF4-FFF2-40B4-BE49-F238E27FC236}">
                <a16:creationId xmlns:a16="http://schemas.microsoft.com/office/drawing/2014/main" id="{86901465-AC73-CE05-920C-CAF79CDB50DB}"/>
              </a:ext>
            </a:extLst>
          </p:cNvPr>
          <p:cNvSpPr txBox="1"/>
          <p:nvPr/>
        </p:nvSpPr>
        <p:spPr>
          <a:xfrm>
            <a:off x="9657595" y="3388724"/>
            <a:ext cx="3490991" cy="887551"/>
          </a:xfrm>
          <a:prstGeom prst="rect">
            <a:avLst/>
          </a:prstGeom>
        </p:spPr>
        <p:txBody>
          <a:bodyPr lIns="0" tIns="0" rIns="0" bIns="0" rtlCol="0" anchor="t">
            <a:spAutoFit/>
          </a:bodyPr>
          <a:lstStyle/>
          <a:p>
            <a:pPr algn="ctr">
              <a:lnSpc>
                <a:spcPts val="3406"/>
              </a:lnSpc>
              <a:spcBef>
                <a:spcPct val="0"/>
              </a:spcBef>
            </a:pPr>
            <a:r>
              <a:rPr lang="en-US" sz="3600" b="1" dirty="0">
                <a:solidFill>
                  <a:srgbClr val="0033CC"/>
                </a:solidFill>
                <a:latin typeface="Times New Roman" panose="02020603050405020304" pitchFamily="18" charset="0"/>
                <a:cs typeface="Times New Roman" panose="02020603050405020304" pitchFamily="18" charset="0"/>
              </a:rPr>
              <a:t>Operational Feasibility</a:t>
            </a:r>
            <a:endParaRPr lang="en-US" sz="3200" b="1" dirty="0">
              <a:solidFill>
                <a:srgbClr val="0033CC"/>
              </a:solidFill>
              <a:latin typeface="Poppins Bold"/>
              <a:ea typeface="Poppins Bold"/>
              <a:cs typeface="Poppins Bold"/>
              <a:sym typeface="Poppins Bold"/>
            </a:endParaRPr>
          </a:p>
        </p:txBody>
      </p:sp>
      <p:sp>
        <p:nvSpPr>
          <p:cNvPr id="62" name="TextBox 25">
            <a:extLst>
              <a:ext uri="{FF2B5EF4-FFF2-40B4-BE49-F238E27FC236}">
                <a16:creationId xmlns:a16="http://schemas.microsoft.com/office/drawing/2014/main" id="{AA81B13D-E1E4-7C64-D621-7C7CC576DDA0}"/>
              </a:ext>
            </a:extLst>
          </p:cNvPr>
          <p:cNvSpPr txBox="1"/>
          <p:nvPr/>
        </p:nvSpPr>
        <p:spPr>
          <a:xfrm>
            <a:off x="14082253" y="3364585"/>
            <a:ext cx="3490991" cy="887551"/>
          </a:xfrm>
          <a:prstGeom prst="rect">
            <a:avLst/>
          </a:prstGeom>
        </p:spPr>
        <p:txBody>
          <a:bodyPr lIns="0" tIns="0" rIns="0" bIns="0" rtlCol="0" anchor="t">
            <a:spAutoFit/>
          </a:bodyPr>
          <a:lstStyle/>
          <a:p>
            <a:pPr algn="ctr">
              <a:lnSpc>
                <a:spcPts val="3406"/>
              </a:lnSpc>
              <a:spcBef>
                <a:spcPct val="0"/>
              </a:spcBef>
            </a:pPr>
            <a:r>
              <a:rPr lang="en-US" sz="3600" b="1" dirty="0">
                <a:solidFill>
                  <a:srgbClr val="0033CC"/>
                </a:solidFill>
                <a:latin typeface="Times New Roman" panose="02020603050405020304" pitchFamily="18" charset="0"/>
                <a:cs typeface="Times New Roman" panose="02020603050405020304" pitchFamily="18" charset="0"/>
              </a:rPr>
              <a:t>Social</a:t>
            </a:r>
          </a:p>
          <a:p>
            <a:pPr algn="ctr">
              <a:lnSpc>
                <a:spcPts val="3406"/>
              </a:lnSpc>
              <a:spcBef>
                <a:spcPct val="0"/>
              </a:spcBef>
            </a:pPr>
            <a:r>
              <a:rPr lang="en-US" sz="3600" b="1" dirty="0">
                <a:solidFill>
                  <a:srgbClr val="0033CC"/>
                </a:solidFill>
                <a:latin typeface="Times New Roman" panose="02020603050405020304" pitchFamily="18" charset="0"/>
                <a:cs typeface="Times New Roman" panose="02020603050405020304" pitchFamily="18" charset="0"/>
              </a:rPr>
              <a:t> Feasibility</a:t>
            </a:r>
            <a:endParaRPr lang="en-US" sz="3200" b="1" dirty="0">
              <a:solidFill>
                <a:srgbClr val="0033CC"/>
              </a:solidFill>
              <a:latin typeface="Poppins Bold"/>
              <a:ea typeface="Poppins Bold"/>
              <a:cs typeface="Poppins Bold"/>
              <a:sym typeface="Poppins 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
        <p:cNvGrpSpPr/>
        <p:nvPr/>
      </p:nvGrpSpPr>
      <p:grpSpPr>
        <a:xfrm>
          <a:off x="0" y="0"/>
          <a:ext cx="0" cy="0"/>
          <a:chOff x="0" y="0"/>
          <a:chExt cx="0" cy="0"/>
        </a:xfrm>
      </p:grpSpPr>
      <p:grpSp>
        <p:nvGrpSpPr>
          <p:cNvPr id="14" name="Group 14"/>
          <p:cNvGrpSpPr/>
          <p:nvPr/>
        </p:nvGrpSpPr>
        <p:grpSpPr>
          <a:xfrm>
            <a:off x="-2123887" y="-2346523"/>
            <a:ext cx="4693046" cy="4693046"/>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5573718" y="7940477"/>
            <a:ext cx="4693046" cy="4693046"/>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p:cNvSpPr txBox="1"/>
          <p:nvPr/>
        </p:nvSpPr>
        <p:spPr>
          <a:xfrm>
            <a:off x="5417025" y="858210"/>
            <a:ext cx="7453950" cy="923330"/>
          </a:xfrm>
          <a:prstGeom prst="rect">
            <a:avLst/>
          </a:prstGeom>
        </p:spPr>
        <p:txBody>
          <a:bodyPr lIns="0" tIns="0" rIns="0" bIns="0" rtlCol="0" anchor="t">
            <a:spAutoFit/>
          </a:bodyPr>
          <a:lstStyle/>
          <a:p>
            <a:pPr lvl="0" algn="ctr">
              <a:lnSpc>
                <a:spcPts val="7151"/>
              </a:lnSpc>
              <a:spcBef>
                <a:spcPct val="0"/>
              </a:spcBef>
            </a:pPr>
            <a:r>
              <a:rPr lang="en-IN" sz="6600" b="1" dirty="0">
                <a:solidFill>
                  <a:schemeClr val="bg1"/>
                </a:solidFill>
                <a:latin typeface="Times New Roman" panose="02020603050405020304" pitchFamily="18" charset="0"/>
                <a:cs typeface="Times New Roman" panose="02020603050405020304" pitchFamily="18" charset="0"/>
              </a:rPr>
              <a:t>Module Descriptions</a:t>
            </a:r>
            <a:endParaRPr lang="en-US" sz="6000" b="1" dirty="0">
              <a:solidFill>
                <a:schemeClr val="bg1"/>
              </a:solidFill>
              <a:latin typeface="Montserrat Bold"/>
              <a:ea typeface="Montserrat Bold"/>
              <a:cs typeface="Montserrat Bold"/>
              <a:sym typeface="Montserrat Bold"/>
            </a:endParaRPr>
          </a:p>
        </p:txBody>
      </p:sp>
      <p:sp>
        <p:nvSpPr>
          <p:cNvPr id="33" name="Freeform 6">
            <a:extLst>
              <a:ext uri="{FF2B5EF4-FFF2-40B4-BE49-F238E27FC236}">
                <a16:creationId xmlns:a16="http://schemas.microsoft.com/office/drawing/2014/main" id="{D074B573-ABEB-2D41-7784-BEDAA4BDE8FC}"/>
              </a:ext>
            </a:extLst>
          </p:cNvPr>
          <p:cNvSpPr/>
          <p:nvPr/>
        </p:nvSpPr>
        <p:spPr>
          <a:xfrm>
            <a:off x="8166641" y="2290311"/>
            <a:ext cx="9753600" cy="2433089"/>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sp>
      <p:sp>
        <p:nvSpPr>
          <p:cNvPr id="34" name="Freeform 6">
            <a:extLst>
              <a:ext uri="{FF2B5EF4-FFF2-40B4-BE49-F238E27FC236}">
                <a16:creationId xmlns:a16="http://schemas.microsoft.com/office/drawing/2014/main" id="{9F37698A-9C25-A252-C392-DA2E6230D5CE}"/>
              </a:ext>
            </a:extLst>
          </p:cNvPr>
          <p:cNvSpPr/>
          <p:nvPr/>
        </p:nvSpPr>
        <p:spPr>
          <a:xfrm>
            <a:off x="258886" y="5067300"/>
            <a:ext cx="9753600" cy="2209800"/>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sp>
      <p:sp>
        <p:nvSpPr>
          <p:cNvPr id="35" name="Freeform 6">
            <a:extLst>
              <a:ext uri="{FF2B5EF4-FFF2-40B4-BE49-F238E27FC236}">
                <a16:creationId xmlns:a16="http://schemas.microsoft.com/office/drawing/2014/main" id="{C5CAABB4-1D30-F81D-4D6F-531BFE24DDBE}"/>
              </a:ext>
            </a:extLst>
          </p:cNvPr>
          <p:cNvSpPr/>
          <p:nvPr/>
        </p:nvSpPr>
        <p:spPr>
          <a:xfrm>
            <a:off x="8166641" y="7720491"/>
            <a:ext cx="9753600" cy="2246768"/>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sp>
      <p:sp>
        <p:nvSpPr>
          <p:cNvPr id="37" name="TextBox 36">
            <a:extLst>
              <a:ext uri="{FF2B5EF4-FFF2-40B4-BE49-F238E27FC236}">
                <a16:creationId xmlns:a16="http://schemas.microsoft.com/office/drawing/2014/main" id="{191E792B-74A3-FCDB-3898-9469890F966F}"/>
              </a:ext>
            </a:extLst>
          </p:cNvPr>
          <p:cNvSpPr txBox="1"/>
          <p:nvPr/>
        </p:nvSpPr>
        <p:spPr>
          <a:xfrm>
            <a:off x="1257596" y="3101179"/>
            <a:ext cx="6640496" cy="707886"/>
          </a:xfrm>
          <a:prstGeom prst="rect">
            <a:avLst/>
          </a:prstGeom>
          <a:noFill/>
        </p:spPr>
        <p:txBody>
          <a:bodyPr wrap="square">
            <a:sp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Data Collection Module</a:t>
            </a:r>
            <a:endParaRPr lang="en-IN" sz="4000" dirty="0">
              <a:solidFill>
                <a:schemeClr val="bg1"/>
              </a:solidFill>
            </a:endParaRPr>
          </a:p>
        </p:txBody>
      </p:sp>
      <p:sp>
        <p:nvSpPr>
          <p:cNvPr id="38" name="TextBox 37">
            <a:extLst>
              <a:ext uri="{FF2B5EF4-FFF2-40B4-BE49-F238E27FC236}">
                <a16:creationId xmlns:a16="http://schemas.microsoft.com/office/drawing/2014/main" id="{E4DFF872-5F14-2BBA-383D-0FD0FD9C0A67}"/>
              </a:ext>
            </a:extLst>
          </p:cNvPr>
          <p:cNvSpPr txBox="1"/>
          <p:nvPr/>
        </p:nvSpPr>
        <p:spPr>
          <a:xfrm>
            <a:off x="8703740" y="2380558"/>
            <a:ext cx="9220200" cy="2246769"/>
          </a:xfrm>
          <a:prstGeom prst="rect">
            <a:avLst/>
          </a:prstGeom>
          <a:noFill/>
        </p:spPr>
        <p:txBody>
          <a:bodyPr wrap="square" rtlCol="0">
            <a:spAutoFit/>
          </a:bodyPr>
          <a:lstStyle/>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Gathers historical data including daily sales, student attendance, weekdays, seasonal trends, weather, and special events.</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Ensures sufficient and relevant data is available for model training.</a:t>
            </a:r>
          </a:p>
        </p:txBody>
      </p:sp>
      <p:sp>
        <p:nvSpPr>
          <p:cNvPr id="39" name="TextBox 38">
            <a:extLst>
              <a:ext uri="{FF2B5EF4-FFF2-40B4-BE49-F238E27FC236}">
                <a16:creationId xmlns:a16="http://schemas.microsoft.com/office/drawing/2014/main" id="{39D762D4-7517-33F4-E91F-23830F809397}"/>
              </a:ext>
            </a:extLst>
          </p:cNvPr>
          <p:cNvSpPr txBox="1"/>
          <p:nvPr/>
        </p:nvSpPr>
        <p:spPr>
          <a:xfrm>
            <a:off x="10591800" y="5780531"/>
            <a:ext cx="6640496" cy="707886"/>
          </a:xfrm>
          <a:prstGeom prst="rect">
            <a:avLst/>
          </a:prstGeom>
          <a:noFill/>
        </p:spPr>
        <p:txBody>
          <a:bodyPr wrap="square">
            <a:sp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Data Preprocessing Module</a:t>
            </a:r>
            <a:endParaRPr lang="en-IN" sz="4000" dirty="0">
              <a:solidFill>
                <a:schemeClr val="bg1"/>
              </a:solidFill>
            </a:endParaRPr>
          </a:p>
        </p:txBody>
      </p:sp>
      <p:sp>
        <p:nvSpPr>
          <p:cNvPr id="40" name="TextBox 39">
            <a:extLst>
              <a:ext uri="{FF2B5EF4-FFF2-40B4-BE49-F238E27FC236}">
                <a16:creationId xmlns:a16="http://schemas.microsoft.com/office/drawing/2014/main" id="{C18DE469-7F00-40DB-6176-4BE53829B3A5}"/>
              </a:ext>
            </a:extLst>
          </p:cNvPr>
          <p:cNvSpPr txBox="1"/>
          <p:nvPr/>
        </p:nvSpPr>
        <p:spPr>
          <a:xfrm>
            <a:off x="495021" y="8070420"/>
            <a:ext cx="7219810" cy="1323439"/>
          </a:xfrm>
          <a:prstGeom prst="rect">
            <a:avLst/>
          </a:prstGeom>
          <a:noFill/>
        </p:spPr>
        <p:txBody>
          <a:bodyPr wrap="square">
            <a:sp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Feature Selection &amp; Extraction Module</a:t>
            </a:r>
            <a:endParaRPr lang="en-IN" sz="4000" dirty="0">
              <a:solidFill>
                <a:schemeClr val="bg1"/>
              </a:solidFill>
            </a:endParaRPr>
          </a:p>
        </p:txBody>
      </p:sp>
      <p:sp>
        <p:nvSpPr>
          <p:cNvPr id="41" name="TextBox 40">
            <a:extLst>
              <a:ext uri="{FF2B5EF4-FFF2-40B4-BE49-F238E27FC236}">
                <a16:creationId xmlns:a16="http://schemas.microsoft.com/office/drawing/2014/main" id="{96A692EF-9208-9C67-C063-298779C117E7}"/>
              </a:ext>
            </a:extLst>
          </p:cNvPr>
          <p:cNvSpPr txBox="1"/>
          <p:nvPr/>
        </p:nvSpPr>
        <p:spPr>
          <a:xfrm>
            <a:off x="685800" y="5226533"/>
            <a:ext cx="9220200" cy="1815882"/>
          </a:xfrm>
          <a:prstGeom prst="rect">
            <a:avLst/>
          </a:prstGeom>
          <a:noFill/>
        </p:spPr>
        <p:txBody>
          <a:bodyPr wrap="square" rtlCol="0">
            <a:spAutoFit/>
          </a:bodyPr>
          <a:lstStyle/>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Cleans the data by handling missing values, duplicates, and irrelevant entries.</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Encodes categorical variables and normalizes data to improve model accuracy.</a:t>
            </a:r>
          </a:p>
        </p:txBody>
      </p:sp>
      <p:sp>
        <p:nvSpPr>
          <p:cNvPr id="42" name="TextBox 41">
            <a:extLst>
              <a:ext uri="{FF2B5EF4-FFF2-40B4-BE49-F238E27FC236}">
                <a16:creationId xmlns:a16="http://schemas.microsoft.com/office/drawing/2014/main" id="{CC940CD6-3E03-3E54-840F-F6FD19D5F9F4}"/>
              </a:ext>
            </a:extLst>
          </p:cNvPr>
          <p:cNvSpPr txBox="1"/>
          <p:nvPr/>
        </p:nvSpPr>
        <p:spPr>
          <a:xfrm>
            <a:off x="8549845" y="7757887"/>
            <a:ext cx="9220200" cy="2246769"/>
          </a:xfrm>
          <a:prstGeom prst="rect">
            <a:avLst/>
          </a:prstGeom>
          <a:noFill/>
        </p:spPr>
        <p:txBody>
          <a:bodyPr wrap="square" rtlCol="0">
            <a:spAutoFit/>
          </a:bodyPr>
          <a:lstStyle/>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Identifies key factors influencing food demand such as day of the week, student strength, past sales, and event indicators.</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Extracted features are used as inputs for machine learning models.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5DA0"/>
        </a:solidFill>
        <a:effectLst/>
      </p:bgPr>
    </p:bg>
    <p:spTree>
      <p:nvGrpSpPr>
        <p:cNvPr id="1" name="">
          <a:extLst>
            <a:ext uri="{FF2B5EF4-FFF2-40B4-BE49-F238E27FC236}">
              <a16:creationId xmlns:a16="http://schemas.microsoft.com/office/drawing/2014/main" id="{DE277FE2-E6C7-F6E6-3C24-8C942EA62B98}"/>
            </a:ext>
          </a:extLst>
        </p:cNvPr>
        <p:cNvGrpSpPr/>
        <p:nvPr/>
      </p:nvGrpSpPr>
      <p:grpSpPr>
        <a:xfrm>
          <a:off x="0" y="0"/>
          <a:ext cx="0" cy="0"/>
          <a:chOff x="0" y="0"/>
          <a:chExt cx="0" cy="0"/>
        </a:xfrm>
      </p:grpSpPr>
      <p:grpSp>
        <p:nvGrpSpPr>
          <p:cNvPr id="14" name="Group 14">
            <a:extLst>
              <a:ext uri="{FF2B5EF4-FFF2-40B4-BE49-F238E27FC236}">
                <a16:creationId xmlns:a16="http://schemas.microsoft.com/office/drawing/2014/main" id="{B65446C7-E8F8-FEFF-F561-B2079812FF7D}"/>
              </a:ext>
            </a:extLst>
          </p:cNvPr>
          <p:cNvGrpSpPr/>
          <p:nvPr/>
        </p:nvGrpSpPr>
        <p:grpSpPr>
          <a:xfrm>
            <a:off x="-2123887" y="-2346523"/>
            <a:ext cx="4693046" cy="4693046"/>
            <a:chOff x="0" y="0"/>
            <a:chExt cx="812800" cy="812800"/>
          </a:xfrm>
        </p:grpSpPr>
        <p:sp>
          <p:nvSpPr>
            <p:cNvPr id="15" name="Freeform 15">
              <a:extLst>
                <a:ext uri="{FF2B5EF4-FFF2-40B4-BE49-F238E27FC236}">
                  <a16:creationId xmlns:a16="http://schemas.microsoft.com/office/drawing/2014/main" id="{8D7A43C0-3A31-561C-2FAF-252C00EF56B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id="16" name="TextBox 16">
              <a:extLst>
                <a:ext uri="{FF2B5EF4-FFF2-40B4-BE49-F238E27FC236}">
                  <a16:creationId xmlns:a16="http://schemas.microsoft.com/office/drawing/2014/main" id="{919D474F-D860-86A0-6F12-48D0AD4A640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a:extLst>
              <a:ext uri="{FF2B5EF4-FFF2-40B4-BE49-F238E27FC236}">
                <a16:creationId xmlns:a16="http://schemas.microsoft.com/office/drawing/2014/main" id="{F6A7E87B-7E5E-7571-73CF-9527A2FB2FE5}"/>
              </a:ext>
            </a:extLst>
          </p:cNvPr>
          <p:cNvGrpSpPr/>
          <p:nvPr/>
        </p:nvGrpSpPr>
        <p:grpSpPr>
          <a:xfrm>
            <a:off x="15573718" y="7940477"/>
            <a:ext cx="4693046" cy="4693046"/>
            <a:chOff x="0" y="0"/>
            <a:chExt cx="812800" cy="812800"/>
          </a:xfrm>
        </p:grpSpPr>
        <p:sp>
          <p:nvSpPr>
            <p:cNvPr id="18" name="Freeform 18">
              <a:extLst>
                <a:ext uri="{FF2B5EF4-FFF2-40B4-BE49-F238E27FC236}">
                  <a16:creationId xmlns:a16="http://schemas.microsoft.com/office/drawing/2014/main" id="{54DBEB45-026E-71FA-2AEE-968871BF75E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id="19" name="TextBox 19">
              <a:extLst>
                <a:ext uri="{FF2B5EF4-FFF2-40B4-BE49-F238E27FC236}">
                  <a16:creationId xmlns:a16="http://schemas.microsoft.com/office/drawing/2014/main" id="{7FA5C2F4-9BD0-29C0-48CD-54138C7E983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a:extLst>
              <a:ext uri="{FF2B5EF4-FFF2-40B4-BE49-F238E27FC236}">
                <a16:creationId xmlns:a16="http://schemas.microsoft.com/office/drawing/2014/main" id="{E68FD77A-DBF9-33A9-FEA5-2476BA05EC79}"/>
              </a:ext>
            </a:extLst>
          </p:cNvPr>
          <p:cNvSpPr txBox="1"/>
          <p:nvPr/>
        </p:nvSpPr>
        <p:spPr>
          <a:xfrm>
            <a:off x="5417025" y="858210"/>
            <a:ext cx="7453950" cy="923330"/>
          </a:xfrm>
          <a:prstGeom prst="rect">
            <a:avLst/>
          </a:prstGeom>
        </p:spPr>
        <p:txBody>
          <a:bodyPr lIns="0" tIns="0" rIns="0" bIns="0" rtlCol="0" anchor="t">
            <a:spAutoFit/>
          </a:bodyPr>
          <a:lstStyle/>
          <a:p>
            <a:pPr lvl="0" algn="ctr">
              <a:lnSpc>
                <a:spcPts val="7151"/>
              </a:lnSpc>
              <a:spcBef>
                <a:spcPct val="0"/>
              </a:spcBef>
            </a:pPr>
            <a:r>
              <a:rPr lang="en-IN" sz="6600" b="1" dirty="0">
                <a:solidFill>
                  <a:schemeClr val="bg1"/>
                </a:solidFill>
                <a:latin typeface="Times New Roman" panose="02020603050405020304" pitchFamily="18" charset="0"/>
                <a:cs typeface="Times New Roman" panose="02020603050405020304" pitchFamily="18" charset="0"/>
              </a:rPr>
              <a:t>Module Descriptions</a:t>
            </a:r>
            <a:endParaRPr lang="en-US" sz="6000" b="1" dirty="0">
              <a:solidFill>
                <a:schemeClr val="bg1"/>
              </a:solidFill>
              <a:latin typeface="Montserrat Bold"/>
              <a:ea typeface="Montserrat Bold"/>
              <a:cs typeface="Montserrat Bold"/>
              <a:sym typeface="Montserrat Bold"/>
            </a:endParaRPr>
          </a:p>
        </p:txBody>
      </p:sp>
      <p:sp>
        <p:nvSpPr>
          <p:cNvPr id="33" name="Freeform 6">
            <a:extLst>
              <a:ext uri="{FF2B5EF4-FFF2-40B4-BE49-F238E27FC236}">
                <a16:creationId xmlns:a16="http://schemas.microsoft.com/office/drawing/2014/main" id="{30D6267B-556A-568F-7202-CB2E66E5333A}"/>
              </a:ext>
            </a:extLst>
          </p:cNvPr>
          <p:cNvSpPr/>
          <p:nvPr/>
        </p:nvSpPr>
        <p:spPr>
          <a:xfrm>
            <a:off x="8166641" y="2336322"/>
            <a:ext cx="9753600" cy="2398994"/>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sp>
      <p:sp>
        <p:nvSpPr>
          <p:cNvPr id="34" name="Freeform 6">
            <a:extLst>
              <a:ext uri="{FF2B5EF4-FFF2-40B4-BE49-F238E27FC236}">
                <a16:creationId xmlns:a16="http://schemas.microsoft.com/office/drawing/2014/main" id="{49EC5800-C41E-A42A-2C5E-91CAAC47CF1D}"/>
              </a:ext>
            </a:extLst>
          </p:cNvPr>
          <p:cNvSpPr/>
          <p:nvPr/>
        </p:nvSpPr>
        <p:spPr>
          <a:xfrm>
            <a:off x="258886" y="5067300"/>
            <a:ext cx="9753600" cy="1888126"/>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sp>
      <p:sp>
        <p:nvSpPr>
          <p:cNvPr id="35" name="Freeform 6">
            <a:extLst>
              <a:ext uri="{FF2B5EF4-FFF2-40B4-BE49-F238E27FC236}">
                <a16:creationId xmlns:a16="http://schemas.microsoft.com/office/drawing/2014/main" id="{3A93EBEB-85BC-A87B-4D92-63034B32B70C}"/>
              </a:ext>
            </a:extLst>
          </p:cNvPr>
          <p:cNvSpPr/>
          <p:nvPr/>
        </p:nvSpPr>
        <p:spPr>
          <a:xfrm>
            <a:off x="8166641" y="7788077"/>
            <a:ext cx="9753600" cy="1888126"/>
          </a:xfrm>
          <a:custGeom>
            <a:avLst/>
            <a:gdLst/>
            <a:ahLst/>
            <a:cxnLst/>
            <a:rect l="l" t="t" r="r" b="b"/>
            <a:pathLst>
              <a:path w="1554321" h="1369365">
                <a:moveTo>
                  <a:pt x="58312" y="0"/>
                </a:moveTo>
                <a:lnTo>
                  <a:pt x="1496009" y="0"/>
                </a:lnTo>
                <a:cubicBezTo>
                  <a:pt x="1511474" y="0"/>
                  <a:pt x="1526306" y="6144"/>
                  <a:pt x="1537241" y="17079"/>
                </a:cubicBezTo>
                <a:cubicBezTo>
                  <a:pt x="1548177" y="28015"/>
                  <a:pt x="1554321" y="42846"/>
                  <a:pt x="1554321" y="58312"/>
                </a:cubicBezTo>
                <a:lnTo>
                  <a:pt x="1554321" y="1311054"/>
                </a:lnTo>
                <a:cubicBezTo>
                  <a:pt x="1554321" y="1326519"/>
                  <a:pt x="1548177" y="1341351"/>
                  <a:pt x="1537241" y="1352286"/>
                </a:cubicBezTo>
                <a:cubicBezTo>
                  <a:pt x="1526306" y="1363222"/>
                  <a:pt x="1511474" y="1369365"/>
                  <a:pt x="1496009" y="1369365"/>
                </a:cubicBezTo>
                <a:lnTo>
                  <a:pt x="58312" y="1369365"/>
                </a:lnTo>
                <a:cubicBezTo>
                  <a:pt x="42846" y="1369365"/>
                  <a:pt x="28015" y="1363222"/>
                  <a:pt x="17079" y="1352286"/>
                </a:cubicBezTo>
                <a:cubicBezTo>
                  <a:pt x="6144" y="1341351"/>
                  <a:pt x="0" y="1326519"/>
                  <a:pt x="0" y="1311054"/>
                </a:cubicBezTo>
                <a:lnTo>
                  <a:pt x="0" y="58312"/>
                </a:lnTo>
                <a:cubicBezTo>
                  <a:pt x="0" y="42846"/>
                  <a:pt x="6144" y="28015"/>
                  <a:pt x="17079" y="17079"/>
                </a:cubicBezTo>
                <a:cubicBezTo>
                  <a:pt x="28015" y="6144"/>
                  <a:pt x="42846" y="0"/>
                  <a:pt x="58312" y="0"/>
                </a:cubicBezTo>
                <a:close/>
              </a:path>
            </a:pathLst>
          </a:custGeom>
          <a:solidFill>
            <a:srgbClr val="FDFDFD"/>
          </a:solidFill>
        </p:spPr>
      </p:sp>
      <p:sp>
        <p:nvSpPr>
          <p:cNvPr id="37" name="TextBox 36">
            <a:extLst>
              <a:ext uri="{FF2B5EF4-FFF2-40B4-BE49-F238E27FC236}">
                <a16:creationId xmlns:a16="http://schemas.microsoft.com/office/drawing/2014/main" id="{67EB55E6-6E96-4775-1C00-BD0605F2FA7A}"/>
              </a:ext>
            </a:extLst>
          </p:cNvPr>
          <p:cNvSpPr txBox="1"/>
          <p:nvPr/>
        </p:nvSpPr>
        <p:spPr>
          <a:xfrm>
            <a:off x="1290517" y="2887710"/>
            <a:ext cx="6640496" cy="1323439"/>
          </a:xfrm>
          <a:prstGeom prst="rect">
            <a:avLst/>
          </a:prstGeom>
          <a:noFill/>
        </p:spPr>
        <p:txBody>
          <a:bodyPr wrap="square">
            <a:sp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Model Training &amp; Testing Module</a:t>
            </a:r>
            <a:endParaRPr lang="en-IN" sz="4000" dirty="0">
              <a:solidFill>
                <a:schemeClr val="bg1"/>
              </a:solidFill>
            </a:endParaRPr>
          </a:p>
        </p:txBody>
      </p:sp>
      <p:sp>
        <p:nvSpPr>
          <p:cNvPr id="38" name="TextBox 37">
            <a:extLst>
              <a:ext uri="{FF2B5EF4-FFF2-40B4-BE49-F238E27FC236}">
                <a16:creationId xmlns:a16="http://schemas.microsoft.com/office/drawing/2014/main" id="{909BA37A-FD0C-F40F-BF77-37C9C256C4D3}"/>
              </a:ext>
            </a:extLst>
          </p:cNvPr>
          <p:cNvSpPr txBox="1"/>
          <p:nvPr/>
        </p:nvSpPr>
        <p:spPr>
          <a:xfrm>
            <a:off x="8433341" y="2425244"/>
            <a:ext cx="9220200" cy="2246769"/>
          </a:xfrm>
          <a:prstGeom prst="rect">
            <a:avLst/>
          </a:prstGeom>
          <a:noFill/>
        </p:spPr>
        <p:txBody>
          <a:bodyPr wrap="square" rtlCol="0">
            <a:spAutoFit/>
          </a:bodyPr>
          <a:lstStyle/>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Implements machine learning algorithms like Linear Regression, Random Forest, and LSTM to train prediction models.</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Splits data into training and testing sets to evaluate performance and ensure accuracy.</a:t>
            </a:r>
          </a:p>
        </p:txBody>
      </p:sp>
      <p:sp>
        <p:nvSpPr>
          <p:cNvPr id="39" name="TextBox 38">
            <a:extLst>
              <a:ext uri="{FF2B5EF4-FFF2-40B4-BE49-F238E27FC236}">
                <a16:creationId xmlns:a16="http://schemas.microsoft.com/office/drawing/2014/main" id="{88C55126-A26D-A9B0-946E-B2371AA982A8}"/>
              </a:ext>
            </a:extLst>
          </p:cNvPr>
          <p:cNvSpPr txBox="1"/>
          <p:nvPr/>
        </p:nvSpPr>
        <p:spPr>
          <a:xfrm>
            <a:off x="10591800" y="5349643"/>
            <a:ext cx="6640496" cy="1323439"/>
          </a:xfrm>
          <a:prstGeom prst="rect">
            <a:avLst/>
          </a:prstGeom>
          <a:noFill/>
        </p:spPr>
        <p:txBody>
          <a:bodyPr wrap="square">
            <a:sp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Forecasting &amp; Prediction Module</a:t>
            </a:r>
            <a:endParaRPr lang="en-IN" sz="4000" dirty="0">
              <a:solidFill>
                <a:schemeClr val="bg1"/>
              </a:solidFill>
            </a:endParaRPr>
          </a:p>
        </p:txBody>
      </p:sp>
      <p:sp>
        <p:nvSpPr>
          <p:cNvPr id="40" name="TextBox 39">
            <a:extLst>
              <a:ext uri="{FF2B5EF4-FFF2-40B4-BE49-F238E27FC236}">
                <a16:creationId xmlns:a16="http://schemas.microsoft.com/office/drawing/2014/main" id="{3F24467B-79F3-8FB3-461C-3439AD0D783A}"/>
              </a:ext>
            </a:extLst>
          </p:cNvPr>
          <p:cNvSpPr txBox="1"/>
          <p:nvPr/>
        </p:nvSpPr>
        <p:spPr>
          <a:xfrm>
            <a:off x="495021" y="8070420"/>
            <a:ext cx="7219810" cy="1323439"/>
          </a:xfrm>
          <a:prstGeom prst="rect">
            <a:avLst/>
          </a:prstGeom>
          <a:noFill/>
        </p:spPr>
        <p:txBody>
          <a:bodyPr wrap="square">
            <a:spAutoFit/>
          </a:bodyPr>
          <a:lstStyle/>
          <a:p>
            <a:pPr algn="ctr"/>
            <a:r>
              <a:rPr lang="en-US" sz="4000" b="1" dirty="0">
                <a:solidFill>
                  <a:schemeClr val="bg1"/>
                </a:solidFill>
                <a:latin typeface="Times New Roman" panose="02020603050405020304" pitchFamily="18" charset="0"/>
                <a:cs typeface="Times New Roman" panose="02020603050405020304" pitchFamily="18" charset="0"/>
              </a:rPr>
              <a:t>Dashboard &amp; Reporting Module</a:t>
            </a:r>
            <a:endParaRPr lang="en-IN" sz="4000" dirty="0">
              <a:solidFill>
                <a:schemeClr val="bg1"/>
              </a:solidFill>
            </a:endParaRPr>
          </a:p>
        </p:txBody>
      </p:sp>
      <p:sp>
        <p:nvSpPr>
          <p:cNvPr id="41" name="TextBox 40">
            <a:extLst>
              <a:ext uri="{FF2B5EF4-FFF2-40B4-BE49-F238E27FC236}">
                <a16:creationId xmlns:a16="http://schemas.microsoft.com/office/drawing/2014/main" id="{5E59D6D0-681E-6953-3757-E099E0BE4639}"/>
              </a:ext>
            </a:extLst>
          </p:cNvPr>
          <p:cNvSpPr txBox="1"/>
          <p:nvPr/>
        </p:nvSpPr>
        <p:spPr>
          <a:xfrm>
            <a:off x="685800" y="5168410"/>
            <a:ext cx="9220200" cy="1815882"/>
          </a:xfrm>
          <a:prstGeom prst="rect">
            <a:avLst/>
          </a:prstGeom>
          <a:noFill/>
        </p:spPr>
        <p:txBody>
          <a:bodyPr wrap="square" rtlCol="0">
            <a:spAutoFit/>
          </a:bodyPr>
          <a:lstStyle/>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Uses trained models to predict daily demand for each food item.</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Continuously updates predictions based on feedback and new data.</a:t>
            </a:r>
          </a:p>
        </p:txBody>
      </p:sp>
      <p:sp>
        <p:nvSpPr>
          <p:cNvPr id="42" name="TextBox 41">
            <a:extLst>
              <a:ext uri="{FF2B5EF4-FFF2-40B4-BE49-F238E27FC236}">
                <a16:creationId xmlns:a16="http://schemas.microsoft.com/office/drawing/2014/main" id="{C5D13435-EE8A-81BC-DB9B-57ABC6F91D0D}"/>
              </a:ext>
            </a:extLst>
          </p:cNvPr>
          <p:cNvSpPr txBox="1"/>
          <p:nvPr/>
        </p:nvSpPr>
        <p:spPr>
          <a:xfrm>
            <a:off x="8572779" y="7860321"/>
            <a:ext cx="9220200" cy="1815882"/>
          </a:xfrm>
          <a:prstGeom prst="rect">
            <a:avLst/>
          </a:prstGeom>
          <a:noFill/>
        </p:spPr>
        <p:txBody>
          <a:bodyPr wrap="square" rtlCol="0">
            <a:spAutoFit/>
          </a:bodyPr>
          <a:lstStyle/>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Displays demand forecasts and insights in a user-friendly interface.</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Helps canteen managers make informed decisions, reduce waste, and optimize resources.</a:t>
            </a:r>
          </a:p>
        </p:txBody>
      </p:sp>
    </p:spTree>
    <p:extLst>
      <p:ext uri="{BB962C8B-B14F-4D97-AF65-F5344CB8AC3E}">
        <p14:creationId xmlns:p14="http://schemas.microsoft.com/office/powerpoint/2010/main" val="2019806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6792707" cy="10287000"/>
            <a:chOff x="0" y="0"/>
            <a:chExt cx="1789026" cy="2709333"/>
          </a:xfrm>
        </p:grpSpPr>
        <p:sp>
          <p:nvSpPr>
            <p:cNvPr id="4" name="Freeform 4"/>
            <p:cNvSpPr/>
            <p:nvPr/>
          </p:nvSpPr>
          <p:spPr>
            <a:xfrm>
              <a:off x="0" y="0"/>
              <a:ext cx="1789026" cy="2709333"/>
            </a:xfrm>
            <a:custGeom>
              <a:avLst/>
              <a:gdLst/>
              <a:ahLst/>
              <a:cxnLst/>
              <a:rect l="l" t="t" r="r" b="b"/>
              <a:pathLst>
                <a:path w="1789026" h="2709333">
                  <a:moveTo>
                    <a:pt x="0" y="0"/>
                  </a:moveTo>
                  <a:lnTo>
                    <a:pt x="1789026" y="0"/>
                  </a:lnTo>
                  <a:lnTo>
                    <a:pt x="1789026" y="2709333"/>
                  </a:lnTo>
                  <a:lnTo>
                    <a:pt x="0" y="2709333"/>
                  </a:lnTo>
                  <a:close/>
                </a:path>
              </a:pathLst>
            </a:custGeom>
            <a:solidFill>
              <a:srgbClr val="004AAD"/>
            </a:solidFill>
          </p:spPr>
        </p:sp>
        <p:sp>
          <p:nvSpPr>
            <p:cNvPr id="5" name="TextBox 5"/>
            <p:cNvSpPr txBox="1"/>
            <p:nvPr/>
          </p:nvSpPr>
          <p:spPr>
            <a:xfrm>
              <a:off x="0" y="-47625"/>
              <a:ext cx="1789026" cy="275695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5446818" y="8630505"/>
            <a:ext cx="897167" cy="2183545"/>
            <a:chOff x="0" y="0"/>
            <a:chExt cx="236291" cy="575090"/>
          </a:xfrm>
        </p:grpSpPr>
        <p:sp>
          <p:nvSpPr>
            <p:cNvPr id="7" name="Freeform 7"/>
            <p:cNvSpPr/>
            <p:nvPr/>
          </p:nvSpPr>
          <p:spPr>
            <a:xfrm>
              <a:off x="0" y="0"/>
              <a:ext cx="236291" cy="575090"/>
            </a:xfrm>
            <a:custGeom>
              <a:avLst/>
              <a:gdLst/>
              <a:ahLst/>
              <a:cxnLst/>
              <a:rect l="l" t="t" r="r" b="b"/>
              <a:pathLst>
                <a:path w="236291" h="575090">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p:spPr>
        </p:sp>
        <p:sp>
          <p:nvSpPr>
            <p:cNvPr id="8" name="TextBox 8"/>
            <p:cNvSpPr txBox="1"/>
            <p:nvPr/>
          </p:nvSpPr>
          <p:spPr>
            <a:xfrm>
              <a:off x="0" y="-47625"/>
              <a:ext cx="236291" cy="622715"/>
            </a:xfrm>
            <a:prstGeom prst="rect">
              <a:avLst/>
            </a:prstGeom>
          </p:spPr>
          <p:txBody>
            <a:bodyPr lIns="50800" tIns="50800" rIns="50800" bIns="50800" rtlCol="0" anchor="ctr"/>
            <a:lstStyle/>
            <a:p>
              <a:pPr algn="ctr">
                <a:lnSpc>
                  <a:spcPts val="2659"/>
                </a:lnSpc>
              </a:pPr>
              <a:endParaRPr/>
            </a:p>
          </p:txBody>
        </p:sp>
      </p:grpSp>
      <p:sp>
        <p:nvSpPr>
          <p:cNvPr id="15" name="TextBox 15"/>
          <p:cNvSpPr txBox="1"/>
          <p:nvPr/>
        </p:nvSpPr>
        <p:spPr>
          <a:xfrm>
            <a:off x="457200" y="3238499"/>
            <a:ext cx="6096000" cy="3939540"/>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3200" dirty="0">
                <a:solidFill>
                  <a:schemeClr val="bg1"/>
                </a:solidFill>
                <a:latin typeface="Times New Roman" panose="02020603050405020304" pitchFamily="18" charset="0"/>
                <a:cs typeface="Times New Roman" panose="02020603050405020304" pitchFamily="18" charset="0"/>
              </a:rPr>
              <a:t>Accurate, data-driven predictions for daily food preparation.</a:t>
            </a:r>
          </a:p>
          <a:p>
            <a:pPr marL="342900" indent="-342900">
              <a:buFont typeface="Arial" panose="020B0604020202020204" pitchFamily="34" charset="0"/>
              <a:buChar char="•"/>
            </a:pPr>
            <a:r>
              <a:rPr lang="en-US" sz="3200" dirty="0">
                <a:solidFill>
                  <a:schemeClr val="bg1"/>
                </a:solidFill>
                <a:latin typeface="Times New Roman" panose="02020603050405020304" pitchFamily="18" charset="0"/>
                <a:cs typeface="Times New Roman" panose="02020603050405020304" pitchFamily="18" charset="0"/>
              </a:rPr>
              <a:t>Reduced wastage and improved cost efficiency.</a:t>
            </a:r>
          </a:p>
          <a:p>
            <a:pPr marL="342900" indent="-342900">
              <a:buFont typeface="Arial" panose="020B0604020202020204" pitchFamily="34" charset="0"/>
              <a:buChar char="•"/>
            </a:pPr>
            <a:r>
              <a:rPr lang="en-US" sz="3200" dirty="0">
                <a:solidFill>
                  <a:schemeClr val="bg1"/>
                </a:solidFill>
                <a:latin typeface="Times New Roman" panose="02020603050405020304" pitchFamily="18" charset="0"/>
                <a:cs typeface="Times New Roman" panose="02020603050405020304" pitchFamily="18" charset="0"/>
              </a:rPr>
              <a:t>Real-time updates and continuous learning from new data.</a:t>
            </a:r>
          </a:p>
          <a:p>
            <a:pPr marL="342900" indent="-342900" algn="just">
              <a:buFont typeface="Arial" panose="020B0604020202020204" pitchFamily="34" charset="0"/>
              <a:buChar char="•"/>
            </a:pPr>
            <a:r>
              <a:rPr lang="en-US" sz="3200" dirty="0">
                <a:solidFill>
                  <a:schemeClr val="bg1"/>
                </a:solidFill>
                <a:latin typeface="Times New Roman" panose="02020603050405020304" pitchFamily="18" charset="0"/>
                <a:cs typeface="Times New Roman" panose="02020603050405020304" pitchFamily="18" charset="0"/>
              </a:rPr>
              <a:t>Easy-to-use interface for seamless operational management.</a:t>
            </a:r>
          </a:p>
        </p:txBody>
      </p:sp>
      <p:grpSp>
        <p:nvGrpSpPr>
          <p:cNvPr id="19" name="Group 3">
            <a:extLst>
              <a:ext uri="{FF2B5EF4-FFF2-40B4-BE49-F238E27FC236}">
                <a16:creationId xmlns:a16="http://schemas.microsoft.com/office/drawing/2014/main" id="{404459EC-2739-4080-91CC-9ABA91659B5A}"/>
              </a:ext>
            </a:extLst>
          </p:cNvPr>
          <p:cNvGrpSpPr/>
          <p:nvPr/>
        </p:nvGrpSpPr>
        <p:grpSpPr>
          <a:xfrm>
            <a:off x="2233480" y="467708"/>
            <a:ext cx="13334999" cy="2770791"/>
            <a:chOff x="-246505" y="-199940"/>
            <a:chExt cx="972981" cy="268510"/>
          </a:xfrm>
        </p:grpSpPr>
        <p:sp>
          <p:nvSpPr>
            <p:cNvPr id="20" name="Freeform 4">
              <a:extLst>
                <a:ext uri="{FF2B5EF4-FFF2-40B4-BE49-F238E27FC236}">
                  <a16:creationId xmlns:a16="http://schemas.microsoft.com/office/drawing/2014/main" id="{247F2255-1428-38C4-F53E-B6E6E49FBA19}"/>
                </a:ext>
              </a:extLst>
            </p:cNvPr>
            <p:cNvSpPr/>
            <p:nvPr/>
          </p:nvSpPr>
          <p:spPr>
            <a:xfrm>
              <a:off x="-246505" y="-199940"/>
              <a:ext cx="972981" cy="93785"/>
            </a:xfrm>
            <a:custGeom>
              <a:avLst/>
              <a:gdLst/>
              <a:ahLst/>
              <a:cxnLst/>
              <a:rect l="l" t="t" r="r" b="b"/>
              <a:pathLst>
                <a:path w="662281" h="68570">
                  <a:moveTo>
                    <a:pt x="0" y="0"/>
                  </a:moveTo>
                  <a:lnTo>
                    <a:pt x="662281" y="0"/>
                  </a:lnTo>
                  <a:lnTo>
                    <a:pt x="662281" y="68570"/>
                  </a:lnTo>
                  <a:lnTo>
                    <a:pt x="0" y="68570"/>
                  </a:lnTo>
                  <a:close/>
                </a:path>
              </a:pathLst>
            </a:custGeom>
            <a:solidFill>
              <a:srgbClr val="004AAD"/>
            </a:solidFill>
          </p:spPr>
          <p:txBody>
            <a:bodyPr/>
            <a:lstStyle/>
            <a:p>
              <a:r>
                <a:rPr lang="en-US" sz="6600" b="1" dirty="0">
                  <a:solidFill>
                    <a:schemeClr val="bg1"/>
                  </a:solidFill>
                  <a:latin typeface="Times New Roman" panose="02020603050405020304" pitchFamily="18" charset="0"/>
                  <a:cs typeface="Times New Roman" panose="02020603050405020304" pitchFamily="18" charset="0"/>
                </a:rPr>
                <a:t>Advantages of Modular Approach</a:t>
              </a:r>
            </a:p>
          </p:txBody>
        </p:sp>
        <p:sp>
          <p:nvSpPr>
            <p:cNvPr id="21" name="TextBox 5">
              <a:extLst>
                <a:ext uri="{FF2B5EF4-FFF2-40B4-BE49-F238E27FC236}">
                  <a16:creationId xmlns:a16="http://schemas.microsoft.com/office/drawing/2014/main" id="{FB199CF5-5336-37E6-E27D-0150CDF4447E}"/>
                </a:ext>
              </a:extLst>
            </p:cNvPr>
            <p:cNvSpPr txBox="1"/>
            <p:nvPr/>
          </p:nvSpPr>
          <p:spPr>
            <a:xfrm>
              <a:off x="0" y="-47625"/>
              <a:ext cx="662281" cy="116195"/>
            </a:xfrm>
            <a:prstGeom prst="rect">
              <a:avLst/>
            </a:prstGeom>
          </p:spPr>
          <p:txBody>
            <a:bodyPr lIns="50800" tIns="50800" rIns="50800" bIns="50800" rtlCol="0" anchor="ctr"/>
            <a:lstStyle/>
            <a:p>
              <a:pPr algn="ctr">
                <a:lnSpc>
                  <a:spcPts val="2659"/>
                </a:lnSpc>
              </a:pPr>
              <a:endParaRPr/>
            </a:p>
          </p:txBody>
        </p:sp>
      </p:grpSp>
      <p:pic>
        <p:nvPicPr>
          <p:cNvPr id="24" name="Picture 12" descr="User uploaded image">
            <a:extLst>
              <a:ext uri="{FF2B5EF4-FFF2-40B4-BE49-F238E27FC236}">
                <a16:creationId xmlns:a16="http://schemas.microsoft.com/office/drawing/2014/main" id="{6086915D-A0F7-6460-855A-035403570254}"/>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2788" r="535"/>
          <a:stretch>
            <a:fillRect/>
          </a:stretch>
        </p:blipFill>
        <p:spPr bwMode="auto">
          <a:xfrm>
            <a:off x="12165106" y="2277851"/>
            <a:ext cx="5920537" cy="596968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User uploaded image">
            <a:extLst>
              <a:ext uri="{FF2B5EF4-FFF2-40B4-BE49-F238E27FC236}">
                <a16:creationId xmlns:a16="http://schemas.microsoft.com/office/drawing/2014/main" id="{A530D994-A486-A8CE-3E35-F680E37AA39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48" t="19938" r="58631"/>
          <a:stretch>
            <a:fillRect/>
          </a:stretch>
        </p:blipFill>
        <p:spPr bwMode="auto">
          <a:xfrm>
            <a:off x="7848600" y="2277851"/>
            <a:ext cx="4316506" cy="596968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rot="5400000">
            <a:off x="8990215" y="810330"/>
            <a:ext cx="8541900" cy="8666340"/>
          </a:xfrm>
          <a:custGeom>
            <a:avLst/>
            <a:gdLst/>
            <a:ahLst/>
            <a:cxnLst/>
            <a:rect l="l" t="t" r="r" b="b"/>
            <a:pathLst>
              <a:path w="8541900" h="8666340">
                <a:moveTo>
                  <a:pt x="0" y="0"/>
                </a:moveTo>
                <a:lnTo>
                  <a:pt x="8541901" y="0"/>
                </a:lnTo>
                <a:lnTo>
                  <a:pt x="8541901" y="8666340"/>
                </a:lnTo>
                <a:lnTo>
                  <a:pt x="0" y="8666340"/>
                </a:lnTo>
                <a:lnTo>
                  <a:pt x="0" y="0"/>
                </a:lnTo>
                <a:close/>
              </a:path>
            </a:pathLst>
          </a:custGeom>
          <a:blipFill>
            <a:blip r:embed="rId2">
              <a:alphaModFix amt="14000"/>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2832861" y="810330"/>
            <a:ext cx="8541900" cy="8666340"/>
          </a:xfrm>
          <a:custGeom>
            <a:avLst/>
            <a:gdLst/>
            <a:ahLst/>
            <a:cxnLst/>
            <a:rect l="l" t="t" r="r" b="b"/>
            <a:pathLst>
              <a:path w="8541900" h="8666340">
                <a:moveTo>
                  <a:pt x="0" y="0"/>
                </a:moveTo>
                <a:lnTo>
                  <a:pt x="8541900" y="0"/>
                </a:lnTo>
                <a:lnTo>
                  <a:pt x="8541900" y="8666340"/>
                </a:lnTo>
                <a:lnTo>
                  <a:pt x="0" y="8666340"/>
                </a:lnTo>
                <a:lnTo>
                  <a:pt x="0" y="0"/>
                </a:lnTo>
                <a:close/>
              </a:path>
            </a:pathLst>
          </a:custGeom>
          <a:blipFill>
            <a:blip r:embed="rId2">
              <a:alphaModFix amt="14000"/>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2514600" y="2781300"/>
            <a:ext cx="14083473" cy="5032883"/>
            <a:chOff x="-133639" y="-38100"/>
            <a:chExt cx="3337574" cy="1200167"/>
          </a:xfrm>
        </p:grpSpPr>
        <p:sp>
          <p:nvSpPr>
            <p:cNvPr id="6" name="Freeform 6"/>
            <p:cNvSpPr/>
            <p:nvPr/>
          </p:nvSpPr>
          <p:spPr>
            <a:xfrm>
              <a:off x="-133639" y="-7304"/>
              <a:ext cx="3203935" cy="1162067"/>
            </a:xfrm>
            <a:custGeom>
              <a:avLst/>
              <a:gdLst/>
              <a:ahLst/>
              <a:cxnLst/>
              <a:rect l="l" t="t" r="r" b="b"/>
              <a:pathLst>
                <a:path w="3203935" h="1162067">
                  <a:moveTo>
                    <a:pt x="0" y="0"/>
                  </a:moveTo>
                  <a:lnTo>
                    <a:pt x="3203935" y="0"/>
                  </a:lnTo>
                  <a:lnTo>
                    <a:pt x="3203935" y="1162067"/>
                  </a:lnTo>
                  <a:lnTo>
                    <a:pt x="0" y="1162067"/>
                  </a:lnTo>
                  <a:close/>
                </a:path>
              </a:pathLst>
            </a:custGeom>
            <a:solidFill>
              <a:srgbClr val="145DA0"/>
            </a:solidFill>
            <a:ln w="38100" cap="sq">
              <a:solidFill>
                <a:srgbClr val="FFFFFF"/>
              </a:solidFill>
              <a:prstDash val="solid"/>
              <a:miter/>
            </a:ln>
          </p:spPr>
        </p:sp>
        <p:sp>
          <p:nvSpPr>
            <p:cNvPr id="7" name="TextBox 7"/>
            <p:cNvSpPr txBox="1"/>
            <p:nvPr/>
          </p:nvSpPr>
          <p:spPr>
            <a:xfrm>
              <a:off x="0" y="-38100"/>
              <a:ext cx="3203935" cy="1200167"/>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3116770" y="721996"/>
            <a:ext cx="11622449" cy="2089931"/>
          </a:xfrm>
          <a:prstGeom prst="rect">
            <a:avLst/>
          </a:prstGeom>
        </p:spPr>
        <p:txBody>
          <a:bodyPr lIns="0" tIns="0" rIns="0" bIns="0" rtlCol="0" anchor="t">
            <a:spAutoFit/>
          </a:bodyPr>
          <a:lstStyle/>
          <a:p>
            <a:pPr lvl="0" algn="ctr">
              <a:lnSpc>
                <a:spcPts val="18560"/>
              </a:lnSpc>
              <a:spcBef>
                <a:spcPct val="0"/>
              </a:spcBef>
            </a:pPr>
            <a:r>
              <a:rPr lang="en-IN" sz="8000" b="1" dirty="0">
                <a:latin typeface="Times New Roman" panose="02020603050405020304" pitchFamily="18" charset="0"/>
                <a:cs typeface="Times New Roman" panose="02020603050405020304" pitchFamily="18" charset="0"/>
              </a:rPr>
              <a:t>Conclusion</a:t>
            </a:r>
            <a:endParaRPr lang="en-US" sz="9600" b="1" dirty="0">
              <a:latin typeface="Montserrat Bold"/>
              <a:ea typeface="Montserrat Bold"/>
              <a:cs typeface="Montserrat Bold"/>
              <a:sym typeface="Montserrat Bold"/>
            </a:endParaRPr>
          </a:p>
        </p:txBody>
      </p:sp>
      <p:sp>
        <p:nvSpPr>
          <p:cNvPr id="9" name="TextBox 9"/>
          <p:cNvSpPr txBox="1"/>
          <p:nvPr/>
        </p:nvSpPr>
        <p:spPr>
          <a:xfrm>
            <a:off x="3225325" y="3081749"/>
            <a:ext cx="11887199" cy="4431983"/>
          </a:xfrm>
          <a:prstGeom prst="rect">
            <a:avLst/>
          </a:prstGeom>
        </p:spPr>
        <p:txBody>
          <a:bodyPr wrap="square" lIns="0" tIns="0" rIns="0" bIns="0" rtlCol="0" anchor="t">
            <a:spAutoFit/>
          </a:bodyPr>
          <a:lstStyle/>
          <a:p>
            <a:pPr algn="just"/>
            <a:r>
              <a:rPr lang="en-US" sz="3200" dirty="0">
                <a:solidFill>
                  <a:schemeClr val="bg1"/>
                </a:solidFill>
                <a:latin typeface="Times New Roman" panose="02020603050405020304" pitchFamily="18" charset="0"/>
                <a:cs typeface="Times New Roman" panose="02020603050405020304" pitchFamily="18" charset="0"/>
              </a:rPr>
              <a:t>The </a:t>
            </a:r>
            <a:r>
              <a:rPr lang="en-US" sz="3200" i="1" dirty="0">
                <a:solidFill>
                  <a:schemeClr val="bg1"/>
                </a:solidFill>
                <a:latin typeface="Times New Roman" panose="02020603050405020304" pitchFamily="18" charset="0"/>
                <a:cs typeface="Times New Roman" panose="02020603050405020304" pitchFamily="18" charset="0"/>
              </a:rPr>
              <a:t>AI-Based Canteen Food Demand Predictor</a:t>
            </a:r>
            <a:r>
              <a:rPr lang="en-US" sz="3200" dirty="0">
                <a:solidFill>
                  <a:schemeClr val="bg1"/>
                </a:solidFill>
                <a:latin typeface="Times New Roman" panose="02020603050405020304" pitchFamily="18" charset="0"/>
                <a:cs typeface="Times New Roman" panose="02020603050405020304" pitchFamily="18" charset="0"/>
              </a:rPr>
              <a:t> efficiently forecasts daily food demand using AI and ML techniques, analyzing factors like past sales, student attendance, weekdays, seasonal trends, and special events. By providing accurate predictions, it helps reduce food wastage, optimize resources, and control costs. The system continuously improves with new data and offers a user-friendly interface for canteen managers to make informed decisions. This project demonstrates the practical benefits of AI in enhancing operational efficiency, sustainability, and overall satisfaction in college canteens.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7" name="AutoShape 8" descr="AI in Food Industry: Benefits, Use Cases &amp; Trends">
            <a:extLst>
              <a:ext uri="{FF2B5EF4-FFF2-40B4-BE49-F238E27FC236}">
                <a16:creationId xmlns:a16="http://schemas.microsoft.com/office/drawing/2014/main" id="{6D30E778-1187-FBAA-7AC1-5031AC25DA6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TextBox 2"/>
          <p:cNvSpPr txBox="1"/>
          <p:nvPr/>
        </p:nvSpPr>
        <p:spPr>
          <a:xfrm>
            <a:off x="4886604" y="3572661"/>
            <a:ext cx="8819592" cy="1765560"/>
          </a:xfrm>
          <a:prstGeom prst="rect">
            <a:avLst/>
          </a:prstGeom>
        </p:spPr>
        <p:txBody>
          <a:bodyPr lIns="0" tIns="0" rIns="0" bIns="0" rtlCol="0" anchor="t">
            <a:spAutoFit/>
          </a:bodyPr>
          <a:lstStyle/>
          <a:p>
            <a:pPr marL="0" lvl="0" indent="0" algn="l">
              <a:lnSpc>
                <a:spcPts val="14510"/>
              </a:lnSpc>
              <a:spcBef>
                <a:spcPct val="0"/>
              </a:spcBef>
            </a:pPr>
            <a:r>
              <a:rPr lang="en-US" sz="10364" b="1" dirty="0">
                <a:solidFill>
                  <a:srgbClr val="051D40"/>
                </a:solidFill>
                <a:latin typeface="Montserrat Bold"/>
                <a:ea typeface="Montserrat Bold"/>
                <a:cs typeface="Montserrat Bold"/>
                <a:sym typeface="Montserrat Bold"/>
              </a:rPr>
              <a:t>THANK YOU!</a:t>
            </a:r>
          </a:p>
        </p:txBody>
      </p:sp>
      <p:sp>
        <p:nvSpPr>
          <p:cNvPr id="12" name="TextBox 12"/>
          <p:cNvSpPr txBox="1"/>
          <p:nvPr/>
        </p:nvSpPr>
        <p:spPr>
          <a:xfrm>
            <a:off x="6652763" y="6488100"/>
            <a:ext cx="6125474" cy="412805"/>
          </a:xfrm>
          <a:prstGeom prst="rect">
            <a:avLst/>
          </a:prstGeom>
        </p:spPr>
        <p:txBody>
          <a:bodyPr wrap="square" lIns="0" tIns="0" rIns="0" bIns="0" rtlCol="0" anchor="t">
            <a:spAutoFit/>
          </a:bodyPr>
          <a:lstStyle/>
          <a:p>
            <a:pPr marL="0" lvl="1" indent="0" algn="l">
              <a:lnSpc>
                <a:spcPts val="2534"/>
              </a:lnSpc>
              <a:spcBef>
                <a:spcPct val="0"/>
              </a:spcBef>
            </a:pPr>
            <a:r>
              <a:rPr lang="en-US" sz="4800" spc="-36" dirty="0">
                <a:solidFill>
                  <a:srgbClr val="145DA0"/>
                </a:solidFill>
                <a:latin typeface="Poppins"/>
                <a:ea typeface="Poppins"/>
                <a:cs typeface="Poppins"/>
                <a:sym typeface="Poppins"/>
              </a:rPr>
              <a:t>Hemanth Kumar P</a:t>
            </a:r>
          </a:p>
        </p:txBody>
      </p:sp>
      <p:grpSp>
        <p:nvGrpSpPr>
          <p:cNvPr id="15" name="Group 15"/>
          <p:cNvGrpSpPr/>
          <p:nvPr/>
        </p:nvGrpSpPr>
        <p:grpSpPr>
          <a:xfrm>
            <a:off x="12398912" y="0"/>
            <a:ext cx="5889088" cy="756959"/>
            <a:chOff x="0" y="0"/>
            <a:chExt cx="1551036" cy="199364"/>
          </a:xfrm>
        </p:grpSpPr>
        <p:sp>
          <p:nvSpPr>
            <p:cNvPr id="16" name="Freeform 16"/>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B98BA"/>
            </a:solidFill>
            <a:ln cap="sq">
              <a:noFill/>
              <a:prstDash val="solid"/>
              <a:miter/>
            </a:ln>
          </p:spPr>
        </p:sp>
        <p:sp>
          <p:nvSpPr>
            <p:cNvPr id="17" name="TextBox 17"/>
            <p:cNvSpPr txBox="1"/>
            <p:nvPr/>
          </p:nvSpPr>
          <p:spPr>
            <a:xfrm>
              <a:off x="0" y="-38100"/>
              <a:ext cx="1551036" cy="237464"/>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2398912" y="9530041"/>
            <a:ext cx="5889088" cy="756959"/>
            <a:chOff x="0" y="0"/>
            <a:chExt cx="1551036" cy="199364"/>
          </a:xfrm>
        </p:grpSpPr>
        <p:sp>
          <p:nvSpPr>
            <p:cNvPr id="19" name="Freeform 19"/>
            <p:cNvSpPr/>
            <p:nvPr/>
          </p:nvSpPr>
          <p:spPr>
            <a:xfrm>
              <a:off x="0" y="0"/>
              <a:ext cx="1551036" cy="199364"/>
            </a:xfrm>
            <a:custGeom>
              <a:avLst/>
              <a:gdLst/>
              <a:ahLst/>
              <a:cxnLst/>
              <a:rect l="l" t="t" r="r" b="b"/>
              <a:pathLst>
                <a:path w="1551036" h="199364">
                  <a:moveTo>
                    <a:pt x="0" y="0"/>
                  </a:moveTo>
                  <a:lnTo>
                    <a:pt x="1551036" y="0"/>
                  </a:lnTo>
                  <a:lnTo>
                    <a:pt x="1551036" y="199364"/>
                  </a:lnTo>
                  <a:lnTo>
                    <a:pt x="0" y="199364"/>
                  </a:lnTo>
                  <a:close/>
                </a:path>
              </a:pathLst>
            </a:custGeom>
            <a:solidFill>
              <a:srgbClr val="5B98BA"/>
            </a:solidFill>
            <a:ln cap="sq">
              <a:noFill/>
              <a:prstDash val="solid"/>
              <a:miter/>
            </a:ln>
          </p:spPr>
        </p:sp>
        <p:sp>
          <p:nvSpPr>
            <p:cNvPr id="20" name="TextBox 20"/>
            <p:cNvSpPr txBox="1"/>
            <p:nvPr/>
          </p:nvSpPr>
          <p:spPr>
            <a:xfrm>
              <a:off x="0" y="-38100"/>
              <a:ext cx="1551036" cy="237464"/>
            </a:xfrm>
            <a:prstGeom prst="rect">
              <a:avLst/>
            </a:prstGeom>
          </p:spPr>
          <p:txBody>
            <a:bodyPr lIns="50800" tIns="50800" rIns="50800" bIns="50800" rtlCol="0" anchor="ctr"/>
            <a:lstStyle/>
            <a:p>
              <a:pPr algn="ctr">
                <a:lnSpc>
                  <a:spcPts val="2659"/>
                </a:lnSpc>
              </a:pPr>
              <a:endParaRPr/>
            </a:p>
          </p:txBody>
        </p:sp>
      </p:grpSp>
      <p:sp>
        <p:nvSpPr>
          <p:cNvPr id="21" name="Freeform 21"/>
          <p:cNvSpPr/>
          <p:nvPr/>
        </p:nvSpPr>
        <p:spPr>
          <a:xfrm>
            <a:off x="-4925441" y="3609788"/>
            <a:ext cx="9392643" cy="9529477"/>
          </a:xfrm>
          <a:custGeom>
            <a:avLst/>
            <a:gdLst/>
            <a:ahLst/>
            <a:cxnLst/>
            <a:rect l="l" t="t" r="r" b="b"/>
            <a:pathLst>
              <a:path w="9392643" h="9529477">
                <a:moveTo>
                  <a:pt x="0" y="0"/>
                </a:moveTo>
                <a:lnTo>
                  <a:pt x="9392643" y="0"/>
                </a:lnTo>
                <a:lnTo>
                  <a:pt x="9392643" y="9529476"/>
                </a:lnTo>
                <a:lnTo>
                  <a:pt x="0" y="9529476"/>
                </a:lnTo>
                <a:lnTo>
                  <a:pt x="0" y="0"/>
                </a:lnTo>
                <a:close/>
              </a:path>
            </a:pathLst>
          </a:custGeom>
          <a:blipFill>
            <a:blip r:embed="rId2">
              <a:alphaModFix amt="20999"/>
              <a:extLst>
                <a:ext uri="{96DAC541-7B7A-43D3-8B79-37D633B846F1}">
                  <asvg:svgBlip xmlns:asvg="http://schemas.microsoft.com/office/drawing/2016/SVG/main" r:embed="rId3"/>
                </a:ext>
              </a:extLst>
            </a:blip>
            <a:stretch>
              <a:fillRect/>
            </a:stretch>
          </a:blipFill>
        </p:spPr>
      </p:sp>
      <p:sp>
        <p:nvSpPr>
          <p:cNvPr id="25" name="AutoShape 4" descr="AI in Food Industry: Benefits, Use Cases &amp; Trends">
            <a:extLst>
              <a:ext uri="{FF2B5EF4-FFF2-40B4-BE49-F238E27FC236}">
                <a16:creationId xmlns:a16="http://schemas.microsoft.com/office/drawing/2014/main" id="{1A973B47-B52B-FD0C-FB2F-CC598EEBCB71}"/>
              </a:ext>
            </a:extLst>
          </p:cNvPr>
          <p:cNvSpPr>
            <a:spLocks noChangeAspect="1" noChangeArrowheads="1"/>
          </p:cNvSpPr>
          <p:nvPr/>
        </p:nvSpPr>
        <p:spPr bwMode="auto">
          <a:xfrm>
            <a:off x="8991600" y="-952500"/>
            <a:ext cx="6248400" cy="6248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6" name="AutoShape 6" descr="AI in Food Industry: Benefits, Use Cases &amp; Trends">
            <a:extLst>
              <a:ext uri="{FF2B5EF4-FFF2-40B4-BE49-F238E27FC236}">
                <a16:creationId xmlns:a16="http://schemas.microsoft.com/office/drawing/2014/main" id="{AC489928-595B-6ADF-2065-A7F096AB5293}"/>
              </a:ext>
            </a:extLst>
          </p:cNvPr>
          <p:cNvSpPr>
            <a:spLocks noChangeAspect="1" noChangeArrowheads="1"/>
          </p:cNvSpPr>
          <p:nvPr/>
        </p:nvSpPr>
        <p:spPr bwMode="auto">
          <a:xfrm>
            <a:off x="8991600" y="4991100"/>
            <a:ext cx="1447800" cy="1447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TotalTime>
  <Words>1427</Words>
  <Application>Microsoft Office PowerPoint</Application>
  <PresentationFormat>Custom</PresentationFormat>
  <Paragraphs>126</Paragraphs>
  <Slides>17</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Times New Roman</vt:lpstr>
      <vt:lpstr>Montserrat Bold</vt:lpstr>
      <vt:lpstr>Poppins</vt:lpstr>
      <vt:lpstr>Arial</vt:lpstr>
      <vt:lpstr>Calibri</vt:lpstr>
      <vt:lpstr>Roboto</vt:lpstr>
      <vt:lpstr>Bodoni MT</vt:lpstr>
      <vt:lpstr>Poppins Bold</vt:lpstr>
      <vt:lpstr>League Spartan</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Blue Professional Modern Technology Pitch Deck Presentation</dc:title>
  <dc:creator>Neeharika Reddy G</dc:creator>
  <cp:lastModifiedBy>Neeharika Reddy Gadikota</cp:lastModifiedBy>
  <cp:revision>3</cp:revision>
  <dcterms:created xsi:type="dcterms:W3CDTF">2006-08-16T00:00:00Z</dcterms:created>
  <dcterms:modified xsi:type="dcterms:W3CDTF">2025-11-18T01:33:01Z</dcterms:modified>
  <dc:identifier>DAG10QYNeog</dc:identifier>
</cp:coreProperties>
</file>