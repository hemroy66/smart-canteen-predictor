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handoutMasterIdLst>
    <p:handoutMasterId r:id="rId24"/>
  </p:handoutMasterIdLst>
  <p:sldIdLst>
    <p:sldId id="285" r:id="rId2"/>
    <p:sldId id="295" r:id="rId3"/>
    <p:sldId id="257" r:id="rId4"/>
    <p:sldId id="271" r:id="rId5"/>
    <p:sldId id="272" r:id="rId6"/>
    <p:sldId id="273" r:id="rId7"/>
    <p:sldId id="274" r:id="rId8"/>
    <p:sldId id="276" r:id="rId9"/>
    <p:sldId id="277" r:id="rId10"/>
    <p:sldId id="278" r:id="rId11"/>
    <p:sldId id="279" r:id="rId12"/>
    <p:sldId id="280" r:id="rId13"/>
    <p:sldId id="281" r:id="rId14"/>
    <p:sldId id="282" r:id="rId15"/>
    <p:sldId id="286" r:id="rId16"/>
    <p:sldId id="287" r:id="rId17"/>
    <p:sldId id="292" r:id="rId18"/>
    <p:sldId id="293" r:id="rId19"/>
    <p:sldId id="283" r:id="rId20"/>
    <p:sldId id="284" r:id="rId21"/>
    <p:sldId id="29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747177-67F5-4758-8180-4023CF34EB6E}" v="61" dt="2025-11-19T02:34:14.472"/>
  </p1510:revLst>
</p1510:revInfo>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706" autoAdjust="0"/>
  </p:normalViewPr>
  <p:slideViewPr>
    <p:cSldViewPr snapToGrid="0">
      <p:cViewPr varScale="1">
        <p:scale>
          <a:sx n="80" d="100"/>
          <a:sy n="80" d="100"/>
        </p:scale>
        <p:origin x="510" y="36"/>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11/19/2025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869989-EB00-4EE7-BCB5-25BDC5BB29F8}" type="slidenum">
              <a:rPr lang="en-US" smtClean="0"/>
              <a:t>3</a:t>
            </a:fld>
            <a:endParaRPr lang="en-US"/>
          </a:p>
        </p:txBody>
      </p:sp>
    </p:spTree>
    <p:extLst>
      <p:ext uri="{BB962C8B-B14F-4D97-AF65-F5344CB8AC3E}">
        <p14:creationId xmlns:p14="http://schemas.microsoft.com/office/powerpoint/2010/main" val="1980303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F6F00-24D1-D6BB-A74B-B51BAB1B7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BADF8-CE39-88EB-87EB-F5D3208A2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5BD8EB-7834-71E4-1348-936AD6E582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01D6F9-C85E-B432-49BF-43C5044C0FA0}"/>
              </a:ext>
            </a:extLst>
          </p:cNvPr>
          <p:cNvSpPr>
            <a:spLocks noGrp="1"/>
          </p:cNvSpPr>
          <p:nvPr>
            <p:ph type="sldNum" sz="quarter" idx="10"/>
          </p:nvPr>
        </p:nvSpPr>
        <p:spPr/>
        <p:txBody>
          <a:bodyPr/>
          <a:lstStyle/>
          <a:p>
            <a:fld id="{82869989-EB00-4EE7-BCB5-25BDC5BB29F8}" type="slidenum">
              <a:rPr lang="en-US" smtClean="0"/>
              <a:t>4</a:t>
            </a:fld>
            <a:endParaRPr lang="en-US"/>
          </a:p>
        </p:txBody>
      </p:sp>
    </p:spTree>
    <p:extLst>
      <p:ext uri="{BB962C8B-B14F-4D97-AF65-F5344CB8AC3E}">
        <p14:creationId xmlns:p14="http://schemas.microsoft.com/office/powerpoint/2010/main" val="529727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2869989-EB00-4EE7-BCB5-25BDC5BB29F8}" type="slidenum">
              <a:rPr lang="en-US" smtClean="0"/>
              <a:t>15</a:t>
            </a:fld>
            <a:endParaRPr lang="en-US"/>
          </a:p>
        </p:txBody>
      </p:sp>
    </p:spTree>
    <p:extLst>
      <p:ext uri="{BB962C8B-B14F-4D97-AF65-F5344CB8AC3E}">
        <p14:creationId xmlns:p14="http://schemas.microsoft.com/office/powerpoint/2010/main" val="3204671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E374B5B-21A0-4192-BF4C-38187F1A68D8}" type="datetime1">
              <a:rPr lang="en-US" smtClean="0"/>
              <a:t>11/19/2025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3B5CF7C-B333-48E1-A4A6-83A3C8B73AC0}" type="datetime1">
              <a:rPr lang="en-US" smtClean="0"/>
              <a:t>11/19/2025</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E320762-5CBF-4210-AB54-376B091119F8}" type="datetime1">
              <a:rPr lang="en-US" smtClean="0"/>
              <a:t>11/19/2025</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7F0DB371-BF5F-4058-A212-1A908E4D2674}" type="datetime1">
              <a:rPr lang="en-US" smtClean="0"/>
              <a:t>11/19/2025</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60A4083B-90AA-48CF-BAD5-00AA24D7F288}" type="datetime1">
              <a:rPr lang="en-US" smtClean="0"/>
              <a:t>11/19/2025</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11/19/2025</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84A29A4-78C8-47AB-BA06-22CB45938951}" type="datetime1">
              <a:rPr lang="en-US" smtClean="0"/>
              <a:t>11/19/2025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1ED4ACF-2D82-46F2-A8E9-23963AA34E86}" type="datetime1">
              <a:rPr lang="en-US" smtClean="0"/>
              <a:t>11/19/2025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11/19/2025</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jp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6" descr="MITS Deemed to be University Logo">
            <a:extLst>
              <a:ext uri="{FF2B5EF4-FFF2-40B4-BE49-F238E27FC236}">
                <a16:creationId xmlns:a16="http://schemas.microsoft.com/office/drawing/2014/main" id="{94CBF7CB-561D-36FB-4D60-EBA4DE46C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2713" y="184649"/>
            <a:ext cx="7306573" cy="12795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494DEB1-A887-7600-1A0E-27A510A0CA32}"/>
              </a:ext>
            </a:extLst>
          </p:cNvPr>
          <p:cNvSpPr txBox="1"/>
          <p:nvPr/>
        </p:nvSpPr>
        <p:spPr>
          <a:xfrm>
            <a:off x="1144435" y="1409495"/>
            <a:ext cx="10138913" cy="1938992"/>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AI-Based Canteen Food Demand Predictor Using Artificial Intelligence and Machine Learning</a:t>
            </a:r>
            <a:endParaRPr lang="en-IN" sz="4000" b="1" dirty="0"/>
          </a:p>
        </p:txBody>
      </p:sp>
      <p:sp>
        <p:nvSpPr>
          <p:cNvPr id="6" name="TextBox 5">
            <a:extLst>
              <a:ext uri="{FF2B5EF4-FFF2-40B4-BE49-F238E27FC236}">
                <a16:creationId xmlns:a16="http://schemas.microsoft.com/office/drawing/2014/main" id="{E39FEE6E-20B9-889D-3F42-6A8E1950D69F}"/>
              </a:ext>
            </a:extLst>
          </p:cNvPr>
          <p:cNvSpPr txBox="1"/>
          <p:nvPr/>
        </p:nvSpPr>
        <p:spPr>
          <a:xfrm>
            <a:off x="1483019" y="3278681"/>
            <a:ext cx="9461743" cy="461665"/>
          </a:xfrm>
          <a:prstGeom prst="rect">
            <a:avLst/>
          </a:prstGeom>
          <a:noFill/>
        </p:spPr>
        <p:txBody>
          <a:bodyPr wrap="square">
            <a:spAutoFit/>
          </a:bodyPr>
          <a:lstStyle/>
          <a:p>
            <a:pPr algn="ctr"/>
            <a:r>
              <a:rPr lang="en-US" sz="2400" b="1" dirty="0">
                <a:solidFill>
                  <a:schemeClr val="accent1"/>
                </a:solidFill>
                <a:latin typeface="Times New Roman" panose="02020603050405020304" pitchFamily="18" charset="0"/>
                <a:cs typeface="Times New Roman" panose="02020603050405020304" pitchFamily="18" charset="0"/>
              </a:rPr>
              <a:t>Smart Food Demand Prediction for Efficient &amp; Sustainable Canteens</a:t>
            </a:r>
            <a:endParaRPr lang="en-IN" sz="2400" b="1" dirty="0">
              <a:solidFill>
                <a:schemeClr val="accent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33DD438-7185-A7CD-6ECC-4F31E467C965}"/>
              </a:ext>
            </a:extLst>
          </p:cNvPr>
          <p:cNvSpPr txBox="1"/>
          <p:nvPr/>
        </p:nvSpPr>
        <p:spPr>
          <a:xfrm>
            <a:off x="1754038" y="3916392"/>
            <a:ext cx="3812875"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Hemanth Kumar </a:t>
            </a:r>
          </a:p>
          <a:p>
            <a:endParaRPr lang="en-IN" dirty="0"/>
          </a:p>
        </p:txBody>
      </p:sp>
      <p:sp>
        <p:nvSpPr>
          <p:cNvPr id="8" name="TextBox 7">
            <a:extLst>
              <a:ext uri="{FF2B5EF4-FFF2-40B4-BE49-F238E27FC236}">
                <a16:creationId xmlns:a16="http://schemas.microsoft.com/office/drawing/2014/main" id="{12A71B69-A6B5-A84E-3F8D-C2C82DBE0519}"/>
              </a:ext>
            </a:extLst>
          </p:cNvPr>
          <p:cNvSpPr txBox="1"/>
          <p:nvPr/>
        </p:nvSpPr>
        <p:spPr>
          <a:xfrm>
            <a:off x="6234023" y="3916392"/>
            <a:ext cx="4479985"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Project Guide</a:t>
            </a:r>
          </a:p>
          <a:p>
            <a:endParaRPr lang="en-IN" dirty="0"/>
          </a:p>
        </p:txBody>
      </p:sp>
    </p:spTree>
    <p:extLst>
      <p:ext uri="{BB962C8B-B14F-4D97-AF65-F5344CB8AC3E}">
        <p14:creationId xmlns:p14="http://schemas.microsoft.com/office/powerpoint/2010/main" val="982322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6409B-BAEC-6D7E-95A7-624C08B02720}"/>
              </a:ext>
            </a:extLst>
          </p:cNvPr>
          <p:cNvSpPr>
            <a:spLocks noGrp="1"/>
          </p:cNvSpPr>
          <p:nvPr>
            <p:ph type="title"/>
          </p:nvPr>
        </p:nvSpPr>
        <p:spPr>
          <a:xfrm>
            <a:off x="1547159" y="199053"/>
            <a:ext cx="9097682" cy="816947"/>
          </a:xfrm>
        </p:spPr>
        <p:txBody>
          <a:bodyPr>
            <a:normAutofit/>
          </a:bodyPr>
          <a:lstStyle/>
          <a:p>
            <a:pPr algn="ctr"/>
            <a:r>
              <a:rPr lang="en-US" sz="4400" dirty="0">
                <a:latin typeface="Times New Roman" panose="02020603050405020304" pitchFamily="18" charset="0"/>
                <a:cs typeface="Times New Roman" panose="02020603050405020304" pitchFamily="18" charset="0"/>
              </a:rPr>
              <a:t>Table of Contents</a:t>
            </a:r>
            <a:endParaRPr lang="en-IN"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BB3ABA-8DF9-A4A0-1BE0-8E40E7F119F7}"/>
              </a:ext>
            </a:extLst>
          </p:cNvPr>
          <p:cNvSpPr>
            <a:spLocks noGrp="1"/>
          </p:cNvSpPr>
          <p:nvPr>
            <p:ph idx="1"/>
          </p:nvPr>
        </p:nvSpPr>
        <p:spPr>
          <a:xfrm>
            <a:off x="1275229" y="974164"/>
            <a:ext cx="9641541" cy="5295153"/>
          </a:xfrm>
        </p:spPr>
        <p:txBody>
          <a:bodyPr>
            <a:normAutofit fontScale="92500" lnSpcReduction="10000"/>
          </a:bodyPr>
          <a:lstStyle/>
          <a:p>
            <a:pPr marL="0" indent="0">
              <a:buNone/>
            </a:pPr>
            <a:r>
              <a:rPr lang="en-IN" sz="2800" b="1" dirty="0">
                <a:latin typeface="Times New Roman" panose="02020603050405020304" pitchFamily="18" charset="0"/>
                <a:cs typeface="Times New Roman" panose="02020603050405020304" pitchFamily="18" charset="0"/>
              </a:rPr>
              <a:t>1.</a:t>
            </a:r>
            <a:r>
              <a:rPr lang="en-IN" sz="2800" dirty="0">
                <a:latin typeface="Times New Roman" panose="02020603050405020304" pitchFamily="18" charset="0"/>
                <a:cs typeface="Times New Roman" panose="02020603050405020304" pitchFamily="18" charset="0"/>
              </a:rPr>
              <a:t> Project Title, Student Details, Guide Name, Institution</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2.</a:t>
            </a:r>
            <a:r>
              <a:rPr lang="en-IN" sz="2800" dirty="0">
                <a:latin typeface="Times New Roman" panose="02020603050405020304" pitchFamily="18" charset="0"/>
                <a:cs typeface="Times New Roman" panose="02020603050405020304" pitchFamily="18" charset="0"/>
              </a:rPr>
              <a:t> Abstract</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3.</a:t>
            </a:r>
            <a:r>
              <a:rPr lang="en-IN" sz="2800" dirty="0">
                <a:latin typeface="Times New Roman" panose="02020603050405020304" pitchFamily="18" charset="0"/>
                <a:cs typeface="Times New Roman" panose="02020603050405020304" pitchFamily="18" charset="0"/>
              </a:rPr>
              <a:t> Problem Statement</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4.</a:t>
            </a:r>
            <a:r>
              <a:rPr lang="en-IN" sz="2800" dirty="0">
                <a:latin typeface="Times New Roman" panose="02020603050405020304" pitchFamily="18" charset="0"/>
                <a:cs typeface="Times New Roman" panose="02020603050405020304" pitchFamily="18" charset="0"/>
              </a:rPr>
              <a:t> Proposed System Features &amp; Workflow</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5.</a:t>
            </a:r>
            <a:r>
              <a:rPr lang="en-IN" sz="2800" dirty="0">
                <a:latin typeface="Times New Roman" panose="02020603050405020304" pitchFamily="18" charset="0"/>
                <a:cs typeface="Times New Roman" panose="02020603050405020304" pitchFamily="18" charset="0"/>
              </a:rPr>
              <a:t> System Architecture</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6.</a:t>
            </a:r>
            <a:r>
              <a:rPr lang="en-IN" sz="2800" dirty="0">
                <a:latin typeface="Times New Roman" panose="02020603050405020304" pitchFamily="18" charset="0"/>
                <a:cs typeface="Times New Roman" panose="02020603050405020304" pitchFamily="18" charset="0"/>
              </a:rPr>
              <a:t> Module List with Descriptions</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7.</a:t>
            </a: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UML Diagrams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 Use Case Diagram</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 Class Diagram</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8.</a:t>
            </a: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Database Design</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 ER Diagram</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 Table Structure</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9.</a:t>
            </a:r>
            <a:r>
              <a:rPr lang="en-IN" sz="2800" dirty="0">
                <a:latin typeface="Times New Roman" panose="02020603050405020304" pitchFamily="18" charset="0"/>
                <a:cs typeface="Times New Roman" panose="02020603050405020304" pitchFamily="18" charset="0"/>
              </a:rPr>
              <a:t> Sample Screenshots</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10.</a:t>
            </a:r>
            <a:r>
              <a:rPr lang="en-IN" sz="2800" dirty="0">
                <a:latin typeface="Times New Roman" panose="02020603050405020304" pitchFamily="18" charset="0"/>
                <a:cs typeface="Times New Roman" panose="02020603050405020304" pitchFamily="18" charset="0"/>
              </a:rPr>
              <a:t> Conclusion</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11.</a:t>
            </a:r>
            <a:r>
              <a:rPr lang="en-IN" sz="2800" dirty="0">
                <a:latin typeface="Times New Roman" panose="02020603050405020304" pitchFamily="18" charset="0"/>
                <a:cs typeface="Times New Roman" panose="02020603050405020304" pitchFamily="18" charset="0"/>
              </a:rPr>
              <a:t> Future Enhancements</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12.</a:t>
            </a:r>
            <a:r>
              <a:rPr lang="en-IN" sz="2800" dirty="0">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2538365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9392" y="124290"/>
            <a:ext cx="9601200" cy="1142385"/>
          </a:xfrm>
        </p:spPr>
        <p:txBody>
          <a:bodyPr>
            <a:normAutofit/>
          </a:bodyPr>
          <a:lstStyle/>
          <a:p>
            <a:pPr algn="ctr"/>
            <a:r>
              <a:rPr lang="en-US" sz="4800"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1249392" y="1354348"/>
            <a:ext cx="9601200" cy="4948686"/>
          </a:xfrm>
        </p:spPr>
        <p:txBody>
          <a:bodyPr>
            <a:normAutofit/>
          </a:bodyPr>
          <a:lstStyle/>
          <a:p>
            <a:pPr marL="0" indent="0" algn="just">
              <a:lnSpc>
                <a:spcPct val="100000"/>
              </a:lnSpc>
              <a:buNone/>
            </a:pPr>
            <a:r>
              <a:rPr lang="en-US" sz="2200" dirty="0">
                <a:latin typeface="Times New Roman" panose="02020603050405020304" pitchFamily="18" charset="0"/>
                <a:cs typeface="Times New Roman" panose="02020603050405020304" pitchFamily="18" charset="0"/>
              </a:rPr>
              <a:t>In most college canteens, food is often either wasted or insufficient to meet student demand due to inaccurate estimation of required quantities. The </a:t>
            </a:r>
            <a:r>
              <a:rPr lang="en-US" sz="2200" i="1" dirty="0">
                <a:latin typeface="Times New Roman" panose="02020603050405020304" pitchFamily="18" charset="0"/>
                <a:cs typeface="Times New Roman" panose="02020603050405020304" pitchFamily="18" charset="0"/>
              </a:rPr>
              <a:t>AI-Based Canteen Food Demand Predictor</a:t>
            </a:r>
            <a:r>
              <a:rPr lang="en-US" sz="2200" dirty="0">
                <a:latin typeface="Times New Roman" panose="02020603050405020304" pitchFamily="18" charset="0"/>
                <a:cs typeface="Times New Roman" panose="02020603050405020304" pitchFamily="18" charset="0"/>
              </a:rPr>
              <a:t> project aims to overcome this issue by forecasting the amount of food needed each day using Artificial Intelligence and Machine Learning techniques. The system leverages historical data, including student strength, past sales, weekdays, seasonal trends, and special occasions, to generate accurate demand predictions. Algorithms such as Linear Regression, Random Forest, and LSTM are utilized for model training and validation. By comparing predicted and actual consumption, the system continuously improves its accuracy. This project helps minimize food wastage, control costs, and enhance canteen efficiency, promoting sustainable and data-driven food management across educational institutions.</a:t>
            </a:r>
          </a:p>
          <a:p>
            <a:pPr marL="0" indent="0" algn="just">
              <a:lnSpc>
                <a:spcPct val="100000"/>
              </a:lnSpc>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4617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C690-35F5-9966-81FE-DA480D41B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2E15F2-44AF-C41A-240B-D6C74AC43C90}"/>
              </a:ext>
            </a:extLst>
          </p:cNvPr>
          <p:cNvSpPr>
            <a:spLocks noGrp="1"/>
          </p:cNvSpPr>
          <p:nvPr>
            <p:ph type="title"/>
          </p:nvPr>
        </p:nvSpPr>
        <p:spPr>
          <a:xfrm>
            <a:off x="1249392" y="124290"/>
            <a:ext cx="9601200" cy="1142385"/>
          </a:xfrm>
        </p:spPr>
        <p:txBody>
          <a:bodyPr>
            <a:normAutofit/>
          </a:bodyPr>
          <a:lstStyle/>
          <a:p>
            <a:pPr algn="ctr"/>
            <a:r>
              <a:rPr lang="en-US" sz="4800"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5154533C-B762-9A03-8179-A27233269094}"/>
              </a:ext>
            </a:extLst>
          </p:cNvPr>
          <p:cNvSpPr>
            <a:spLocks noGrp="1"/>
          </p:cNvSpPr>
          <p:nvPr>
            <p:ph idx="1"/>
          </p:nvPr>
        </p:nvSpPr>
        <p:spPr>
          <a:xfrm>
            <a:off x="639791" y="1319842"/>
            <a:ext cx="5525219" cy="4948686"/>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College canteens often face difficulties in estimating the right amount of food to prepare each day. Manual prediction leads to either excess food, causing wastage, or shortages, resulting in student dissatisfaction. Important factors like student strength, weekdays, and special events are often ignored. To overcome this, an AI-based system is needed to accurately predict daily food demand using historical data and machine learning techniques, reducing waste and improving canteen efficiency.</a:t>
            </a:r>
          </a:p>
        </p:txBody>
      </p:sp>
      <p:pic>
        <p:nvPicPr>
          <p:cNvPr id="6" name="Picture 5">
            <a:extLst>
              <a:ext uri="{FF2B5EF4-FFF2-40B4-BE49-F238E27FC236}">
                <a16:creationId xmlns:a16="http://schemas.microsoft.com/office/drawing/2014/main" id="{AAACA34E-1D31-3157-7D99-37F72DA7A3E2}"/>
              </a:ext>
            </a:extLst>
          </p:cNvPr>
          <p:cNvPicPr>
            <a:picLocks noChangeAspect="1"/>
          </p:cNvPicPr>
          <p:nvPr/>
        </p:nvPicPr>
        <p:blipFill>
          <a:blip r:embed="rId3"/>
          <a:srcRect l="4211" t="26299" r="4532" b="10977"/>
          <a:stretch>
            <a:fillRect/>
          </a:stretch>
        </p:blipFill>
        <p:spPr>
          <a:xfrm>
            <a:off x="6504317" y="1443487"/>
            <a:ext cx="5158596" cy="3830128"/>
          </a:xfrm>
          <a:prstGeom prst="rect">
            <a:avLst/>
          </a:prstGeom>
        </p:spPr>
      </p:pic>
    </p:spTree>
    <p:extLst>
      <p:ext uri="{BB962C8B-B14F-4D97-AF65-F5344CB8AC3E}">
        <p14:creationId xmlns:p14="http://schemas.microsoft.com/office/powerpoint/2010/main" val="369309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A55DF-2AC5-3C48-135E-E724B5A74236}"/>
              </a:ext>
            </a:extLst>
          </p:cNvPr>
          <p:cNvSpPr>
            <a:spLocks noGrp="1"/>
          </p:cNvSpPr>
          <p:nvPr>
            <p:ph type="title"/>
          </p:nvPr>
        </p:nvSpPr>
        <p:spPr>
          <a:xfrm>
            <a:off x="1232140" y="-147118"/>
            <a:ext cx="9601200" cy="1142385"/>
          </a:xfrm>
        </p:spPr>
        <p:txBody>
          <a:bodyPr>
            <a:normAutofit/>
          </a:bodyPr>
          <a:lstStyle/>
          <a:p>
            <a:pPr algn="ctr"/>
            <a:r>
              <a:rPr lang="en-IN" sz="4800" dirty="0">
                <a:latin typeface="Times New Roman" panose="02020603050405020304" pitchFamily="18" charset="0"/>
                <a:cs typeface="Times New Roman" panose="02020603050405020304" pitchFamily="18" charset="0"/>
              </a:rPr>
              <a:t>Proposed System</a:t>
            </a:r>
          </a:p>
        </p:txBody>
      </p:sp>
      <p:sp>
        <p:nvSpPr>
          <p:cNvPr id="9" name="TextBox 8">
            <a:extLst>
              <a:ext uri="{FF2B5EF4-FFF2-40B4-BE49-F238E27FC236}">
                <a16:creationId xmlns:a16="http://schemas.microsoft.com/office/drawing/2014/main" id="{06A90FB7-85EC-B0F9-8499-FB66354E2826}"/>
              </a:ext>
            </a:extLst>
          </p:cNvPr>
          <p:cNvSpPr txBox="1"/>
          <p:nvPr/>
        </p:nvSpPr>
        <p:spPr>
          <a:xfrm>
            <a:off x="921588" y="995267"/>
            <a:ext cx="9723408" cy="486287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 Data Collection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collects all relevant historical and contextual data such as: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Daily sales records for each food item</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Student attendance and footfall data</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Day type (weekday/weekend)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Seasonal patterns and monthly trends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information (optional)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Special events, holidays, exam days, cultural fests, etc.</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2. Data Preprocessing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ensure high-quality input for the model: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Removal of duplicates and inconsistent records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Handling missing values (mean/mode imputation)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Encoding categorical variables (day, event type, item category)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Normalizing/standardizing numerical values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Splitting data into </a:t>
            </a:r>
            <a:r>
              <a:rPr lang="en-US" b="1" dirty="0">
                <a:latin typeface="Times New Roman" panose="02020603050405020304" pitchFamily="18" charset="0"/>
                <a:cs typeface="Times New Roman" panose="02020603050405020304" pitchFamily="18" charset="0"/>
              </a:rPr>
              <a:t>training</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validation</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testing</a:t>
            </a:r>
            <a:r>
              <a:rPr lang="en-US" dirty="0">
                <a:latin typeface="Times New Roman" panose="02020603050405020304" pitchFamily="18" charset="0"/>
                <a:cs typeface="Times New Roman" panose="02020603050405020304" pitchFamily="18" charset="0"/>
              </a:rPr>
              <a:t> sets</a:t>
            </a:r>
          </a:p>
        </p:txBody>
      </p:sp>
      <p:pic>
        <p:nvPicPr>
          <p:cNvPr id="4100" name="Picture 4" descr="Machine Learning and Artificial Intelligence in the Food Industry | SPD  Technology">
            <a:extLst>
              <a:ext uri="{FF2B5EF4-FFF2-40B4-BE49-F238E27FC236}">
                <a16:creationId xmlns:a16="http://schemas.microsoft.com/office/drawing/2014/main" id="{72BE98A4-ADD8-8B33-A171-9B26B839E8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6306" y="2105108"/>
            <a:ext cx="4876799" cy="2643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962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D4B5A-0550-3680-7C56-CF52889AA2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E0E4C-C806-A180-7F16-C968D4C52140}"/>
              </a:ext>
            </a:extLst>
          </p:cNvPr>
          <p:cNvSpPr>
            <a:spLocks noGrp="1"/>
          </p:cNvSpPr>
          <p:nvPr>
            <p:ph type="title"/>
          </p:nvPr>
        </p:nvSpPr>
        <p:spPr>
          <a:xfrm>
            <a:off x="1232140" y="-147118"/>
            <a:ext cx="9601200" cy="1142385"/>
          </a:xfrm>
        </p:spPr>
        <p:txBody>
          <a:bodyPr>
            <a:normAutofit/>
          </a:bodyPr>
          <a:lstStyle/>
          <a:p>
            <a:pPr algn="ctr"/>
            <a:r>
              <a:rPr lang="en-IN" sz="4800" dirty="0">
                <a:latin typeface="Times New Roman" panose="02020603050405020304" pitchFamily="18" charset="0"/>
                <a:cs typeface="Times New Roman" panose="02020603050405020304" pitchFamily="18" charset="0"/>
              </a:rPr>
              <a:t>Proposed System</a:t>
            </a:r>
          </a:p>
        </p:txBody>
      </p:sp>
      <p:sp>
        <p:nvSpPr>
          <p:cNvPr id="9" name="TextBox 8">
            <a:extLst>
              <a:ext uri="{FF2B5EF4-FFF2-40B4-BE49-F238E27FC236}">
                <a16:creationId xmlns:a16="http://schemas.microsoft.com/office/drawing/2014/main" id="{3509A393-FD1D-DDCC-DBDC-9EA9B92BD1A7}"/>
              </a:ext>
            </a:extLst>
          </p:cNvPr>
          <p:cNvSpPr txBox="1"/>
          <p:nvPr/>
        </p:nvSpPr>
        <p:spPr>
          <a:xfrm>
            <a:off x="921588" y="995267"/>
            <a:ext cx="9723408" cy="486287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3. Feature Selection &amp; Extraction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Identify and select important factors influencing demand: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Day of the week</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Student strength (present students)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Previous day/weekly sales trends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Event indicators (festivals, exams, special menus)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influence (optional)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Category of food item (snacks, meals, beverages)</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4. Model Training &amp; Testing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Multiple machine-learning algorithms are trained and evaluated, such as: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Linear Regression</a:t>
            </a:r>
            <a:r>
              <a:rPr lang="en-US" dirty="0">
                <a:latin typeface="Times New Roman" panose="02020603050405020304" pitchFamily="18" charset="0"/>
                <a:cs typeface="Times New Roman" panose="02020603050405020304" pitchFamily="18" charset="0"/>
              </a:rPr>
              <a:t> — baseline prediction model</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Random Forest Regressor</a:t>
            </a:r>
            <a:r>
              <a:rPr lang="en-US" dirty="0">
                <a:latin typeface="Times New Roman" panose="02020603050405020304" pitchFamily="18" charset="0"/>
                <a:cs typeface="Times New Roman" panose="02020603050405020304" pitchFamily="18" charset="0"/>
              </a:rPr>
              <a:t> — handles non-linear patterns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LSTM Neural Network</a:t>
            </a:r>
            <a:r>
              <a:rPr lang="en-US" dirty="0">
                <a:latin typeface="Times New Roman" panose="02020603050405020304" pitchFamily="18" charset="0"/>
                <a:cs typeface="Times New Roman" panose="02020603050405020304" pitchFamily="18" charset="0"/>
              </a:rPr>
              <a:t> — learns time-series trends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Models are tested on unseen data to measure accuracy using metrics like </a:t>
            </a:r>
            <a:r>
              <a:rPr lang="en-US" b="1" dirty="0">
                <a:latin typeface="Times New Roman" panose="02020603050405020304" pitchFamily="18" charset="0"/>
                <a:cs typeface="Times New Roman" panose="02020603050405020304" pitchFamily="18" charset="0"/>
              </a:rPr>
              <a:t>RMSE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MAE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R² Score</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54514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98389-8850-DDDA-BAA7-3850815AD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1043E-D029-0AF5-61A9-5438AD1AC2C4}"/>
              </a:ext>
            </a:extLst>
          </p:cNvPr>
          <p:cNvSpPr>
            <a:spLocks noGrp="1"/>
          </p:cNvSpPr>
          <p:nvPr>
            <p:ph type="title"/>
          </p:nvPr>
        </p:nvSpPr>
        <p:spPr>
          <a:xfrm>
            <a:off x="1232140" y="0"/>
            <a:ext cx="9601200" cy="1142385"/>
          </a:xfrm>
        </p:spPr>
        <p:txBody>
          <a:bodyPr>
            <a:normAutofit/>
          </a:bodyPr>
          <a:lstStyle/>
          <a:p>
            <a:pPr algn="ctr"/>
            <a:r>
              <a:rPr lang="en-IN" sz="4800" dirty="0">
                <a:latin typeface="Times New Roman" panose="02020603050405020304" pitchFamily="18" charset="0"/>
                <a:cs typeface="Times New Roman" panose="02020603050405020304" pitchFamily="18" charset="0"/>
              </a:rPr>
              <a:t>Proposed System</a:t>
            </a:r>
          </a:p>
        </p:txBody>
      </p:sp>
      <p:sp>
        <p:nvSpPr>
          <p:cNvPr id="9" name="TextBox 8">
            <a:extLst>
              <a:ext uri="{FF2B5EF4-FFF2-40B4-BE49-F238E27FC236}">
                <a16:creationId xmlns:a16="http://schemas.microsoft.com/office/drawing/2014/main" id="{C4C34A3A-6BA1-E36E-28C5-84E855056A97}"/>
              </a:ext>
            </a:extLst>
          </p:cNvPr>
          <p:cNvSpPr txBox="1"/>
          <p:nvPr/>
        </p:nvSpPr>
        <p:spPr>
          <a:xfrm>
            <a:off x="1109932" y="1846407"/>
            <a:ext cx="9723408" cy="236988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5. Forecasting &amp; Dashboard Integration</a:t>
            </a:r>
          </a:p>
          <a:p>
            <a:r>
              <a:rPr lang="en-US" sz="2000" dirty="0">
                <a:latin typeface="Times New Roman" panose="02020603050405020304" pitchFamily="18" charset="0"/>
                <a:cs typeface="Times New Roman" panose="02020603050405020304" pitchFamily="18" charset="0"/>
              </a:rPr>
              <a:t>After model training:</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generates </a:t>
            </a:r>
            <a:r>
              <a:rPr lang="en-US" sz="2000" b="1" dirty="0">
                <a:latin typeface="Times New Roman" panose="02020603050405020304" pitchFamily="18" charset="0"/>
                <a:cs typeface="Times New Roman" panose="02020603050405020304" pitchFamily="18" charset="0"/>
              </a:rPr>
              <a:t>daily/weekly food demand predictions</a:t>
            </a:r>
            <a:r>
              <a:rPr lang="en-US" sz="2000" dirty="0">
                <a:latin typeface="Times New Roman" panose="02020603050405020304" pitchFamily="18" charset="0"/>
                <a:cs typeface="Times New Roman" panose="02020603050405020304" pitchFamily="18" charset="0"/>
              </a:rPr>
              <a:t> for each menu item</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Results are displayed through a </a:t>
            </a:r>
            <a:r>
              <a:rPr lang="en-US" sz="2000" b="1" dirty="0">
                <a:latin typeface="Times New Roman" panose="02020603050405020304" pitchFamily="18" charset="0"/>
                <a:cs typeface="Times New Roman" panose="02020603050405020304" pitchFamily="18" charset="0"/>
              </a:rPr>
              <a:t>dashboard</a:t>
            </a:r>
            <a:r>
              <a:rPr lang="en-US" sz="2000" dirty="0">
                <a:latin typeface="Times New Roman" panose="02020603050405020304" pitchFamily="18" charset="0"/>
                <a:cs typeface="Times New Roman" panose="02020603050405020304" pitchFamily="18" charset="0"/>
              </a:rPr>
              <a:t> with charts, trend lines, and quantities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Canteen staff can </a:t>
            </a:r>
            <a:r>
              <a:rPr lang="en-US" sz="2000" b="1" dirty="0">
                <a:latin typeface="Times New Roman" panose="02020603050405020304" pitchFamily="18" charset="0"/>
                <a:cs typeface="Times New Roman" panose="02020603050405020304" pitchFamily="18" charset="0"/>
              </a:rPr>
              <a:t>download reports</a:t>
            </a:r>
            <a:r>
              <a:rPr lang="en-US" sz="2000" dirty="0">
                <a:latin typeface="Times New Roman" panose="02020603050405020304" pitchFamily="18" charset="0"/>
                <a:cs typeface="Times New Roman" panose="02020603050405020304" pitchFamily="18" charset="0"/>
              </a:rPr>
              <a:t>, plan procurement, and reduce both wastage and shortages</a:t>
            </a:r>
          </a:p>
          <a:p>
            <a:r>
              <a:rPr lang="en-US" sz="2000" dirty="0">
                <a:latin typeface="Times New Roman" panose="02020603050405020304" pitchFamily="18" charset="0"/>
                <a:cs typeface="Times New Roman" panose="02020603050405020304" pitchFamily="18" charset="0"/>
              </a:rPr>
              <a:t>This makes the system practical and ready for real-world use.</a:t>
            </a:r>
          </a:p>
        </p:txBody>
      </p:sp>
    </p:spTree>
    <p:extLst>
      <p:ext uri="{BB962C8B-B14F-4D97-AF65-F5344CB8AC3E}">
        <p14:creationId xmlns:p14="http://schemas.microsoft.com/office/powerpoint/2010/main" val="2655696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F2447-7D4D-D1E0-5CE8-239CEC1CE21E}"/>
              </a:ext>
            </a:extLst>
          </p:cNvPr>
          <p:cNvSpPr>
            <a:spLocks noGrp="1"/>
          </p:cNvSpPr>
          <p:nvPr>
            <p:ph type="title"/>
          </p:nvPr>
        </p:nvSpPr>
        <p:spPr>
          <a:xfrm>
            <a:off x="1295400" y="-226517"/>
            <a:ext cx="9601200" cy="1142385"/>
          </a:xfrm>
        </p:spPr>
        <p:txBody>
          <a:bodyPr>
            <a:normAutofit/>
          </a:bodyPr>
          <a:lstStyle/>
          <a:p>
            <a:pPr algn="ctr"/>
            <a:r>
              <a:rPr lang="en-IN" sz="4800" dirty="0">
                <a:latin typeface="Times New Roman" panose="02020603050405020304" pitchFamily="18" charset="0"/>
                <a:cs typeface="Times New Roman" panose="02020603050405020304" pitchFamily="18" charset="0"/>
              </a:rPr>
              <a:t>System Workflow</a:t>
            </a:r>
          </a:p>
        </p:txBody>
      </p:sp>
      <p:pic>
        <p:nvPicPr>
          <p:cNvPr id="5" name="Content Placeholder 4">
            <a:extLst>
              <a:ext uri="{FF2B5EF4-FFF2-40B4-BE49-F238E27FC236}">
                <a16:creationId xmlns:a16="http://schemas.microsoft.com/office/drawing/2014/main" id="{E152C3A5-E1C6-D15B-B23D-3287A4B8A7E3}"/>
              </a:ext>
            </a:extLst>
          </p:cNvPr>
          <p:cNvPicPr>
            <a:picLocks noGrp="1" noChangeAspect="1"/>
          </p:cNvPicPr>
          <p:nvPr>
            <p:ph idx="1"/>
          </p:nvPr>
        </p:nvPicPr>
        <p:blipFill>
          <a:blip r:embed="rId2"/>
          <a:stretch>
            <a:fillRect/>
          </a:stretch>
        </p:blipFill>
        <p:spPr>
          <a:xfrm>
            <a:off x="4238445" y="1052423"/>
            <a:ext cx="3686355" cy="5003320"/>
          </a:xfrm>
          <a:prstGeom prst="rect">
            <a:avLst/>
          </a:prstGeom>
        </p:spPr>
      </p:pic>
    </p:spTree>
    <p:extLst>
      <p:ext uri="{BB962C8B-B14F-4D97-AF65-F5344CB8AC3E}">
        <p14:creationId xmlns:p14="http://schemas.microsoft.com/office/powerpoint/2010/main" val="6011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63BE7-CF1C-C2EF-FD77-24910769E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F06A6-B9CF-EED0-8BDF-9E071A0548A7}"/>
              </a:ext>
            </a:extLst>
          </p:cNvPr>
          <p:cNvSpPr>
            <a:spLocks noGrp="1"/>
          </p:cNvSpPr>
          <p:nvPr>
            <p:ph type="title"/>
          </p:nvPr>
        </p:nvSpPr>
        <p:spPr>
          <a:xfrm>
            <a:off x="1295400" y="-226517"/>
            <a:ext cx="9601200" cy="1142385"/>
          </a:xfrm>
        </p:spPr>
        <p:txBody>
          <a:bodyPr>
            <a:normAutofit/>
          </a:bodyPr>
          <a:lstStyle/>
          <a:p>
            <a:pPr algn="ctr"/>
            <a:r>
              <a:rPr lang="en-IN" sz="4800" dirty="0">
                <a:latin typeface="Times New Roman" panose="02020603050405020304" pitchFamily="18" charset="0"/>
                <a:cs typeface="Times New Roman" panose="02020603050405020304" pitchFamily="18" charset="0"/>
              </a:rPr>
              <a:t>System Architecture</a:t>
            </a:r>
          </a:p>
        </p:txBody>
      </p:sp>
      <p:pic>
        <p:nvPicPr>
          <p:cNvPr id="7" name="Content Placeholder 6">
            <a:extLst>
              <a:ext uri="{FF2B5EF4-FFF2-40B4-BE49-F238E27FC236}">
                <a16:creationId xmlns:a16="http://schemas.microsoft.com/office/drawing/2014/main" id="{DABDB9D6-079C-FCF1-94BF-B2E8B9A5F079}"/>
              </a:ext>
            </a:extLst>
          </p:cNvPr>
          <p:cNvPicPr>
            <a:picLocks noGrp="1" noChangeAspect="1"/>
          </p:cNvPicPr>
          <p:nvPr>
            <p:ph idx="1"/>
          </p:nvPr>
        </p:nvPicPr>
        <p:blipFill>
          <a:blip r:embed="rId2"/>
          <a:stretch>
            <a:fillRect/>
          </a:stretch>
        </p:blipFill>
        <p:spPr>
          <a:xfrm>
            <a:off x="621102" y="1316967"/>
            <a:ext cx="10949796" cy="4307456"/>
          </a:xfrm>
          <a:prstGeom prst="rect">
            <a:avLst/>
          </a:prstGeom>
        </p:spPr>
      </p:pic>
    </p:spTree>
    <p:extLst>
      <p:ext uri="{BB962C8B-B14F-4D97-AF65-F5344CB8AC3E}">
        <p14:creationId xmlns:p14="http://schemas.microsoft.com/office/powerpoint/2010/main" val="1507310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7CA80-83C0-9664-3FFD-93B541A6D432}"/>
              </a:ext>
            </a:extLst>
          </p:cNvPr>
          <p:cNvSpPr>
            <a:spLocks noGrp="1"/>
          </p:cNvSpPr>
          <p:nvPr>
            <p:ph type="title"/>
          </p:nvPr>
        </p:nvSpPr>
        <p:spPr>
          <a:xfrm>
            <a:off x="1364411" y="0"/>
            <a:ext cx="9601200" cy="1142385"/>
          </a:xfrm>
        </p:spPr>
        <p:txBody>
          <a:bodyPr>
            <a:normAutofit/>
          </a:bodyPr>
          <a:lstStyle/>
          <a:p>
            <a:pPr algn="ctr"/>
            <a:r>
              <a:rPr lang="en-IN" sz="4800" dirty="0">
                <a:latin typeface="Times New Roman" panose="02020603050405020304" pitchFamily="18" charset="0"/>
                <a:cs typeface="Times New Roman" panose="02020603050405020304" pitchFamily="18" charset="0"/>
              </a:rPr>
              <a:t>Module List with Descriptions</a:t>
            </a:r>
          </a:p>
        </p:txBody>
      </p:sp>
      <p:sp>
        <p:nvSpPr>
          <p:cNvPr id="5" name="Rectangle: Rounded Corners 4">
            <a:extLst>
              <a:ext uri="{FF2B5EF4-FFF2-40B4-BE49-F238E27FC236}">
                <a16:creationId xmlns:a16="http://schemas.microsoft.com/office/drawing/2014/main" id="{62F30019-C832-65D1-385A-881185631813}"/>
              </a:ext>
            </a:extLst>
          </p:cNvPr>
          <p:cNvSpPr/>
          <p:nvPr/>
        </p:nvSpPr>
        <p:spPr>
          <a:xfrm>
            <a:off x="6456871" y="1243026"/>
            <a:ext cx="5382883" cy="1604513"/>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Gathers historical data including daily sales, student attendance, weekdays, seasonal trends, weather, and special events.</a:t>
            </a:r>
          </a:p>
          <a:p>
            <a:pPr marL="285750" indent="-28575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Ensures sufficient and relevant data is available for model training.</a:t>
            </a:r>
          </a:p>
        </p:txBody>
      </p:sp>
      <p:sp>
        <p:nvSpPr>
          <p:cNvPr id="6" name="Rectangle: Rounded Corners 5">
            <a:extLst>
              <a:ext uri="{FF2B5EF4-FFF2-40B4-BE49-F238E27FC236}">
                <a16:creationId xmlns:a16="http://schemas.microsoft.com/office/drawing/2014/main" id="{87BBA415-6303-C504-1817-9A2A06CEF91A}"/>
              </a:ext>
            </a:extLst>
          </p:cNvPr>
          <p:cNvSpPr/>
          <p:nvPr/>
        </p:nvSpPr>
        <p:spPr>
          <a:xfrm>
            <a:off x="6456871" y="4408921"/>
            <a:ext cx="5382883" cy="1604513"/>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Identifies key factors influencing food demand such as day of the week, student strength, past sales, and event indicators.</a:t>
            </a:r>
          </a:p>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Extracted features are used as inputs for machine learning models.</a:t>
            </a:r>
          </a:p>
        </p:txBody>
      </p:sp>
      <p:sp>
        <p:nvSpPr>
          <p:cNvPr id="7" name="Rectangle: Rounded Corners 6">
            <a:extLst>
              <a:ext uri="{FF2B5EF4-FFF2-40B4-BE49-F238E27FC236}">
                <a16:creationId xmlns:a16="http://schemas.microsoft.com/office/drawing/2014/main" id="{386F0AB2-3276-B6B2-811F-3E3F8B65E3E9}"/>
              </a:ext>
            </a:extLst>
          </p:cNvPr>
          <p:cNvSpPr/>
          <p:nvPr/>
        </p:nvSpPr>
        <p:spPr>
          <a:xfrm>
            <a:off x="782128" y="2956805"/>
            <a:ext cx="5382883" cy="1604513"/>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Cleans the data by handling missing values, duplicates, and irrelevant entries.</a:t>
            </a:r>
          </a:p>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Encodes categorical variables and normalizes data to improve model accuracy.</a:t>
            </a:r>
          </a:p>
        </p:txBody>
      </p:sp>
      <p:sp>
        <p:nvSpPr>
          <p:cNvPr id="8" name="TextBox 7">
            <a:extLst>
              <a:ext uri="{FF2B5EF4-FFF2-40B4-BE49-F238E27FC236}">
                <a16:creationId xmlns:a16="http://schemas.microsoft.com/office/drawing/2014/main" id="{9C941F4B-6B41-5C75-D19B-494EE5814750}"/>
              </a:ext>
            </a:extLst>
          </p:cNvPr>
          <p:cNvSpPr txBox="1"/>
          <p:nvPr/>
        </p:nvSpPr>
        <p:spPr>
          <a:xfrm>
            <a:off x="994912" y="1674512"/>
            <a:ext cx="4957313"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Data Collection Module</a:t>
            </a:r>
          </a:p>
        </p:txBody>
      </p:sp>
      <p:sp>
        <p:nvSpPr>
          <p:cNvPr id="9" name="TextBox 8">
            <a:extLst>
              <a:ext uri="{FF2B5EF4-FFF2-40B4-BE49-F238E27FC236}">
                <a16:creationId xmlns:a16="http://schemas.microsoft.com/office/drawing/2014/main" id="{3353FD18-DB64-0A11-A13A-3810B9A23B27}"/>
              </a:ext>
            </a:extLst>
          </p:cNvPr>
          <p:cNvSpPr txBox="1"/>
          <p:nvPr/>
        </p:nvSpPr>
        <p:spPr>
          <a:xfrm>
            <a:off x="6498566" y="3466675"/>
            <a:ext cx="5341188"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Data Preprocessing Module</a:t>
            </a:r>
          </a:p>
        </p:txBody>
      </p:sp>
      <p:sp>
        <p:nvSpPr>
          <p:cNvPr id="10" name="TextBox 9">
            <a:extLst>
              <a:ext uri="{FF2B5EF4-FFF2-40B4-BE49-F238E27FC236}">
                <a16:creationId xmlns:a16="http://schemas.microsoft.com/office/drawing/2014/main" id="{4B5A2DDF-62B0-E2FF-878C-955D0EC3878D}"/>
              </a:ext>
            </a:extLst>
          </p:cNvPr>
          <p:cNvSpPr txBox="1"/>
          <p:nvPr/>
        </p:nvSpPr>
        <p:spPr>
          <a:xfrm>
            <a:off x="803692" y="4918789"/>
            <a:ext cx="533975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Feature Engineering Module</a:t>
            </a:r>
          </a:p>
        </p:txBody>
      </p:sp>
    </p:spTree>
    <p:extLst>
      <p:ext uri="{BB962C8B-B14F-4D97-AF65-F5344CB8AC3E}">
        <p14:creationId xmlns:p14="http://schemas.microsoft.com/office/powerpoint/2010/main" val="3886564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04B86-2B23-DF00-B593-8ECAC106C0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01DA3-4763-1DCE-7A45-8AAE67A562F1}"/>
              </a:ext>
            </a:extLst>
          </p:cNvPr>
          <p:cNvSpPr>
            <a:spLocks noGrp="1"/>
          </p:cNvSpPr>
          <p:nvPr>
            <p:ph type="title"/>
          </p:nvPr>
        </p:nvSpPr>
        <p:spPr>
          <a:xfrm>
            <a:off x="1364411" y="0"/>
            <a:ext cx="9601200" cy="1142385"/>
          </a:xfrm>
        </p:spPr>
        <p:txBody>
          <a:bodyPr>
            <a:normAutofit/>
          </a:bodyPr>
          <a:lstStyle/>
          <a:p>
            <a:pPr algn="ctr"/>
            <a:r>
              <a:rPr lang="en-IN" sz="4800" dirty="0">
                <a:latin typeface="Times New Roman" panose="02020603050405020304" pitchFamily="18" charset="0"/>
                <a:cs typeface="Times New Roman" panose="02020603050405020304" pitchFamily="18" charset="0"/>
              </a:rPr>
              <a:t>Module List with Descriptions</a:t>
            </a:r>
          </a:p>
        </p:txBody>
      </p:sp>
      <p:sp>
        <p:nvSpPr>
          <p:cNvPr id="5" name="Rectangle: Rounded Corners 4">
            <a:extLst>
              <a:ext uri="{FF2B5EF4-FFF2-40B4-BE49-F238E27FC236}">
                <a16:creationId xmlns:a16="http://schemas.microsoft.com/office/drawing/2014/main" id="{AF073B73-EBFE-632A-BF2B-44DF3D1A41C2}"/>
              </a:ext>
            </a:extLst>
          </p:cNvPr>
          <p:cNvSpPr/>
          <p:nvPr/>
        </p:nvSpPr>
        <p:spPr>
          <a:xfrm>
            <a:off x="6456871" y="1243026"/>
            <a:ext cx="5382883" cy="1604513"/>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Implements machine learning algorithms like Linear Regression, Random Forest, and LSTM to train prediction models.</a:t>
            </a:r>
          </a:p>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Splits data into training and testing sets to evaluate performance and ensure accuracy.</a:t>
            </a:r>
          </a:p>
        </p:txBody>
      </p:sp>
      <p:sp>
        <p:nvSpPr>
          <p:cNvPr id="6" name="Rectangle: Rounded Corners 5">
            <a:extLst>
              <a:ext uri="{FF2B5EF4-FFF2-40B4-BE49-F238E27FC236}">
                <a16:creationId xmlns:a16="http://schemas.microsoft.com/office/drawing/2014/main" id="{DE6399B8-FA9F-B09C-3E52-5B00036087D4}"/>
              </a:ext>
            </a:extLst>
          </p:cNvPr>
          <p:cNvSpPr/>
          <p:nvPr/>
        </p:nvSpPr>
        <p:spPr>
          <a:xfrm>
            <a:off x="6456871" y="4408921"/>
            <a:ext cx="5382883" cy="1604513"/>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Displays demand forecasts and insights in a user-friendly interface.</a:t>
            </a:r>
          </a:p>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Helps canteen managers make informed decisions, reduce waste, and optimize resources.</a:t>
            </a:r>
          </a:p>
        </p:txBody>
      </p:sp>
      <p:sp>
        <p:nvSpPr>
          <p:cNvPr id="7" name="Rectangle: Rounded Corners 6">
            <a:extLst>
              <a:ext uri="{FF2B5EF4-FFF2-40B4-BE49-F238E27FC236}">
                <a16:creationId xmlns:a16="http://schemas.microsoft.com/office/drawing/2014/main" id="{6FD99724-AEC2-81CC-1911-58C1994CADB0}"/>
              </a:ext>
            </a:extLst>
          </p:cNvPr>
          <p:cNvSpPr/>
          <p:nvPr/>
        </p:nvSpPr>
        <p:spPr>
          <a:xfrm>
            <a:off x="782128" y="2956805"/>
            <a:ext cx="5382883" cy="1604513"/>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Uses trained models to predict daily demand for each food item.</a:t>
            </a:r>
          </a:p>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Continuously updates predictions based on feedback and new data.</a:t>
            </a:r>
          </a:p>
        </p:txBody>
      </p:sp>
      <p:sp>
        <p:nvSpPr>
          <p:cNvPr id="8" name="TextBox 7">
            <a:extLst>
              <a:ext uri="{FF2B5EF4-FFF2-40B4-BE49-F238E27FC236}">
                <a16:creationId xmlns:a16="http://schemas.microsoft.com/office/drawing/2014/main" id="{4C8B9B93-044D-60ED-1620-26A19500B901}"/>
              </a:ext>
            </a:extLst>
          </p:cNvPr>
          <p:cNvSpPr txBox="1"/>
          <p:nvPr/>
        </p:nvSpPr>
        <p:spPr>
          <a:xfrm>
            <a:off x="569344" y="1752894"/>
            <a:ext cx="5382882"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ML Model Training Module</a:t>
            </a:r>
          </a:p>
        </p:txBody>
      </p:sp>
      <p:sp>
        <p:nvSpPr>
          <p:cNvPr id="9" name="TextBox 8">
            <a:extLst>
              <a:ext uri="{FF2B5EF4-FFF2-40B4-BE49-F238E27FC236}">
                <a16:creationId xmlns:a16="http://schemas.microsoft.com/office/drawing/2014/main" id="{7AF1B672-D749-3479-DD34-EC9673C8BDBA}"/>
              </a:ext>
            </a:extLst>
          </p:cNvPr>
          <p:cNvSpPr txBox="1"/>
          <p:nvPr/>
        </p:nvSpPr>
        <p:spPr>
          <a:xfrm>
            <a:off x="6477718" y="3150373"/>
            <a:ext cx="5341188" cy="1077218"/>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Forecasting &amp; Prediction Module</a:t>
            </a:r>
            <a:endParaRPr lang="en-IN" sz="3200" dirty="0"/>
          </a:p>
        </p:txBody>
      </p:sp>
      <p:sp>
        <p:nvSpPr>
          <p:cNvPr id="10" name="TextBox 9">
            <a:extLst>
              <a:ext uri="{FF2B5EF4-FFF2-40B4-BE49-F238E27FC236}">
                <a16:creationId xmlns:a16="http://schemas.microsoft.com/office/drawing/2014/main" id="{E05F2718-B3B0-39B7-4209-E76E3B6E33E2}"/>
              </a:ext>
            </a:extLst>
          </p:cNvPr>
          <p:cNvSpPr txBox="1"/>
          <p:nvPr/>
        </p:nvSpPr>
        <p:spPr>
          <a:xfrm>
            <a:off x="803692" y="4918789"/>
            <a:ext cx="533975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Report &amp; Dashboard Module</a:t>
            </a:r>
          </a:p>
        </p:txBody>
      </p:sp>
    </p:spTree>
    <p:extLst>
      <p:ext uri="{BB962C8B-B14F-4D97-AF65-F5344CB8AC3E}">
        <p14:creationId xmlns:p14="http://schemas.microsoft.com/office/powerpoint/2010/main" val="1039542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A10F2-34E2-C361-4F0A-4728F14C6550}"/>
              </a:ext>
            </a:extLst>
          </p:cNvPr>
          <p:cNvSpPr>
            <a:spLocks noGrp="1"/>
          </p:cNvSpPr>
          <p:nvPr>
            <p:ph type="title"/>
          </p:nvPr>
        </p:nvSpPr>
        <p:spPr>
          <a:xfrm>
            <a:off x="1358661" y="-75585"/>
            <a:ext cx="9601200" cy="1142385"/>
          </a:xfrm>
        </p:spPr>
        <p:txBody>
          <a:bodyPr>
            <a:normAutofit/>
          </a:bodyPr>
          <a:lstStyle/>
          <a:p>
            <a:pPr algn="ctr"/>
            <a:r>
              <a:rPr lang="en-IN" sz="4800" dirty="0">
                <a:latin typeface="Times New Roman" panose="02020603050405020304" pitchFamily="18" charset="0"/>
                <a:cs typeface="Times New Roman" panose="02020603050405020304" pitchFamily="18" charset="0"/>
              </a:rPr>
              <a:t>UML Use Case Diagram</a:t>
            </a:r>
          </a:p>
        </p:txBody>
      </p:sp>
      <p:pic>
        <p:nvPicPr>
          <p:cNvPr id="5" name="Picture 4">
            <a:extLst>
              <a:ext uri="{FF2B5EF4-FFF2-40B4-BE49-F238E27FC236}">
                <a16:creationId xmlns:a16="http://schemas.microsoft.com/office/drawing/2014/main" id="{B95B0199-E88C-B8E2-96D0-E128F0562C76}"/>
              </a:ext>
            </a:extLst>
          </p:cNvPr>
          <p:cNvPicPr>
            <a:picLocks noChangeAspect="1"/>
          </p:cNvPicPr>
          <p:nvPr/>
        </p:nvPicPr>
        <p:blipFill>
          <a:blip r:embed="rId2"/>
          <a:stretch>
            <a:fillRect/>
          </a:stretch>
        </p:blipFill>
        <p:spPr>
          <a:xfrm>
            <a:off x="2323382" y="1217968"/>
            <a:ext cx="7671757" cy="4780266"/>
          </a:xfrm>
          <a:prstGeom prst="rect">
            <a:avLst/>
          </a:prstGeom>
        </p:spPr>
      </p:pic>
    </p:spTree>
    <p:extLst>
      <p:ext uri="{BB962C8B-B14F-4D97-AF65-F5344CB8AC3E}">
        <p14:creationId xmlns:p14="http://schemas.microsoft.com/office/powerpoint/2010/main" val="3399918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8FFB6-E772-E6F5-A793-21F0BB5982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8FC92B-5472-1B81-8E96-4BB10A0486C0}"/>
              </a:ext>
            </a:extLst>
          </p:cNvPr>
          <p:cNvSpPr>
            <a:spLocks noGrp="1"/>
          </p:cNvSpPr>
          <p:nvPr>
            <p:ph type="title"/>
          </p:nvPr>
        </p:nvSpPr>
        <p:spPr>
          <a:xfrm>
            <a:off x="1358661" y="-75585"/>
            <a:ext cx="9601200" cy="1142385"/>
          </a:xfrm>
        </p:spPr>
        <p:txBody>
          <a:bodyPr>
            <a:normAutofit/>
          </a:bodyPr>
          <a:lstStyle/>
          <a:p>
            <a:pPr algn="ctr"/>
            <a:r>
              <a:rPr lang="en-IN" sz="4800" dirty="0">
                <a:latin typeface="Times New Roman" panose="02020603050405020304" pitchFamily="18" charset="0"/>
                <a:cs typeface="Times New Roman" panose="02020603050405020304" pitchFamily="18" charset="0"/>
              </a:rPr>
              <a:t>UML Class Diagram</a:t>
            </a:r>
          </a:p>
        </p:txBody>
      </p:sp>
      <p:pic>
        <p:nvPicPr>
          <p:cNvPr id="4" name="Picture 3">
            <a:extLst>
              <a:ext uri="{FF2B5EF4-FFF2-40B4-BE49-F238E27FC236}">
                <a16:creationId xmlns:a16="http://schemas.microsoft.com/office/drawing/2014/main" id="{EF2821DE-012A-078B-1465-0190F7D6DC92}"/>
              </a:ext>
            </a:extLst>
          </p:cNvPr>
          <p:cNvPicPr>
            <a:picLocks noChangeAspect="1"/>
          </p:cNvPicPr>
          <p:nvPr/>
        </p:nvPicPr>
        <p:blipFill>
          <a:blip r:embed="rId2"/>
          <a:stretch>
            <a:fillRect/>
          </a:stretch>
        </p:blipFill>
        <p:spPr>
          <a:xfrm>
            <a:off x="2260121" y="1066800"/>
            <a:ext cx="7671758" cy="4965940"/>
          </a:xfrm>
          <a:prstGeom prst="rect">
            <a:avLst/>
          </a:prstGeom>
        </p:spPr>
      </p:pic>
    </p:spTree>
    <p:extLst>
      <p:ext uri="{BB962C8B-B14F-4D97-AF65-F5344CB8AC3E}">
        <p14:creationId xmlns:p14="http://schemas.microsoft.com/office/powerpoint/2010/main" val="4189596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3F868-2791-8811-F1E8-02AF424B6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05E216-2380-B739-A3C6-DD9CB7CDB0CC}"/>
              </a:ext>
            </a:extLst>
          </p:cNvPr>
          <p:cNvSpPr>
            <a:spLocks noGrp="1"/>
          </p:cNvSpPr>
          <p:nvPr>
            <p:ph type="title"/>
          </p:nvPr>
        </p:nvSpPr>
        <p:spPr>
          <a:xfrm>
            <a:off x="1358661" y="-75585"/>
            <a:ext cx="9601200" cy="1142385"/>
          </a:xfrm>
        </p:spPr>
        <p:txBody>
          <a:bodyPr>
            <a:normAutofit/>
          </a:bodyPr>
          <a:lstStyle/>
          <a:p>
            <a:pPr algn="ctr"/>
            <a:r>
              <a:rPr lang="en-IN" sz="4800" dirty="0">
                <a:latin typeface="Times New Roman" panose="02020603050405020304" pitchFamily="18" charset="0"/>
                <a:cs typeface="Times New Roman" panose="02020603050405020304" pitchFamily="18" charset="0"/>
              </a:rPr>
              <a:t>ER Diagram</a:t>
            </a:r>
          </a:p>
        </p:txBody>
      </p:sp>
      <p:pic>
        <p:nvPicPr>
          <p:cNvPr id="5" name="Picture 4">
            <a:extLst>
              <a:ext uri="{FF2B5EF4-FFF2-40B4-BE49-F238E27FC236}">
                <a16:creationId xmlns:a16="http://schemas.microsoft.com/office/drawing/2014/main" id="{0BDF8770-88DC-C9C1-F757-D94F7211F872}"/>
              </a:ext>
            </a:extLst>
          </p:cNvPr>
          <p:cNvPicPr>
            <a:picLocks noChangeAspect="1"/>
          </p:cNvPicPr>
          <p:nvPr/>
        </p:nvPicPr>
        <p:blipFill>
          <a:blip r:embed="rId2"/>
          <a:stretch>
            <a:fillRect/>
          </a:stretch>
        </p:blipFill>
        <p:spPr>
          <a:xfrm>
            <a:off x="1436298" y="1066800"/>
            <a:ext cx="9397041" cy="4855640"/>
          </a:xfrm>
          <a:prstGeom prst="rect">
            <a:avLst/>
          </a:prstGeom>
        </p:spPr>
      </p:pic>
    </p:spTree>
    <p:extLst>
      <p:ext uri="{BB962C8B-B14F-4D97-AF65-F5344CB8AC3E}">
        <p14:creationId xmlns:p14="http://schemas.microsoft.com/office/powerpoint/2010/main" val="1171470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28A1A-681B-45AC-3A78-B87B6AF7F41C}"/>
              </a:ext>
            </a:extLst>
          </p:cNvPr>
          <p:cNvSpPr>
            <a:spLocks noGrp="1"/>
          </p:cNvSpPr>
          <p:nvPr>
            <p:ph type="title"/>
          </p:nvPr>
        </p:nvSpPr>
        <p:spPr>
          <a:xfrm>
            <a:off x="1193800" y="-386641"/>
            <a:ext cx="9601200" cy="1142385"/>
          </a:xfrm>
        </p:spPr>
        <p:txBody>
          <a:bodyPr>
            <a:normAutofit/>
          </a:bodyPr>
          <a:lstStyle/>
          <a:p>
            <a:pPr algn="ctr"/>
            <a:r>
              <a:rPr lang="en-IN" dirty="0">
                <a:latin typeface="Times New Roman" panose="02020603050405020304" pitchFamily="18" charset="0"/>
                <a:cs typeface="Times New Roman" panose="02020603050405020304" pitchFamily="18" charset="0"/>
              </a:rPr>
              <a:t>Table Structure View</a:t>
            </a:r>
          </a:p>
        </p:txBody>
      </p:sp>
      <p:graphicFrame>
        <p:nvGraphicFramePr>
          <p:cNvPr id="5" name="Table 4">
            <a:extLst>
              <a:ext uri="{FF2B5EF4-FFF2-40B4-BE49-F238E27FC236}">
                <a16:creationId xmlns:a16="http://schemas.microsoft.com/office/drawing/2014/main" id="{892BCCFA-949C-7D4E-1600-133AB1080ED6}"/>
              </a:ext>
            </a:extLst>
          </p:cNvPr>
          <p:cNvGraphicFramePr>
            <a:graphicFrameLocks noGrp="1"/>
          </p:cNvGraphicFramePr>
          <p:nvPr>
            <p:extLst>
              <p:ext uri="{D42A27DB-BD31-4B8C-83A1-F6EECF244321}">
                <p14:modId xmlns:p14="http://schemas.microsoft.com/office/powerpoint/2010/main" val="1526779156"/>
              </p:ext>
            </p:extLst>
          </p:nvPr>
        </p:nvGraphicFramePr>
        <p:xfrm>
          <a:off x="3071906" y="1033233"/>
          <a:ext cx="8665884" cy="2194560"/>
        </p:xfrm>
        <a:graphic>
          <a:graphicData uri="http://schemas.openxmlformats.org/drawingml/2006/table">
            <a:tbl>
              <a:tblPr firstRow="1" bandRow="1">
                <a:tableStyleId>{BC89EF96-8CEA-46FF-86C4-4CE0E7609802}</a:tableStyleId>
              </a:tblPr>
              <a:tblGrid>
                <a:gridCol w="2166471">
                  <a:extLst>
                    <a:ext uri="{9D8B030D-6E8A-4147-A177-3AD203B41FA5}">
                      <a16:colId xmlns:a16="http://schemas.microsoft.com/office/drawing/2014/main" val="963086975"/>
                    </a:ext>
                  </a:extLst>
                </a:gridCol>
                <a:gridCol w="2166471">
                  <a:extLst>
                    <a:ext uri="{9D8B030D-6E8A-4147-A177-3AD203B41FA5}">
                      <a16:colId xmlns:a16="http://schemas.microsoft.com/office/drawing/2014/main" val="2589483978"/>
                    </a:ext>
                  </a:extLst>
                </a:gridCol>
                <a:gridCol w="2166471">
                  <a:extLst>
                    <a:ext uri="{9D8B030D-6E8A-4147-A177-3AD203B41FA5}">
                      <a16:colId xmlns:a16="http://schemas.microsoft.com/office/drawing/2014/main" val="2332593830"/>
                    </a:ext>
                  </a:extLst>
                </a:gridCol>
                <a:gridCol w="2166471">
                  <a:extLst>
                    <a:ext uri="{9D8B030D-6E8A-4147-A177-3AD203B41FA5}">
                      <a16:colId xmlns:a16="http://schemas.microsoft.com/office/drawing/2014/main" val="944860200"/>
                    </a:ext>
                  </a:extLst>
                </a:gridCol>
              </a:tblGrid>
              <a:tr h="290440">
                <a:tc>
                  <a:txBody>
                    <a:bodyPr/>
                    <a:lstStyle/>
                    <a:p>
                      <a:pPr algn="ctr">
                        <a:buNone/>
                      </a:pPr>
                      <a:r>
                        <a:rPr lang="en-IN" dirty="0">
                          <a:latin typeface="Times New Roman" panose="02020603050405020304" pitchFamily="18" charset="0"/>
                          <a:cs typeface="Times New Roman" panose="02020603050405020304" pitchFamily="18" charset="0"/>
                        </a:rPr>
                        <a:t>Column Name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Data Type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Key</a:t>
                      </a:r>
                    </a:p>
                  </a:txBody>
                  <a:tcPr anchor="ctr"/>
                </a:tc>
                <a:tc>
                  <a:txBody>
                    <a:bodyPr/>
                    <a:lstStyle/>
                    <a:p>
                      <a:pPr algn="ctr">
                        <a:buNone/>
                      </a:pPr>
                      <a:r>
                        <a:rPr lang="en-IN">
                          <a:latin typeface="Times New Roman" panose="02020603050405020304" pitchFamily="18" charset="0"/>
                          <a:cs typeface="Times New Roman" panose="02020603050405020304" pitchFamily="18" charset="0"/>
                        </a:rPr>
                        <a:t>Description</a:t>
                      </a:r>
                    </a:p>
                  </a:txBody>
                  <a:tcPr anchor="ctr"/>
                </a:tc>
                <a:extLst>
                  <a:ext uri="{0D108BD9-81ED-4DB2-BD59-A6C34878D82A}">
                    <a16:rowId xmlns:a16="http://schemas.microsoft.com/office/drawing/2014/main" val="2853379090"/>
                  </a:ext>
                </a:extLst>
              </a:tr>
              <a:tr h="290440">
                <a:tc>
                  <a:txBody>
                    <a:bodyPr/>
                    <a:lstStyle/>
                    <a:p>
                      <a:pPr algn="ctr">
                        <a:buNone/>
                      </a:pPr>
                      <a:r>
                        <a:rPr lang="en-IN">
                          <a:latin typeface="Times New Roman" panose="02020603050405020304" pitchFamily="18" charset="0"/>
                          <a:cs typeface="Times New Roman" panose="02020603050405020304" pitchFamily="18" charset="0"/>
                        </a:rPr>
                        <a:t>user_id</a:t>
                      </a:r>
                    </a:p>
                  </a:txBody>
                  <a:tcPr anchor="ctr"/>
                </a:tc>
                <a:tc>
                  <a:txBody>
                    <a:bodyPr/>
                    <a:lstStyle/>
                    <a:p>
                      <a:pPr algn="ctr">
                        <a:buNone/>
                      </a:pPr>
                      <a:r>
                        <a:rPr lang="en-IN">
                          <a:latin typeface="Times New Roman" panose="02020603050405020304" pitchFamily="18" charset="0"/>
                          <a:cs typeface="Times New Roman" panose="02020603050405020304" pitchFamily="18" charset="0"/>
                        </a:rPr>
                        <a:t>INT</a:t>
                      </a:r>
                    </a:p>
                  </a:txBody>
                  <a:tcPr anchor="ctr"/>
                </a:tc>
                <a:tc>
                  <a:txBody>
                    <a:bodyPr/>
                    <a:lstStyle/>
                    <a:p>
                      <a:pPr algn="ctr">
                        <a:buNone/>
                      </a:pPr>
                      <a:r>
                        <a:rPr lang="en-IN">
                          <a:latin typeface="Times New Roman" panose="02020603050405020304" pitchFamily="18" charset="0"/>
                          <a:cs typeface="Times New Roman" panose="02020603050405020304" pitchFamily="18" charset="0"/>
                        </a:rPr>
                        <a:t>PK</a:t>
                      </a:r>
                    </a:p>
                  </a:txBody>
                  <a:tcPr anchor="ctr"/>
                </a:tc>
                <a:tc>
                  <a:txBody>
                    <a:bodyPr/>
                    <a:lstStyle/>
                    <a:p>
                      <a:pPr algn="ctr">
                        <a:buNone/>
                      </a:pPr>
                      <a:r>
                        <a:rPr lang="en-IN">
                          <a:latin typeface="Times New Roman" panose="02020603050405020304" pitchFamily="18" charset="0"/>
                          <a:cs typeface="Times New Roman" panose="02020603050405020304" pitchFamily="18" charset="0"/>
                        </a:rPr>
                        <a:t>Unique User ID</a:t>
                      </a:r>
                    </a:p>
                  </a:txBody>
                  <a:tcPr anchor="ctr"/>
                </a:tc>
                <a:extLst>
                  <a:ext uri="{0D108BD9-81ED-4DB2-BD59-A6C34878D82A}">
                    <a16:rowId xmlns:a16="http://schemas.microsoft.com/office/drawing/2014/main" val="1454488887"/>
                  </a:ext>
                </a:extLst>
              </a:tr>
              <a:tr h="290440">
                <a:tc>
                  <a:txBody>
                    <a:bodyPr/>
                    <a:lstStyle/>
                    <a:p>
                      <a:pPr algn="ctr">
                        <a:buNone/>
                      </a:pPr>
                      <a:r>
                        <a:rPr lang="en-IN" dirty="0">
                          <a:latin typeface="Times New Roman" panose="02020603050405020304" pitchFamily="18" charset="0"/>
                          <a:cs typeface="Times New Roman" panose="02020603050405020304" pitchFamily="18" charset="0"/>
                        </a:rPr>
                        <a:t>name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VARCHAR(100)</a:t>
                      </a:r>
                    </a:p>
                  </a:txBody>
                  <a:tcPr anchor="ctr"/>
                </a:tc>
                <a:tc>
                  <a:txBody>
                    <a:bodyPr/>
                    <a:lstStyle/>
                    <a:p>
                      <a:pPr algn="ctr">
                        <a:buNone/>
                      </a:pPr>
                      <a:endParaRPr lang="en-IN">
                        <a:latin typeface="Times New Roman" panose="02020603050405020304" pitchFamily="18" charset="0"/>
                        <a:cs typeface="Times New Roman" panose="02020603050405020304" pitchFamily="18" charset="0"/>
                      </a:endParaRPr>
                    </a:p>
                  </a:txBody>
                  <a:tcPr anchor="ctr"/>
                </a:tc>
                <a:tc>
                  <a:txBody>
                    <a:bodyPr/>
                    <a:lstStyle/>
                    <a:p>
                      <a:pPr algn="ctr">
                        <a:buNone/>
                      </a:pPr>
                      <a:r>
                        <a:rPr lang="en-IN">
                          <a:latin typeface="Times New Roman" panose="02020603050405020304" pitchFamily="18" charset="0"/>
                          <a:cs typeface="Times New Roman" panose="02020603050405020304" pitchFamily="18" charset="0"/>
                        </a:rPr>
                        <a:t>User Full Name</a:t>
                      </a:r>
                    </a:p>
                  </a:txBody>
                  <a:tcPr anchor="ctr"/>
                </a:tc>
                <a:extLst>
                  <a:ext uri="{0D108BD9-81ED-4DB2-BD59-A6C34878D82A}">
                    <a16:rowId xmlns:a16="http://schemas.microsoft.com/office/drawing/2014/main" val="1887516882"/>
                  </a:ext>
                </a:extLst>
              </a:tr>
              <a:tr h="290440">
                <a:tc>
                  <a:txBody>
                    <a:bodyPr/>
                    <a:lstStyle/>
                    <a:p>
                      <a:pPr algn="ctr">
                        <a:buNone/>
                      </a:pPr>
                      <a:r>
                        <a:rPr lang="en-IN">
                          <a:latin typeface="Times New Roman" panose="02020603050405020304" pitchFamily="18" charset="0"/>
                          <a:cs typeface="Times New Roman" panose="02020603050405020304" pitchFamily="18" charset="0"/>
                        </a:rPr>
                        <a:t>email</a:t>
                      </a:r>
                    </a:p>
                  </a:txBody>
                  <a:tcPr anchor="ctr"/>
                </a:tc>
                <a:tc>
                  <a:txBody>
                    <a:bodyPr/>
                    <a:lstStyle/>
                    <a:p>
                      <a:pPr algn="ctr">
                        <a:buNone/>
                      </a:pPr>
                      <a:r>
                        <a:rPr lang="en-IN">
                          <a:latin typeface="Times New Roman" panose="02020603050405020304" pitchFamily="18" charset="0"/>
                          <a:cs typeface="Times New Roman" panose="02020603050405020304" pitchFamily="18" charset="0"/>
                        </a:rPr>
                        <a:t>VARCHAR(100)</a:t>
                      </a:r>
                    </a:p>
                  </a:txBody>
                  <a:tcPr anchor="ctr"/>
                </a:tc>
                <a:tc>
                  <a:txBody>
                    <a:bodyPr/>
                    <a:lstStyle/>
                    <a:p>
                      <a:pPr algn="ctr">
                        <a:buNone/>
                      </a:pPr>
                      <a:endParaRPr lang="en-IN">
                        <a:latin typeface="Times New Roman" panose="02020603050405020304" pitchFamily="18" charset="0"/>
                        <a:cs typeface="Times New Roman" panose="02020603050405020304" pitchFamily="18" charset="0"/>
                      </a:endParaRPr>
                    </a:p>
                  </a:txBody>
                  <a:tcPr anchor="ctr"/>
                </a:tc>
                <a:tc>
                  <a:txBody>
                    <a:bodyPr/>
                    <a:lstStyle/>
                    <a:p>
                      <a:pPr algn="ctr">
                        <a:buNone/>
                      </a:pPr>
                      <a:r>
                        <a:rPr lang="en-IN">
                          <a:latin typeface="Times New Roman" panose="02020603050405020304" pitchFamily="18" charset="0"/>
                          <a:cs typeface="Times New Roman" panose="02020603050405020304" pitchFamily="18" charset="0"/>
                        </a:rPr>
                        <a:t>Email Address</a:t>
                      </a:r>
                    </a:p>
                  </a:txBody>
                  <a:tcPr anchor="ctr"/>
                </a:tc>
                <a:extLst>
                  <a:ext uri="{0D108BD9-81ED-4DB2-BD59-A6C34878D82A}">
                    <a16:rowId xmlns:a16="http://schemas.microsoft.com/office/drawing/2014/main" val="3899596102"/>
                  </a:ext>
                </a:extLst>
              </a:tr>
              <a:tr h="290440">
                <a:tc>
                  <a:txBody>
                    <a:bodyPr/>
                    <a:lstStyle/>
                    <a:p>
                      <a:pPr algn="ctr">
                        <a:buNone/>
                      </a:pPr>
                      <a:r>
                        <a:rPr lang="en-IN">
                          <a:latin typeface="Times New Roman" panose="02020603050405020304" pitchFamily="18" charset="0"/>
                          <a:cs typeface="Times New Roman" panose="02020603050405020304" pitchFamily="18" charset="0"/>
                        </a:rPr>
                        <a:t>role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VARCHAR(50)</a:t>
                      </a:r>
                    </a:p>
                  </a:txBody>
                  <a:tcPr anchor="ctr"/>
                </a:tc>
                <a:tc>
                  <a:txBody>
                    <a:bodyPr/>
                    <a:lstStyle/>
                    <a:p>
                      <a:pPr algn="ctr">
                        <a:buNone/>
                      </a:pPr>
                      <a:endParaRPr lang="en-IN">
                        <a:latin typeface="Times New Roman" panose="02020603050405020304" pitchFamily="18" charset="0"/>
                        <a:cs typeface="Times New Roman" panose="02020603050405020304" pitchFamily="18" charset="0"/>
                      </a:endParaRPr>
                    </a:p>
                  </a:txBody>
                  <a:tcPr anchor="ctr"/>
                </a:tc>
                <a:tc>
                  <a:txBody>
                    <a:bodyPr/>
                    <a:lstStyle/>
                    <a:p>
                      <a:pPr algn="ctr">
                        <a:buNone/>
                      </a:pPr>
                      <a:r>
                        <a:rPr lang="en-IN">
                          <a:latin typeface="Times New Roman" panose="02020603050405020304" pitchFamily="18" charset="0"/>
                          <a:cs typeface="Times New Roman" panose="02020603050405020304" pitchFamily="18" charset="0"/>
                        </a:rPr>
                        <a:t>admin / staff</a:t>
                      </a:r>
                    </a:p>
                  </a:txBody>
                  <a:tcPr anchor="ctr"/>
                </a:tc>
                <a:extLst>
                  <a:ext uri="{0D108BD9-81ED-4DB2-BD59-A6C34878D82A}">
                    <a16:rowId xmlns:a16="http://schemas.microsoft.com/office/drawing/2014/main" val="2044448727"/>
                  </a:ext>
                </a:extLst>
              </a:tr>
              <a:tr h="290440">
                <a:tc>
                  <a:txBody>
                    <a:bodyPr/>
                    <a:lstStyle/>
                    <a:p>
                      <a:pPr algn="ctr">
                        <a:buNone/>
                      </a:pPr>
                      <a:r>
                        <a:rPr lang="en-IN">
                          <a:latin typeface="Times New Roman" panose="02020603050405020304" pitchFamily="18" charset="0"/>
                          <a:cs typeface="Times New Roman" panose="02020603050405020304" pitchFamily="18" charset="0"/>
                        </a:rPr>
                        <a:t>password</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VARCHAR(100)</a:t>
                      </a:r>
                    </a:p>
                  </a:txBody>
                  <a:tcPr anchor="ctr"/>
                </a:tc>
                <a:tc>
                  <a:txBody>
                    <a:bodyPr/>
                    <a:lstStyle/>
                    <a:p>
                      <a:pPr algn="ctr">
                        <a:buNone/>
                      </a:pPr>
                      <a:endParaRPr lang="en-IN">
                        <a:latin typeface="Times New Roman" panose="02020603050405020304" pitchFamily="18" charset="0"/>
                        <a:cs typeface="Times New Roman" panose="02020603050405020304" pitchFamily="18" charset="0"/>
                      </a:endParaRP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Login Password</a:t>
                      </a:r>
                    </a:p>
                  </a:txBody>
                  <a:tcPr anchor="ctr"/>
                </a:tc>
                <a:extLst>
                  <a:ext uri="{0D108BD9-81ED-4DB2-BD59-A6C34878D82A}">
                    <a16:rowId xmlns:a16="http://schemas.microsoft.com/office/drawing/2014/main" val="4196081743"/>
                  </a:ext>
                </a:extLst>
              </a:tr>
            </a:tbl>
          </a:graphicData>
        </a:graphic>
      </p:graphicFrame>
      <p:graphicFrame>
        <p:nvGraphicFramePr>
          <p:cNvPr id="8" name="Table 7">
            <a:extLst>
              <a:ext uri="{FF2B5EF4-FFF2-40B4-BE49-F238E27FC236}">
                <a16:creationId xmlns:a16="http://schemas.microsoft.com/office/drawing/2014/main" id="{E12841C7-7A7A-5AE7-C096-936DC8FE0760}"/>
              </a:ext>
            </a:extLst>
          </p:cNvPr>
          <p:cNvGraphicFramePr>
            <a:graphicFrameLocks noGrp="1"/>
          </p:cNvGraphicFramePr>
          <p:nvPr>
            <p:extLst>
              <p:ext uri="{D42A27DB-BD31-4B8C-83A1-F6EECF244321}">
                <p14:modId xmlns:p14="http://schemas.microsoft.com/office/powerpoint/2010/main" val="3512281163"/>
              </p:ext>
            </p:extLst>
          </p:nvPr>
        </p:nvGraphicFramePr>
        <p:xfrm>
          <a:off x="3071904" y="3429000"/>
          <a:ext cx="8665884" cy="2123440"/>
        </p:xfrm>
        <a:graphic>
          <a:graphicData uri="http://schemas.openxmlformats.org/drawingml/2006/table">
            <a:tbl>
              <a:tblPr firstRow="1" bandRow="1">
                <a:tableStyleId>{BC89EF96-8CEA-46FF-86C4-4CE0E7609802}</a:tableStyleId>
              </a:tblPr>
              <a:tblGrid>
                <a:gridCol w="2166471">
                  <a:extLst>
                    <a:ext uri="{9D8B030D-6E8A-4147-A177-3AD203B41FA5}">
                      <a16:colId xmlns:a16="http://schemas.microsoft.com/office/drawing/2014/main" val="3593446903"/>
                    </a:ext>
                  </a:extLst>
                </a:gridCol>
                <a:gridCol w="2166471">
                  <a:extLst>
                    <a:ext uri="{9D8B030D-6E8A-4147-A177-3AD203B41FA5}">
                      <a16:colId xmlns:a16="http://schemas.microsoft.com/office/drawing/2014/main" val="4029031597"/>
                    </a:ext>
                  </a:extLst>
                </a:gridCol>
                <a:gridCol w="2166471">
                  <a:extLst>
                    <a:ext uri="{9D8B030D-6E8A-4147-A177-3AD203B41FA5}">
                      <a16:colId xmlns:a16="http://schemas.microsoft.com/office/drawing/2014/main" val="3342065191"/>
                    </a:ext>
                  </a:extLst>
                </a:gridCol>
                <a:gridCol w="2166471">
                  <a:extLst>
                    <a:ext uri="{9D8B030D-6E8A-4147-A177-3AD203B41FA5}">
                      <a16:colId xmlns:a16="http://schemas.microsoft.com/office/drawing/2014/main" val="2063295087"/>
                    </a:ext>
                  </a:extLst>
                </a:gridCol>
              </a:tblGrid>
              <a:tr h="370840">
                <a:tc>
                  <a:txBody>
                    <a:bodyPr/>
                    <a:lstStyle/>
                    <a:p>
                      <a:pPr algn="ctr">
                        <a:buNone/>
                      </a:pPr>
                      <a:r>
                        <a:rPr lang="en-IN" dirty="0">
                          <a:latin typeface="Times New Roman" panose="02020603050405020304" pitchFamily="18" charset="0"/>
                          <a:cs typeface="Times New Roman" panose="02020603050405020304" pitchFamily="18" charset="0"/>
                        </a:rPr>
                        <a:t>Column Name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Data Type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Key</a:t>
                      </a:r>
                    </a:p>
                  </a:txBody>
                  <a:tcPr anchor="ctr"/>
                </a:tc>
                <a:tc>
                  <a:txBody>
                    <a:bodyPr/>
                    <a:lstStyle/>
                    <a:p>
                      <a:pPr algn="ctr">
                        <a:buNone/>
                      </a:pPr>
                      <a:r>
                        <a:rPr lang="en-IN">
                          <a:latin typeface="Times New Roman" panose="02020603050405020304" pitchFamily="18" charset="0"/>
                          <a:cs typeface="Times New Roman" panose="02020603050405020304" pitchFamily="18" charset="0"/>
                        </a:rPr>
                        <a:t>Description</a:t>
                      </a:r>
                    </a:p>
                  </a:txBody>
                  <a:tcPr anchor="ctr"/>
                </a:tc>
                <a:extLst>
                  <a:ext uri="{0D108BD9-81ED-4DB2-BD59-A6C34878D82A}">
                    <a16:rowId xmlns:a16="http://schemas.microsoft.com/office/drawing/2014/main" val="3632753159"/>
                  </a:ext>
                </a:extLst>
              </a:tr>
              <a:tr h="370840">
                <a:tc>
                  <a:txBody>
                    <a:bodyPr/>
                    <a:lstStyle/>
                    <a:p>
                      <a:pPr algn="ctr">
                        <a:buNone/>
                      </a:pPr>
                      <a:r>
                        <a:rPr lang="en-IN" dirty="0" err="1">
                          <a:latin typeface="Times New Roman" panose="02020603050405020304" pitchFamily="18" charset="0"/>
                          <a:cs typeface="Times New Roman" panose="02020603050405020304" pitchFamily="18" charset="0"/>
                        </a:rPr>
                        <a:t>item_id</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a:latin typeface="Times New Roman" panose="02020603050405020304" pitchFamily="18" charset="0"/>
                          <a:cs typeface="Times New Roman" panose="02020603050405020304" pitchFamily="18" charset="0"/>
                        </a:rPr>
                        <a:t>INT</a:t>
                      </a:r>
                    </a:p>
                  </a:txBody>
                  <a:tcPr anchor="ctr"/>
                </a:tc>
                <a:tc>
                  <a:txBody>
                    <a:bodyPr/>
                    <a:lstStyle/>
                    <a:p>
                      <a:pPr algn="ctr">
                        <a:buNone/>
                      </a:pPr>
                      <a:r>
                        <a:rPr lang="en-IN">
                          <a:latin typeface="Times New Roman" panose="02020603050405020304" pitchFamily="18" charset="0"/>
                          <a:cs typeface="Times New Roman" panose="02020603050405020304" pitchFamily="18" charset="0"/>
                        </a:rPr>
                        <a:t>PK</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Unique Food Item ID</a:t>
                      </a:r>
                    </a:p>
                  </a:txBody>
                  <a:tcPr anchor="ctr"/>
                </a:tc>
                <a:extLst>
                  <a:ext uri="{0D108BD9-81ED-4DB2-BD59-A6C34878D82A}">
                    <a16:rowId xmlns:a16="http://schemas.microsoft.com/office/drawing/2014/main" val="3115381435"/>
                  </a:ext>
                </a:extLst>
              </a:tr>
              <a:tr h="370840">
                <a:tc>
                  <a:txBody>
                    <a:bodyPr/>
                    <a:lstStyle/>
                    <a:p>
                      <a:pPr algn="ctr">
                        <a:buNone/>
                      </a:pPr>
                      <a:r>
                        <a:rPr lang="en-IN">
                          <a:latin typeface="Times New Roman" panose="02020603050405020304" pitchFamily="18" charset="0"/>
                          <a:cs typeface="Times New Roman" panose="02020603050405020304" pitchFamily="18" charset="0"/>
                        </a:rPr>
                        <a:t>item_name</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VARCHAR(100)</a:t>
                      </a:r>
                    </a:p>
                  </a:txBody>
                  <a:tcPr anchor="ctr"/>
                </a:tc>
                <a:tc>
                  <a:txBody>
                    <a:bodyPr/>
                    <a:lstStyle/>
                    <a:p>
                      <a:pPr algn="ctr">
                        <a:buNone/>
                      </a:pPr>
                      <a:endParaRPr lang="en-IN">
                        <a:latin typeface="Times New Roman" panose="02020603050405020304" pitchFamily="18" charset="0"/>
                        <a:cs typeface="Times New Roman" panose="02020603050405020304" pitchFamily="18" charset="0"/>
                      </a:endParaRPr>
                    </a:p>
                  </a:txBody>
                  <a:tcPr anchor="ctr"/>
                </a:tc>
                <a:tc>
                  <a:txBody>
                    <a:bodyPr/>
                    <a:lstStyle/>
                    <a:p>
                      <a:pPr algn="ctr">
                        <a:buNone/>
                      </a:pPr>
                      <a:r>
                        <a:rPr lang="en-US">
                          <a:latin typeface="Times New Roman" panose="02020603050405020304" pitchFamily="18" charset="0"/>
                          <a:cs typeface="Times New Roman" panose="02020603050405020304" pitchFamily="18" charset="0"/>
                        </a:rPr>
                        <a:t>Name of the Food Item</a:t>
                      </a:r>
                    </a:p>
                  </a:txBody>
                  <a:tcPr anchor="ctr"/>
                </a:tc>
                <a:extLst>
                  <a:ext uri="{0D108BD9-81ED-4DB2-BD59-A6C34878D82A}">
                    <a16:rowId xmlns:a16="http://schemas.microsoft.com/office/drawing/2014/main" val="2592067427"/>
                  </a:ext>
                </a:extLst>
              </a:tr>
              <a:tr h="370840">
                <a:tc>
                  <a:txBody>
                    <a:bodyPr/>
                    <a:lstStyle/>
                    <a:p>
                      <a:pPr algn="ctr">
                        <a:buNone/>
                      </a:pPr>
                      <a:r>
                        <a:rPr lang="en-IN">
                          <a:latin typeface="Times New Roman" panose="02020603050405020304" pitchFamily="18" charset="0"/>
                          <a:cs typeface="Times New Roman" panose="02020603050405020304" pitchFamily="18" charset="0"/>
                        </a:rPr>
                        <a:t>category</a:t>
                      </a:r>
                    </a:p>
                  </a:txBody>
                  <a:tcPr anchor="ctr"/>
                </a:tc>
                <a:tc>
                  <a:txBody>
                    <a:bodyPr/>
                    <a:lstStyle/>
                    <a:p>
                      <a:pPr algn="ctr">
                        <a:buNone/>
                      </a:pPr>
                      <a:r>
                        <a:rPr lang="en-IN">
                          <a:latin typeface="Times New Roman" panose="02020603050405020304" pitchFamily="18" charset="0"/>
                          <a:cs typeface="Times New Roman" panose="02020603050405020304" pitchFamily="18" charset="0"/>
                        </a:rPr>
                        <a:t>VARCHAR(50)</a:t>
                      </a:r>
                    </a:p>
                  </a:txBody>
                  <a:tcPr anchor="ctr"/>
                </a:tc>
                <a:tc>
                  <a:txBody>
                    <a:bodyPr/>
                    <a:lstStyle/>
                    <a:p>
                      <a:pPr algn="ctr">
                        <a:buNone/>
                      </a:pPr>
                      <a:endParaRPr lang="en-IN">
                        <a:latin typeface="Times New Roman" panose="02020603050405020304" pitchFamily="18" charset="0"/>
                        <a:cs typeface="Times New Roman" panose="02020603050405020304" pitchFamily="18" charset="0"/>
                      </a:endParaRPr>
                    </a:p>
                  </a:txBody>
                  <a:tcPr anchor="ctr"/>
                </a:tc>
                <a:tc>
                  <a:txBody>
                    <a:bodyPr/>
                    <a:lstStyle/>
                    <a:p>
                      <a:pPr algn="ctr">
                        <a:buNone/>
                      </a:pPr>
                      <a:r>
                        <a:rPr lang="en-IN">
                          <a:latin typeface="Times New Roman" panose="02020603050405020304" pitchFamily="18" charset="0"/>
                          <a:cs typeface="Times New Roman" panose="02020603050405020304" pitchFamily="18" charset="0"/>
                        </a:rPr>
                        <a:t>Veg / Non-Veg</a:t>
                      </a:r>
                    </a:p>
                  </a:txBody>
                  <a:tcPr anchor="ctr"/>
                </a:tc>
                <a:extLst>
                  <a:ext uri="{0D108BD9-81ED-4DB2-BD59-A6C34878D82A}">
                    <a16:rowId xmlns:a16="http://schemas.microsoft.com/office/drawing/2014/main" val="983406540"/>
                  </a:ext>
                </a:extLst>
              </a:tr>
              <a:tr h="370840">
                <a:tc>
                  <a:txBody>
                    <a:bodyPr/>
                    <a:lstStyle/>
                    <a:p>
                      <a:pPr algn="ctr">
                        <a:buNone/>
                      </a:pPr>
                      <a:r>
                        <a:rPr lang="en-IN">
                          <a:latin typeface="Times New Roman" panose="02020603050405020304" pitchFamily="18" charset="0"/>
                          <a:cs typeface="Times New Roman" panose="02020603050405020304" pitchFamily="18" charset="0"/>
                        </a:rPr>
                        <a:t>price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DECIMAL(10,2)</a:t>
                      </a:r>
                    </a:p>
                  </a:txBody>
                  <a:tcPr anchor="ctr"/>
                </a:tc>
                <a:tc>
                  <a:txBody>
                    <a:bodyPr/>
                    <a:lstStyle/>
                    <a:p>
                      <a:pPr algn="ctr">
                        <a:buNone/>
                      </a:pPr>
                      <a:endParaRPr lang="en-IN">
                        <a:latin typeface="Times New Roman" panose="02020603050405020304" pitchFamily="18" charset="0"/>
                        <a:cs typeface="Times New Roman" panose="02020603050405020304" pitchFamily="18" charset="0"/>
                      </a:endParaRP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Price per Item</a:t>
                      </a:r>
                    </a:p>
                  </a:txBody>
                  <a:tcPr anchor="ctr"/>
                </a:tc>
                <a:extLst>
                  <a:ext uri="{0D108BD9-81ED-4DB2-BD59-A6C34878D82A}">
                    <a16:rowId xmlns:a16="http://schemas.microsoft.com/office/drawing/2014/main" val="707378875"/>
                  </a:ext>
                </a:extLst>
              </a:tr>
            </a:tbl>
          </a:graphicData>
        </a:graphic>
      </p:graphicFrame>
      <p:sp>
        <p:nvSpPr>
          <p:cNvPr id="11" name="TextBox 10">
            <a:extLst>
              <a:ext uri="{FF2B5EF4-FFF2-40B4-BE49-F238E27FC236}">
                <a16:creationId xmlns:a16="http://schemas.microsoft.com/office/drawing/2014/main" id="{43420406-520F-ED90-75C8-FEA6E5CA5449}"/>
              </a:ext>
            </a:extLst>
          </p:cNvPr>
          <p:cNvSpPr txBox="1"/>
          <p:nvPr/>
        </p:nvSpPr>
        <p:spPr>
          <a:xfrm>
            <a:off x="454210" y="2082702"/>
            <a:ext cx="610197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User Table</a:t>
            </a:r>
          </a:p>
        </p:txBody>
      </p:sp>
      <p:sp>
        <p:nvSpPr>
          <p:cNvPr id="12" name="TextBox 11">
            <a:extLst>
              <a:ext uri="{FF2B5EF4-FFF2-40B4-BE49-F238E27FC236}">
                <a16:creationId xmlns:a16="http://schemas.microsoft.com/office/drawing/2014/main" id="{41D16E18-B5FC-4B31-9FF3-37B6BCF3D882}"/>
              </a:ext>
            </a:extLst>
          </p:cNvPr>
          <p:cNvSpPr txBox="1"/>
          <p:nvPr/>
        </p:nvSpPr>
        <p:spPr>
          <a:xfrm>
            <a:off x="20916" y="4554751"/>
            <a:ext cx="6101976" cy="584775"/>
          </a:xfrm>
          <a:prstGeom prst="rect">
            <a:avLst/>
          </a:prstGeom>
          <a:noFill/>
        </p:spPr>
        <p:txBody>
          <a:bodyPr wrap="square">
            <a:spAutoFit/>
          </a:bodyPr>
          <a:lstStyle/>
          <a:p>
            <a:r>
              <a:rPr lang="en-IN" sz="3200" b="1" dirty="0" err="1">
                <a:latin typeface="Times New Roman" panose="02020603050405020304" pitchFamily="18" charset="0"/>
                <a:cs typeface="Times New Roman" panose="02020603050405020304" pitchFamily="18" charset="0"/>
              </a:rPr>
              <a:t>Food_Item</a:t>
            </a:r>
            <a:r>
              <a:rPr lang="en-IN" sz="3200" b="1" dirty="0">
                <a:latin typeface="Times New Roman" panose="02020603050405020304" pitchFamily="18" charset="0"/>
                <a:cs typeface="Times New Roman" panose="02020603050405020304" pitchFamily="18" charset="0"/>
              </a:rPr>
              <a:t> Table</a:t>
            </a:r>
          </a:p>
        </p:txBody>
      </p:sp>
    </p:spTree>
    <p:extLst>
      <p:ext uri="{BB962C8B-B14F-4D97-AF65-F5344CB8AC3E}">
        <p14:creationId xmlns:p14="http://schemas.microsoft.com/office/powerpoint/2010/main" val="323527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B9C0B64-54A3-AEF8-3789-B67BAC74966B}"/>
              </a:ext>
            </a:extLst>
          </p:cNvPr>
          <p:cNvGraphicFramePr>
            <a:graphicFrameLocks noGrp="1"/>
          </p:cNvGraphicFramePr>
          <p:nvPr>
            <p:ph idx="1"/>
            <p:extLst>
              <p:ext uri="{D42A27DB-BD31-4B8C-83A1-F6EECF244321}">
                <p14:modId xmlns:p14="http://schemas.microsoft.com/office/powerpoint/2010/main" val="1655768000"/>
              </p:ext>
            </p:extLst>
          </p:nvPr>
        </p:nvGraphicFramePr>
        <p:xfrm>
          <a:off x="3502212" y="307788"/>
          <a:ext cx="8488084" cy="2392680"/>
        </p:xfrm>
        <a:graphic>
          <a:graphicData uri="http://schemas.openxmlformats.org/drawingml/2006/table">
            <a:tbl>
              <a:tblPr firstRow="1" bandRow="1">
                <a:tableStyleId>{BC89EF96-8CEA-46FF-86C4-4CE0E7609802}</a:tableStyleId>
              </a:tblPr>
              <a:tblGrid>
                <a:gridCol w="2122021">
                  <a:extLst>
                    <a:ext uri="{9D8B030D-6E8A-4147-A177-3AD203B41FA5}">
                      <a16:colId xmlns:a16="http://schemas.microsoft.com/office/drawing/2014/main" val="1994430097"/>
                    </a:ext>
                  </a:extLst>
                </a:gridCol>
                <a:gridCol w="2122021">
                  <a:extLst>
                    <a:ext uri="{9D8B030D-6E8A-4147-A177-3AD203B41FA5}">
                      <a16:colId xmlns:a16="http://schemas.microsoft.com/office/drawing/2014/main" val="843516723"/>
                    </a:ext>
                  </a:extLst>
                </a:gridCol>
                <a:gridCol w="2122021">
                  <a:extLst>
                    <a:ext uri="{9D8B030D-6E8A-4147-A177-3AD203B41FA5}">
                      <a16:colId xmlns:a16="http://schemas.microsoft.com/office/drawing/2014/main" val="646376886"/>
                    </a:ext>
                  </a:extLst>
                </a:gridCol>
                <a:gridCol w="2122021">
                  <a:extLst>
                    <a:ext uri="{9D8B030D-6E8A-4147-A177-3AD203B41FA5}">
                      <a16:colId xmlns:a16="http://schemas.microsoft.com/office/drawing/2014/main" val="4236160313"/>
                    </a:ext>
                  </a:extLst>
                </a:gridCol>
              </a:tblGrid>
              <a:tr h="370840">
                <a:tc>
                  <a:txBody>
                    <a:bodyPr/>
                    <a:lstStyle/>
                    <a:p>
                      <a:pPr algn="ctr">
                        <a:buNone/>
                      </a:pPr>
                      <a:r>
                        <a:rPr lang="en-IN" dirty="0">
                          <a:latin typeface="Times New Roman" panose="02020603050405020304" pitchFamily="18" charset="0"/>
                          <a:cs typeface="Times New Roman" panose="02020603050405020304" pitchFamily="18" charset="0"/>
                        </a:rPr>
                        <a:t>Column Name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Data Type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Key</a:t>
                      </a:r>
                    </a:p>
                  </a:txBody>
                  <a:tcPr anchor="ctr"/>
                </a:tc>
                <a:tc>
                  <a:txBody>
                    <a:bodyPr/>
                    <a:lstStyle/>
                    <a:p>
                      <a:pPr algn="ctr">
                        <a:buNone/>
                      </a:pPr>
                      <a:r>
                        <a:rPr lang="en-IN">
                          <a:latin typeface="Times New Roman" panose="02020603050405020304" pitchFamily="18" charset="0"/>
                          <a:cs typeface="Times New Roman" panose="02020603050405020304" pitchFamily="18" charset="0"/>
                        </a:rPr>
                        <a:t>Description</a:t>
                      </a:r>
                    </a:p>
                  </a:txBody>
                  <a:tcPr anchor="ctr"/>
                </a:tc>
                <a:extLst>
                  <a:ext uri="{0D108BD9-81ED-4DB2-BD59-A6C34878D82A}">
                    <a16:rowId xmlns:a16="http://schemas.microsoft.com/office/drawing/2014/main" val="508451673"/>
                  </a:ext>
                </a:extLst>
              </a:tr>
              <a:tr h="370840">
                <a:tc>
                  <a:txBody>
                    <a:bodyPr/>
                    <a:lstStyle/>
                    <a:p>
                      <a:pPr algn="ctr">
                        <a:buNone/>
                      </a:pPr>
                      <a:r>
                        <a:rPr lang="en-IN" dirty="0" err="1">
                          <a:latin typeface="Times New Roman" panose="02020603050405020304" pitchFamily="18" charset="0"/>
                          <a:cs typeface="Times New Roman" panose="02020603050405020304" pitchFamily="18" charset="0"/>
                        </a:rPr>
                        <a:t>item_id</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a:latin typeface="Times New Roman" panose="02020603050405020304" pitchFamily="18" charset="0"/>
                          <a:cs typeface="Times New Roman" panose="02020603050405020304" pitchFamily="18" charset="0"/>
                        </a:rPr>
                        <a:t>INT</a:t>
                      </a:r>
                    </a:p>
                  </a:txBody>
                  <a:tcPr anchor="ctr"/>
                </a:tc>
                <a:tc>
                  <a:txBody>
                    <a:bodyPr/>
                    <a:lstStyle/>
                    <a:p>
                      <a:pPr algn="ctr">
                        <a:buNone/>
                      </a:pPr>
                      <a:r>
                        <a:rPr lang="en-IN">
                          <a:latin typeface="Times New Roman" panose="02020603050405020304" pitchFamily="18" charset="0"/>
                          <a:cs typeface="Times New Roman" panose="02020603050405020304" pitchFamily="18" charset="0"/>
                        </a:rPr>
                        <a:t>PK</a:t>
                      </a:r>
                    </a:p>
                  </a:txBody>
                  <a:tcPr anchor="ctr"/>
                </a:tc>
                <a:tc>
                  <a:txBody>
                    <a:bodyPr/>
                    <a:lstStyle/>
                    <a:p>
                      <a:pPr algn="ctr">
                        <a:buNone/>
                      </a:pPr>
                      <a:r>
                        <a:rPr lang="en-IN">
                          <a:latin typeface="Times New Roman" panose="02020603050405020304" pitchFamily="18" charset="0"/>
                          <a:cs typeface="Times New Roman" panose="02020603050405020304" pitchFamily="18" charset="0"/>
                        </a:rPr>
                        <a:t>Unique Food Item ID</a:t>
                      </a:r>
                    </a:p>
                  </a:txBody>
                  <a:tcPr anchor="ctr"/>
                </a:tc>
                <a:extLst>
                  <a:ext uri="{0D108BD9-81ED-4DB2-BD59-A6C34878D82A}">
                    <a16:rowId xmlns:a16="http://schemas.microsoft.com/office/drawing/2014/main" val="3553564209"/>
                  </a:ext>
                </a:extLst>
              </a:tr>
              <a:tr h="370840">
                <a:tc>
                  <a:txBody>
                    <a:bodyPr/>
                    <a:lstStyle/>
                    <a:p>
                      <a:pPr algn="ctr">
                        <a:buNone/>
                      </a:pPr>
                      <a:r>
                        <a:rPr lang="en-IN">
                          <a:latin typeface="Times New Roman" panose="02020603050405020304" pitchFamily="18" charset="0"/>
                          <a:cs typeface="Times New Roman" panose="02020603050405020304" pitchFamily="18" charset="0"/>
                        </a:rPr>
                        <a:t>item_name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VARCHAR(100)</a:t>
                      </a:r>
                    </a:p>
                  </a:txBody>
                  <a:tcPr anchor="ctr"/>
                </a:tc>
                <a:tc>
                  <a:txBody>
                    <a:bodyPr/>
                    <a:lstStyle/>
                    <a:p>
                      <a:pPr algn="ctr">
                        <a:buNone/>
                      </a:pPr>
                      <a:endParaRPr lang="en-IN">
                        <a:latin typeface="Times New Roman" panose="02020603050405020304" pitchFamily="18" charset="0"/>
                        <a:cs typeface="Times New Roman" panose="02020603050405020304" pitchFamily="18" charset="0"/>
                      </a:endParaRPr>
                    </a:p>
                  </a:txBody>
                  <a:tcPr anchor="ctr"/>
                </a:tc>
                <a:tc>
                  <a:txBody>
                    <a:bodyPr/>
                    <a:lstStyle/>
                    <a:p>
                      <a:pPr algn="ctr">
                        <a:buNone/>
                      </a:pPr>
                      <a:r>
                        <a:rPr lang="en-US">
                          <a:latin typeface="Times New Roman" panose="02020603050405020304" pitchFamily="18" charset="0"/>
                          <a:cs typeface="Times New Roman" panose="02020603050405020304" pitchFamily="18" charset="0"/>
                        </a:rPr>
                        <a:t>Name of the Food Item</a:t>
                      </a:r>
                    </a:p>
                  </a:txBody>
                  <a:tcPr anchor="ctr"/>
                </a:tc>
                <a:extLst>
                  <a:ext uri="{0D108BD9-81ED-4DB2-BD59-A6C34878D82A}">
                    <a16:rowId xmlns:a16="http://schemas.microsoft.com/office/drawing/2014/main" val="2812558448"/>
                  </a:ext>
                </a:extLst>
              </a:tr>
              <a:tr h="370840">
                <a:tc>
                  <a:txBody>
                    <a:bodyPr/>
                    <a:lstStyle/>
                    <a:p>
                      <a:pPr algn="ctr">
                        <a:buNone/>
                      </a:pPr>
                      <a:r>
                        <a:rPr lang="en-IN">
                          <a:latin typeface="Times New Roman" panose="02020603050405020304" pitchFamily="18" charset="0"/>
                          <a:cs typeface="Times New Roman" panose="02020603050405020304" pitchFamily="18" charset="0"/>
                        </a:rPr>
                        <a:t>category</a:t>
                      </a:r>
                    </a:p>
                  </a:txBody>
                  <a:tcPr anchor="ctr"/>
                </a:tc>
                <a:tc>
                  <a:txBody>
                    <a:bodyPr/>
                    <a:lstStyle/>
                    <a:p>
                      <a:pPr algn="ctr">
                        <a:buNone/>
                      </a:pPr>
                      <a:r>
                        <a:rPr lang="en-IN">
                          <a:latin typeface="Times New Roman" panose="02020603050405020304" pitchFamily="18" charset="0"/>
                          <a:cs typeface="Times New Roman" panose="02020603050405020304" pitchFamily="18" charset="0"/>
                        </a:rPr>
                        <a:t>VARCHAR(50)</a:t>
                      </a:r>
                    </a:p>
                  </a:txBody>
                  <a:tcPr anchor="ctr"/>
                </a:tc>
                <a:tc>
                  <a:txBody>
                    <a:bodyPr/>
                    <a:lstStyle/>
                    <a:p>
                      <a:pPr algn="ctr">
                        <a:buNone/>
                      </a:pPr>
                      <a:endParaRPr lang="en-IN">
                        <a:latin typeface="Times New Roman" panose="02020603050405020304" pitchFamily="18" charset="0"/>
                        <a:cs typeface="Times New Roman" panose="02020603050405020304" pitchFamily="18" charset="0"/>
                      </a:endParaRPr>
                    </a:p>
                  </a:txBody>
                  <a:tcPr anchor="ctr"/>
                </a:tc>
                <a:tc>
                  <a:txBody>
                    <a:bodyPr/>
                    <a:lstStyle/>
                    <a:p>
                      <a:pPr algn="ctr">
                        <a:buNone/>
                      </a:pPr>
                      <a:r>
                        <a:rPr lang="en-IN">
                          <a:latin typeface="Times New Roman" panose="02020603050405020304" pitchFamily="18" charset="0"/>
                          <a:cs typeface="Times New Roman" panose="02020603050405020304" pitchFamily="18" charset="0"/>
                        </a:rPr>
                        <a:t>Veg / Non-Veg</a:t>
                      </a:r>
                    </a:p>
                  </a:txBody>
                  <a:tcPr anchor="ctr"/>
                </a:tc>
                <a:extLst>
                  <a:ext uri="{0D108BD9-81ED-4DB2-BD59-A6C34878D82A}">
                    <a16:rowId xmlns:a16="http://schemas.microsoft.com/office/drawing/2014/main" val="577223713"/>
                  </a:ext>
                </a:extLst>
              </a:tr>
              <a:tr h="370840">
                <a:tc>
                  <a:txBody>
                    <a:bodyPr/>
                    <a:lstStyle/>
                    <a:p>
                      <a:pPr algn="ctr">
                        <a:buNone/>
                      </a:pPr>
                      <a:r>
                        <a:rPr lang="en-IN">
                          <a:latin typeface="Times New Roman" panose="02020603050405020304" pitchFamily="18" charset="0"/>
                          <a:cs typeface="Times New Roman" panose="02020603050405020304" pitchFamily="18" charset="0"/>
                        </a:rPr>
                        <a:t>price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DECIMAL(10,2)</a:t>
                      </a:r>
                    </a:p>
                  </a:txBody>
                  <a:tcPr anchor="ctr"/>
                </a:tc>
                <a:tc>
                  <a:txBody>
                    <a:bodyPr/>
                    <a:lstStyle/>
                    <a:p>
                      <a:pPr algn="ctr">
                        <a:buNone/>
                      </a:pPr>
                      <a:endParaRPr lang="en-IN">
                        <a:latin typeface="Times New Roman" panose="02020603050405020304" pitchFamily="18" charset="0"/>
                        <a:cs typeface="Times New Roman" panose="02020603050405020304" pitchFamily="18" charset="0"/>
                      </a:endParaRP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Price per Item</a:t>
                      </a:r>
                    </a:p>
                  </a:txBody>
                  <a:tcPr anchor="ctr"/>
                </a:tc>
                <a:extLst>
                  <a:ext uri="{0D108BD9-81ED-4DB2-BD59-A6C34878D82A}">
                    <a16:rowId xmlns:a16="http://schemas.microsoft.com/office/drawing/2014/main" val="1591420919"/>
                  </a:ext>
                </a:extLst>
              </a:tr>
            </a:tbl>
          </a:graphicData>
        </a:graphic>
      </p:graphicFrame>
      <p:graphicFrame>
        <p:nvGraphicFramePr>
          <p:cNvPr id="5" name="Table 4">
            <a:extLst>
              <a:ext uri="{FF2B5EF4-FFF2-40B4-BE49-F238E27FC236}">
                <a16:creationId xmlns:a16="http://schemas.microsoft.com/office/drawing/2014/main" id="{BBEB0C13-ACCB-3F16-B140-B363F9E8268D}"/>
              </a:ext>
            </a:extLst>
          </p:cNvPr>
          <p:cNvGraphicFramePr>
            <a:graphicFrameLocks noGrp="1"/>
          </p:cNvGraphicFramePr>
          <p:nvPr>
            <p:extLst>
              <p:ext uri="{D42A27DB-BD31-4B8C-83A1-F6EECF244321}">
                <p14:modId xmlns:p14="http://schemas.microsoft.com/office/powerpoint/2010/main" val="3528736327"/>
              </p:ext>
            </p:extLst>
          </p:nvPr>
        </p:nvGraphicFramePr>
        <p:xfrm>
          <a:off x="3502211" y="3295525"/>
          <a:ext cx="8488084" cy="2392680"/>
        </p:xfrm>
        <a:graphic>
          <a:graphicData uri="http://schemas.openxmlformats.org/drawingml/2006/table">
            <a:tbl>
              <a:tblPr firstRow="1" bandRow="1">
                <a:tableStyleId>{BC89EF96-8CEA-46FF-86C4-4CE0E7609802}</a:tableStyleId>
              </a:tblPr>
              <a:tblGrid>
                <a:gridCol w="2122021">
                  <a:extLst>
                    <a:ext uri="{9D8B030D-6E8A-4147-A177-3AD203B41FA5}">
                      <a16:colId xmlns:a16="http://schemas.microsoft.com/office/drawing/2014/main" val="73460721"/>
                    </a:ext>
                  </a:extLst>
                </a:gridCol>
                <a:gridCol w="2122021">
                  <a:extLst>
                    <a:ext uri="{9D8B030D-6E8A-4147-A177-3AD203B41FA5}">
                      <a16:colId xmlns:a16="http://schemas.microsoft.com/office/drawing/2014/main" val="2245528741"/>
                    </a:ext>
                  </a:extLst>
                </a:gridCol>
                <a:gridCol w="2122021">
                  <a:extLst>
                    <a:ext uri="{9D8B030D-6E8A-4147-A177-3AD203B41FA5}">
                      <a16:colId xmlns:a16="http://schemas.microsoft.com/office/drawing/2014/main" val="3608513634"/>
                    </a:ext>
                  </a:extLst>
                </a:gridCol>
                <a:gridCol w="2122021">
                  <a:extLst>
                    <a:ext uri="{9D8B030D-6E8A-4147-A177-3AD203B41FA5}">
                      <a16:colId xmlns:a16="http://schemas.microsoft.com/office/drawing/2014/main" val="205357613"/>
                    </a:ext>
                  </a:extLst>
                </a:gridCol>
              </a:tblGrid>
              <a:tr h="370840">
                <a:tc>
                  <a:txBody>
                    <a:bodyPr/>
                    <a:lstStyle/>
                    <a:p>
                      <a:pPr algn="ctr">
                        <a:buNone/>
                      </a:pPr>
                      <a:r>
                        <a:rPr lang="en-IN" dirty="0">
                          <a:latin typeface="Times New Roman" panose="02020603050405020304" pitchFamily="18" charset="0"/>
                          <a:cs typeface="Times New Roman" panose="02020603050405020304" pitchFamily="18" charset="0"/>
                        </a:rPr>
                        <a:t>Column Name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Data Type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Key</a:t>
                      </a:r>
                    </a:p>
                  </a:txBody>
                  <a:tcPr anchor="ctr"/>
                </a:tc>
                <a:tc>
                  <a:txBody>
                    <a:bodyPr/>
                    <a:lstStyle/>
                    <a:p>
                      <a:pPr algn="ctr">
                        <a:buNone/>
                      </a:pPr>
                      <a:r>
                        <a:rPr lang="en-IN">
                          <a:latin typeface="Times New Roman" panose="02020603050405020304" pitchFamily="18" charset="0"/>
                          <a:cs typeface="Times New Roman" panose="02020603050405020304" pitchFamily="18" charset="0"/>
                        </a:rPr>
                        <a:t>Description</a:t>
                      </a:r>
                    </a:p>
                  </a:txBody>
                  <a:tcPr anchor="ctr"/>
                </a:tc>
                <a:extLst>
                  <a:ext uri="{0D108BD9-81ED-4DB2-BD59-A6C34878D82A}">
                    <a16:rowId xmlns:a16="http://schemas.microsoft.com/office/drawing/2014/main" val="2933832355"/>
                  </a:ext>
                </a:extLst>
              </a:tr>
              <a:tr h="370840">
                <a:tc>
                  <a:txBody>
                    <a:bodyPr/>
                    <a:lstStyle/>
                    <a:p>
                      <a:pPr algn="ctr">
                        <a:buNone/>
                      </a:pPr>
                      <a:r>
                        <a:rPr lang="en-IN" dirty="0" err="1">
                          <a:latin typeface="Times New Roman" panose="02020603050405020304" pitchFamily="18" charset="0"/>
                          <a:cs typeface="Times New Roman" panose="02020603050405020304" pitchFamily="18" charset="0"/>
                        </a:rPr>
                        <a:t>prediction_id</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a:latin typeface="Times New Roman" panose="02020603050405020304" pitchFamily="18" charset="0"/>
                          <a:cs typeface="Times New Roman" panose="02020603050405020304" pitchFamily="18" charset="0"/>
                        </a:rPr>
                        <a:t>INT</a:t>
                      </a:r>
                    </a:p>
                  </a:txBody>
                  <a:tcPr anchor="ctr"/>
                </a:tc>
                <a:tc>
                  <a:txBody>
                    <a:bodyPr/>
                    <a:lstStyle/>
                    <a:p>
                      <a:pPr algn="ctr">
                        <a:buNone/>
                      </a:pPr>
                      <a:r>
                        <a:rPr lang="en-IN">
                          <a:latin typeface="Times New Roman" panose="02020603050405020304" pitchFamily="18" charset="0"/>
                          <a:cs typeface="Times New Roman" panose="02020603050405020304" pitchFamily="18" charset="0"/>
                        </a:rPr>
                        <a:t>PK</a:t>
                      </a:r>
                    </a:p>
                  </a:txBody>
                  <a:tcPr anchor="ctr"/>
                </a:tc>
                <a:tc>
                  <a:txBody>
                    <a:bodyPr/>
                    <a:lstStyle/>
                    <a:p>
                      <a:pPr algn="ctr">
                        <a:buNone/>
                      </a:pPr>
                      <a:r>
                        <a:rPr lang="en-IN">
                          <a:latin typeface="Times New Roman" panose="02020603050405020304" pitchFamily="18" charset="0"/>
                          <a:cs typeface="Times New Roman" panose="02020603050405020304" pitchFamily="18" charset="0"/>
                        </a:rPr>
                        <a:t>Unique Prediction ID</a:t>
                      </a:r>
                    </a:p>
                  </a:txBody>
                  <a:tcPr anchor="ctr"/>
                </a:tc>
                <a:extLst>
                  <a:ext uri="{0D108BD9-81ED-4DB2-BD59-A6C34878D82A}">
                    <a16:rowId xmlns:a16="http://schemas.microsoft.com/office/drawing/2014/main" val="2678097486"/>
                  </a:ext>
                </a:extLst>
              </a:tr>
              <a:tr h="370840">
                <a:tc>
                  <a:txBody>
                    <a:bodyPr/>
                    <a:lstStyle/>
                    <a:p>
                      <a:pPr algn="ctr">
                        <a:buNone/>
                      </a:pPr>
                      <a:r>
                        <a:rPr lang="en-IN">
                          <a:latin typeface="Times New Roman" panose="02020603050405020304" pitchFamily="18" charset="0"/>
                          <a:cs typeface="Times New Roman" panose="02020603050405020304" pitchFamily="18" charset="0"/>
                        </a:rPr>
                        <a:t>item_id</a:t>
                      </a:r>
                    </a:p>
                  </a:txBody>
                  <a:tcPr anchor="ctr"/>
                </a:tc>
                <a:tc>
                  <a:txBody>
                    <a:bodyPr/>
                    <a:lstStyle/>
                    <a:p>
                      <a:pPr algn="ctr">
                        <a:buNone/>
                      </a:pPr>
                      <a:r>
                        <a:rPr lang="en-IN">
                          <a:latin typeface="Times New Roman" panose="02020603050405020304" pitchFamily="18" charset="0"/>
                          <a:cs typeface="Times New Roman" panose="02020603050405020304" pitchFamily="18" charset="0"/>
                        </a:rPr>
                        <a:t>INT</a:t>
                      </a:r>
                    </a:p>
                  </a:txBody>
                  <a:tcPr anchor="ctr"/>
                </a:tc>
                <a:tc>
                  <a:txBody>
                    <a:bodyPr/>
                    <a:lstStyle/>
                    <a:p>
                      <a:pPr algn="ctr">
                        <a:buNone/>
                      </a:pPr>
                      <a:r>
                        <a:rPr lang="en-IN">
                          <a:latin typeface="Times New Roman" panose="02020603050405020304" pitchFamily="18" charset="0"/>
                          <a:cs typeface="Times New Roman" panose="02020603050405020304" pitchFamily="18" charset="0"/>
                        </a:rPr>
                        <a:t>FK</a:t>
                      </a:r>
                    </a:p>
                  </a:txBody>
                  <a:tcPr anchor="ctr"/>
                </a:tc>
                <a:tc>
                  <a:txBody>
                    <a:bodyPr/>
                    <a:lstStyle/>
                    <a:p>
                      <a:pPr algn="ctr">
                        <a:buNone/>
                      </a:pPr>
                      <a:r>
                        <a:rPr lang="en-US">
                          <a:latin typeface="Times New Roman" panose="02020603050405020304" pitchFamily="18" charset="0"/>
                          <a:cs typeface="Times New Roman" panose="02020603050405020304" pitchFamily="18" charset="0"/>
                        </a:rPr>
                        <a:t>References food_item(item_id)</a:t>
                      </a:r>
                    </a:p>
                  </a:txBody>
                  <a:tcPr anchor="ctr"/>
                </a:tc>
                <a:extLst>
                  <a:ext uri="{0D108BD9-81ED-4DB2-BD59-A6C34878D82A}">
                    <a16:rowId xmlns:a16="http://schemas.microsoft.com/office/drawing/2014/main" val="114009991"/>
                  </a:ext>
                </a:extLst>
              </a:tr>
              <a:tr h="370840">
                <a:tc>
                  <a:txBody>
                    <a:bodyPr/>
                    <a:lstStyle/>
                    <a:p>
                      <a:pPr algn="ctr">
                        <a:buNone/>
                      </a:pPr>
                      <a:r>
                        <a:rPr lang="en-IN">
                          <a:latin typeface="Times New Roman" panose="02020603050405020304" pitchFamily="18" charset="0"/>
                          <a:cs typeface="Times New Roman" panose="02020603050405020304" pitchFamily="18" charset="0"/>
                        </a:rPr>
                        <a:t>predicted_qty</a:t>
                      </a:r>
                    </a:p>
                  </a:txBody>
                  <a:tcPr anchor="ctr"/>
                </a:tc>
                <a:tc>
                  <a:txBody>
                    <a:bodyPr/>
                    <a:lstStyle/>
                    <a:p>
                      <a:pPr algn="ctr">
                        <a:buNone/>
                      </a:pPr>
                      <a:r>
                        <a:rPr lang="en-IN">
                          <a:latin typeface="Times New Roman" panose="02020603050405020304" pitchFamily="18" charset="0"/>
                          <a:cs typeface="Times New Roman" panose="02020603050405020304" pitchFamily="18" charset="0"/>
                        </a:rPr>
                        <a:t>INT</a:t>
                      </a:r>
                    </a:p>
                  </a:txBody>
                  <a:tcPr anchor="ctr"/>
                </a:tc>
                <a:tc>
                  <a:txBody>
                    <a:bodyPr/>
                    <a:lstStyle/>
                    <a:p>
                      <a:pPr algn="ctr">
                        <a:buNone/>
                      </a:pPr>
                      <a:endParaRPr lang="en-IN">
                        <a:latin typeface="Times New Roman" panose="02020603050405020304" pitchFamily="18" charset="0"/>
                        <a:cs typeface="Times New Roman" panose="02020603050405020304" pitchFamily="18" charset="0"/>
                      </a:endParaRPr>
                    </a:p>
                  </a:txBody>
                  <a:tcPr anchor="ctr"/>
                </a:tc>
                <a:tc>
                  <a:txBody>
                    <a:bodyPr/>
                    <a:lstStyle/>
                    <a:p>
                      <a:pPr algn="ctr">
                        <a:buNone/>
                      </a:pPr>
                      <a:r>
                        <a:rPr lang="en-IN">
                          <a:latin typeface="Times New Roman" panose="02020603050405020304" pitchFamily="18" charset="0"/>
                          <a:cs typeface="Times New Roman" panose="02020603050405020304" pitchFamily="18" charset="0"/>
                        </a:rPr>
                        <a:t>Predicted Demand</a:t>
                      </a:r>
                    </a:p>
                  </a:txBody>
                  <a:tcPr anchor="ctr"/>
                </a:tc>
                <a:extLst>
                  <a:ext uri="{0D108BD9-81ED-4DB2-BD59-A6C34878D82A}">
                    <a16:rowId xmlns:a16="http://schemas.microsoft.com/office/drawing/2014/main" val="572119352"/>
                  </a:ext>
                </a:extLst>
              </a:tr>
              <a:tr h="370840">
                <a:tc>
                  <a:txBody>
                    <a:bodyPr/>
                    <a:lstStyle/>
                    <a:p>
                      <a:pPr algn="ctr">
                        <a:buNone/>
                      </a:pPr>
                      <a:r>
                        <a:rPr lang="en-IN">
                          <a:latin typeface="Times New Roman" panose="02020603050405020304" pitchFamily="18" charset="0"/>
                          <a:cs typeface="Times New Roman" panose="02020603050405020304" pitchFamily="18" charset="0"/>
                        </a:rPr>
                        <a:t>prediction_date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DATE</a:t>
                      </a:r>
                    </a:p>
                  </a:txBody>
                  <a:tcPr anchor="ctr"/>
                </a:tc>
                <a:tc>
                  <a:txBody>
                    <a:bodyPr/>
                    <a:lstStyle/>
                    <a:p>
                      <a:pPr algn="ctr">
                        <a:buNone/>
                      </a:pPr>
                      <a:endParaRPr lang="en-IN">
                        <a:latin typeface="Times New Roman" panose="02020603050405020304" pitchFamily="18" charset="0"/>
                        <a:cs typeface="Times New Roman" panose="02020603050405020304" pitchFamily="18" charset="0"/>
                      </a:endParaRP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Date of Prediction</a:t>
                      </a:r>
                    </a:p>
                  </a:txBody>
                  <a:tcPr anchor="ctr"/>
                </a:tc>
                <a:extLst>
                  <a:ext uri="{0D108BD9-81ED-4DB2-BD59-A6C34878D82A}">
                    <a16:rowId xmlns:a16="http://schemas.microsoft.com/office/drawing/2014/main" val="2047202121"/>
                  </a:ext>
                </a:extLst>
              </a:tr>
            </a:tbl>
          </a:graphicData>
        </a:graphic>
      </p:graphicFrame>
      <p:sp>
        <p:nvSpPr>
          <p:cNvPr id="6" name="TextBox 5">
            <a:extLst>
              <a:ext uri="{FF2B5EF4-FFF2-40B4-BE49-F238E27FC236}">
                <a16:creationId xmlns:a16="http://schemas.microsoft.com/office/drawing/2014/main" id="{0D2F9C30-C1E2-FEE0-C8CC-B9EBD3E11C01}"/>
              </a:ext>
            </a:extLst>
          </p:cNvPr>
          <p:cNvSpPr txBox="1"/>
          <p:nvPr/>
        </p:nvSpPr>
        <p:spPr>
          <a:xfrm>
            <a:off x="201704" y="1369292"/>
            <a:ext cx="6101976" cy="584775"/>
          </a:xfrm>
          <a:prstGeom prst="rect">
            <a:avLst/>
          </a:prstGeom>
          <a:noFill/>
        </p:spPr>
        <p:txBody>
          <a:bodyPr wrap="square">
            <a:spAutoFit/>
          </a:bodyPr>
          <a:lstStyle/>
          <a:p>
            <a:r>
              <a:rPr lang="en-IN" sz="3200" b="1" dirty="0" err="1">
                <a:latin typeface="Times New Roman" panose="02020603050405020304" pitchFamily="18" charset="0"/>
                <a:cs typeface="Times New Roman" panose="02020603050405020304" pitchFamily="18" charset="0"/>
              </a:rPr>
              <a:t>Sales_Data</a:t>
            </a:r>
            <a:r>
              <a:rPr lang="en-IN" sz="3200" b="1" dirty="0">
                <a:latin typeface="Times New Roman" panose="02020603050405020304" pitchFamily="18" charset="0"/>
                <a:cs typeface="Times New Roman" panose="02020603050405020304" pitchFamily="18" charset="0"/>
              </a:rPr>
              <a:t> Table</a:t>
            </a:r>
          </a:p>
        </p:txBody>
      </p:sp>
      <p:sp>
        <p:nvSpPr>
          <p:cNvPr id="7" name="TextBox 6">
            <a:extLst>
              <a:ext uri="{FF2B5EF4-FFF2-40B4-BE49-F238E27FC236}">
                <a16:creationId xmlns:a16="http://schemas.microsoft.com/office/drawing/2014/main" id="{AABD3853-57A0-CFC4-A43C-FF1B83AEF52F}"/>
              </a:ext>
            </a:extLst>
          </p:cNvPr>
          <p:cNvSpPr txBox="1"/>
          <p:nvPr/>
        </p:nvSpPr>
        <p:spPr>
          <a:xfrm>
            <a:off x="201704" y="4319159"/>
            <a:ext cx="610197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prediction Table</a:t>
            </a:r>
          </a:p>
        </p:txBody>
      </p:sp>
    </p:spTree>
    <p:extLst>
      <p:ext uri="{BB962C8B-B14F-4D97-AF65-F5344CB8AC3E}">
        <p14:creationId xmlns:p14="http://schemas.microsoft.com/office/powerpoint/2010/main" val="3214938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3E8066-F224-55C9-1F7D-7E478F084B9D}"/>
              </a:ext>
            </a:extLst>
          </p:cNvPr>
          <p:cNvPicPr>
            <a:picLocks noChangeAspect="1"/>
          </p:cNvPicPr>
          <p:nvPr/>
        </p:nvPicPr>
        <p:blipFill>
          <a:blip r:embed="rId2"/>
          <a:srcRect r="24126"/>
          <a:stretch>
            <a:fillRect/>
          </a:stretch>
        </p:blipFill>
        <p:spPr>
          <a:xfrm>
            <a:off x="141261" y="163977"/>
            <a:ext cx="5883021" cy="2746564"/>
          </a:xfrm>
          <a:prstGeom prst="rect">
            <a:avLst/>
          </a:prstGeom>
        </p:spPr>
      </p:pic>
      <p:pic>
        <p:nvPicPr>
          <p:cNvPr id="5" name="Picture 4">
            <a:extLst>
              <a:ext uri="{FF2B5EF4-FFF2-40B4-BE49-F238E27FC236}">
                <a16:creationId xmlns:a16="http://schemas.microsoft.com/office/drawing/2014/main" id="{BBFFF669-E930-3640-EA7B-F8ECD0E085AF}"/>
              </a:ext>
            </a:extLst>
          </p:cNvPr>
          <p:cNvPicPr>
            <a:picLocks noChangeAspect="1"/>
          </p:cNvPicPr>
          <p:nvPr/>
        </p:nvPicPr>
        <p:blipFill>
          <a:blip r:embed="rId3"/>
          <a:stretch>
            <a:fillRect/>
          </a:stretch>
        </p:blipFill>
        <p:spPr>
          <a:xfrm>
            <a:off x="6251388" y="163978"/>
            <a:ext cx="5360893" cy="2603128"/>
          </a:xfrm>
          <a:prstGeom prst="rect">
            <a:avLst/>
          </a:prstGeom>
        </p:spPr>
      </p:pic>
      <p:pic>
        <p:nvPicPr>
          <p:cNvPr id="7" name="Picture 6">
            <a:extLst>
              <a:ext uri="{FF2B5EF4-FFF2-40B4-BE49-F238E27FC236}">
                <a16:creationId xmlns:a16="http://schemas.microsoft.com/office/drawing/2014/main" id="{6C3F634E-D249-09FF-6844-86508BA899E9}"/>
              </a:ext>
            </a:extLst>
          </p:cNvPr>
          <p:cNvPicPr>
            <a:picLocks noChangeAspect="1"/>
          </p:cNvPicPr>
          <p:nvPr/>
        </p:nvPicPr>
        <p:blipFill>
          <a:blip r:embed="rId4"/>
          <a:stretch>
            <a:fillRect/>
          </a:stretch>
        </p:blipFill>
        <p:spPr>
          <a:xfrm>
            <a:off x="239058" y="2910541"/>
            <a:ext cx="5582023" cy="3783482"/>
          </a:xfrm>
          <a:prstGeom prst="rect">
            <a:avLst/>
          </a:prstGeom>
        </p:spPr>
      </p:pic>
      <p:pic>
        <p:nvPicPr>
          <p:cNvPr id="9" name="Picture 8">
            <a:extLst>
              <a:ext uri="{FF2B5EF4-FFF2-40B4-BE49-F238E27FC236}">
                <a16:creationId xmlns:a16="http://schemas.microsoft.com/office/drawing/2014/main" id="{910AE8F1-E501-B7EE-B3FB-0411D36C98CA}"/>
              </a:ext>
            </a:extLst>
          </p:cNvPr>
          <p:cNvPicPr>
            <a:picLocks noChangeAspect="1"/>
          </p:cNvPicPr>
          <p:nvPr/>
        </p:nvPicPr>
        <p:blipFill>
          <a:blip r:embed="rId5"/>
          <a:stretch>
            <a:fillRect/>
          </a:stretch>
        </p:blipFill>
        <p:spPr>
          <a:xfrm>
            <a:off x="6251388" y="2857128"/>
            <a:ext cx="5484225" cy="3836894"/>
          </a:xfrm>
          <a:prstGeom prst="rect">
            <a:avLst/>
          </a:prstGeom>
        </p:spPr>
      </p:pic>
      <p:sp>
        <p:nvSpPr>
          <p:cNvPr id="12" name="TextBox 11">
            <a:extLst>
              <a:ext uri="{FF2B5EF4-FFF2-40B4-BE49-F238E27FC236}">
                <a16:creationId xmlns:a16="http://schemas.microsoft.com/office/drawing/2014/main" id="{CFB87CDA-8863-841C-333E-A92911B40A04}"/>
              </a:ext>
            </a:extLst>
          </p:cNvPr>
          <p:cNvSpPr txBox="1"/>
          <p:nvPr/>
        </p:nvSpPr>
        <p:spPr>
          <a:xfrm>
            <a:off x="3275108" y="2280460"/>
            <a:ext cx="5785224" cy="769441"/>
          </a:xfrm>
          <a:prstGeom prst="rect">
            <a:avLst/>
          </a:prstGeom>
          <a:noFill/>
        </p:spPr>
        <p:txBody>
          <a:bodyPr wrap="square" rtlCol="0">
            <a:spAutoFit/>
          </a:bodyPr>
          <a:lstStyle/>
          <a:p>
            <a:pPr algn="ctr"/>
            <a:r>
              <a:rPr lang="en-US" sz="4400" b="1" dirty="0">
                <a:solidFill>
                  <a:schemeClr val="accent1"/>
                </a:solidFill>
                <a:latin typeface="Times New Roman" panose="02020603050405020304" pitchFamily="18" charset="0"/>
                <a:cs typeface="Times New Roman" panose="02020603050405020304" pitchFamily="18" charset="0"/>
              </a:rPr>
              <a:t>Sample Screenshots</a:t>
            </a:r>
          </a:p>
        </p:txBody>
      </p:sp>
    </p:spTree>
    <p:extLst>
      <p:ext uri="{BB962C8B-B14F-4D97-AF65-F5344CB8AC3E}">
        <p14:creationId xmlns:p14="http://schemas.microsoft.com/office/powerpoint/2010/main" val="2423101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03DD78-1241-C6B4-8EF0-C4224BFD6DE0}"/>
              </a:ext>
            </a:extLst>
          </p:cNvPr>
          <p:cNvPicPr>
            <a:picLocks noChangeAspect="1"/>
          </p:cNvPicPr>
          <p:nvPr/>
        </p:nvPicPr>
        <p:blipFill>
          <a:blip r:embed="rId2"/>
          <a:srcRect r="36955"/>
          <a:stretch>
            <a:fillRect/>
          </a:stretch>
        </p:blipFill>
        <p:spPr>
          <a:xfrm>
            <a:off x="107575" y="89647"/>
            <a:ext cx="4243296" cy="3220724"/>
          </a:xfrm>
          <a:prstGeom prst="rect">
            <a:avLst/>
          </a:prstGeom>
        </p:spPr>
      </p:pic>
      <p:pic>
        <p:nvPicPr>
          <p:cNvPr id="9" name="Picture 8">
            <a:extLst>
              <a:ext uri="{FF2B5EF4-FFF2-40B4-BE49-F238E27FC236}">
                <a16:creationId xmlns:a16="http://schemas.microsoft.com/office/drawing/2014/main" id="{D839A579-5FBE-DB5D-5B4F-E68969BAD9EF}"/>
              </a:ext>
            </a:extLst>
          </p:cNvPr>
          <p:cNvPicPr>
            <a:picLocks noChangeAspect="1"/>
          </p:cNvPicPr>
          <p:nvPr/>
        </p:nvPicPr>
        <p:blipFill>
          <a:blip r:embed="rId3"/>
          <a:srcRect r="29488"/>
          <a:stretch>
            <a:fillRect/>
          </a:stretch>
        </p:blipFill>
        <p:spPr>
          <a:xfrm>
            <a:off x="173315" y="5583544"/>
            <a:ext cx="4016189" cy="1203358"/>
          </a:xfrm>
          <a:prstGeom prst="rect">
            <a:avLst/>
          </a:prstGeom>
        </p:spPr>
      </p:pic>
      <p:pic>
        <p:nvPicPr>
          <p:cNvPr id="11" name="Picture 10">
            <a:extLst>
              <a:ext uri="{FF2B5EF4-FFF2-40B4-BE49-F238E27FC236}">
                <a16:creationId xmlns:a16="http://schemas.microsoft.com/office/drawing/2014/main" id="{F7787B5B-7851-90B6-5286-FE1B9FCF18FE}"/>
              </a:ext>
            </a:extLst>
          </p:cNvPr>
          <p:cNvPicPr>
            <a:picLocks noChangeAspect="1"/>
          </p:cNvPicPr>
          <p:nvPr/>
        </p:nvPicPr>
        <p:blipFill>
          <a:blip r:embed="rId4"/>
          <a:srcRect r="36337" b="37101"/>
          <a:stretch>
            <a:fillRect/>
          </a:stretch>
        </p:blipFill>
        <p:spPr>
          <a:xfrm>
            <a:off x="0" y="3310371"/>
            <a:ext cx="4189505" cy="2273173"/>
          </a:xfrm>
          <a:prstGeom prst="rect">
            <a:avLst/>
          </a:prstGeom>
        </p:spPr>
      </p:pic>
      <p:pic>
        <p:nvPicPr>
          <p:cNvPr id="13" name="Picture 12">
            <a:extLst>
              <a:ext uri="{FF2B5EF4-FFF2-40B4-BE49-F238E27FC236}">
                <a16:creationId xmlns:a16="http://schemas.microsoft.com/office/drawing/2014/main" id="{EE4E6C39-C158-458E-1A1C-2BCA179DE3B9}"/>
              </a:ext>
            </a:extLst>
          </p:cNvPr>
          <p:cNvPicPr>
            <a:picLocks noChangeAspect="1"/>
          </p:cNvPicPr>
          <p:nvPr/>
        </p:nvPicPr>
        <p:blipFill>
          <a:blip r:embed="rId5"/>
          <a:srcRect r="30836"/>
          <a:stretch>
            <a:fillRect/>
          </a:stretch>
        </p:blipFill>
        <p:spPr>
          <a:xfrm>
            <a:off x="4733365" y="189260"/>
            <a:ext cx="4745317" cy="2804952"/>
          </a:xfrm>
          <a:prstGeom prst="rect">
            <a:avLst/>
          </a:prstGeom>
        </p:spPr>
      </p:pic>
      <p:pic>
        <p:nvPicPr>
          <p:cNvPr id="2052" name="Picture 4">
            <a:extLst>
              <a:ext uri="{FF2B5EF4-FFF2-40B4-BE49-F238E27FC236}">
                <a16:creationId xmlns:a16="http://schemas.microsoft.com/office/drawing/2014/main" id="{878943C3-4DBB-86E8-2273-F5C729FDD0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8445" y="3131671"/>
            <a:ext cx="7135908" cy="3613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6904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2ECBE-341D-BF7D-88E2-A52B2BF2A24E}"/>
              </a:ext>
            </a:extLst>
          </p:cNvPr>
          <p:cNvSpPr>
            <a:spLocks noGrp="1"/>
          </p:cNvSpPr>
          <p:nvPr>
            <p:ph type="title"/>
          </p:nvPr>
        </p:nvSpPr>
        <p:spPr/>
        <p:txBody>
          <a:bodyPr>
            <a:normAutofit/>
          </a:bodyPr>
          <a:lstStyle/>
          <a:p>
            <a:pPr algn="ctr"/>
            <a:r>
              <a:rPr lang="en-IN" sz="4800" dirty="0">
                <a:latin typeface="Times New Roman" panose="02020603050405020304" pitchFamily="18" charset="0"/>
                <a:cs typeface="Times New Roman" panose="02020603050405020304" pitchFamily="18" charset="0"/>
              </a:rPr>
              <a:t>Conclusion </a:t>
            </a:r>
          </a:p>
        </p:txBody>
      </p:sp>
      <p:sp>
        <p:nvSpPr>
          <p:cNvPr id="3" name="Content Placeholder 2">
            <a:extLst>
              <a:ext uri="{FF2B5EF4-FFF2-40B4-BE49-F238E27FC236}">
                <a16:creationId xmlns:a16="http://schemas.microsoft.com/office/drawing/2014/main" id="{7B57599F-27A0-E45A-1C3A-97660FF6A37D}"/>
              </a:ext>
            </a:extLst>
          </p:cNvPr>
          <p:cNvSpPr>
            <a:spLocks noGrp="1"/>
          </p:cNvSpPr>
          <p:nvPr>
            <p:ph idx="1"/>
          </p:nvPr>
        </p:nvSpPr>
        <p:spPr>
          <a:xfrm>
            <a:off x="1295400" y="2038710"/>
            <a:ext cx="9601200" cy="3809999"/>
          </a:xfrm>
        </p:spPr>
        <p:txBody>
          <a:bodyPr>
            <a:normAutofit/>
          </a:bodyPr>
          <a:lstStyle/>
          <a:p>
            <a:pPr algn="just"/>
            <a:r>
              <a:rPr lang="en-US" sz="2400" dirty="0">
                <a:latin typeface="Times New Roman" panose="02020603050405020304" pitchFamily="18" charset="0"/>
                <a:cs typeface="Times New Roman" panose="02020603050405020304" pitchFamily="18" charset="0"/>
              </a:rPr>
              <a:t>The developed system successfully predicts daily food demand using Machine Learning and AI techniques.</a:t>
            </a:r>
          </a:p>
          <a:p>
            <a:pPr algn="just"/>
            <a:r>
              <a:rPr lang="en-US" sz="2400" dirty="0">
                <a:latin typeface="Times New Roman" panose="02020603050405020304" pitchFamily="18" charset="0"/>
                <a:cs typeface="Times New Roman" panose="02020603050405020304" pitchFamily="18" charset="0"/>
              </a:rPr>
              <a:t>It helps the canteen reduce food wastage by preparing the right amount of food based on predicted demand.</a:t>
            </a:r>
          </a:p>
          <a:p>
            <a:pPr algn="just"/>
            <a:r>
              <a:rPr lang="en-US" sz="2400" dirty="0">
                <a:latin typeface="Times New Roman" panose="02020603050405020304" pitchFamily="18" charset="0"/>
                <a:cs typeface="Times New Roman" panose="02020603050405020304" pitchFamily="18" charset="0"/>
              </a:rPr>
              <a:t>The system supports efficient planning, resource optimization, and better decision-making for canteen management.</a:t>
            </a:r>
          </a:p>
          <a:p>
            <a:pPr algn="just"/>
            <a:r>
              <a:rPr lang="en-US" sz="2400" dirty="0">
                <a:latin typeface="Times New Roman" panose="02020603050405020304" pitchFamily="18" charset="0"/>
                <a:cs typeface="Times New Roman" panose="02020603050405020304" pitchFamily="18" charset="0"/>
              </a:rPr>
              <a:t>Overall, it contributes to a more sustainable, cost-effective, and data-driven canteen operation.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4826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D201F-1E52-71DD-5242-F190E688D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91B92B-2725-ED34-22B4-D2214C2BF927}"/>
              </a:ext>
            </a:extLst>
          </p:cNvPr>
          <p:cNvSpPr>
            <a:spLocks noGrp="1"/>
          </p:cNvSpPr>
          <p:nvPr>
            <p:ph type="title"/>
          </p:nvPr>
        </p:nvSpPr>
        <p:spPr/>
        <p:txBody>
          <a:bodyPr>
            <a:normAutofit/>
          </a:bodyPr>
          <a:lstStyle/>
          <a:p>
            <a:pPr algn="ctr"/>
            <a:r>
              <a:rPr lang="en-IN" sz="4800" dirty="0">
                <a:latin typeface="Times New Roman" panose="02020603050405020304" pitchFamily="18" charset="0"/>
                <a:cs typeface="Times New Roman" panose="02020603050405020304" pitchFamily="18" charset="0"/>
              </a:rPr>
              <a:t>Future Enhancements</a:t>
            </a:r>
          </a:p>
        </p:txBody>
      </p:sp>
      <p:sp>
        <p:nvSpPr>
          <p:cNvPr id="3" name="Content Placeholder 2">
            <a:extLst>
              <a:ext uri="{FF2B5EF4-FFF2-40B4-BE49-F238E27FC236}">
                <a16:creationId xmlns:a16="http://schemas.microsoft.com/office/drawing/2014/main" id="{355442A8-09DA-43BB-B885-CA22884CB87D}"/>
              </a:ext>
            </a:extLst>
          </p:cNvPr>
          <p:cNvSpPr>
            <a:spLocks noGrp="1"/>
          </p:cNvSpPr>
          <p:nvPr>
            <p:ph idx="1"/>
          </p:nvPr>
        </p:nvSpPr>
        <p:spPr>
          <a:xfrm>
            <a:off x="1295400" y="2038710"/>
            <a:ext cx="9601200" cy="3809999"/>
          </a:xfrm>
        </p:spPr>
        <p:txBody>
          <a:bodyPr>
            <a:normAutofit fontScale="92500" lnSpcReduction="10000"/>
          </a:bodyPr>
          <a:lstStyle/>
          <a:p>
            <a:pPr algn="just"/>
            <a:r>
              <a:rPr lang="en-US" sz="2400" dirty="0">
                <a:latin typeface="Times New Roman" panose="02020603050405020304" pitchFamily="18" charset="0"/>
                <a:cs typeface="Times New Roman" panose="02020603050405020304" pitchFamily="18" charset="0"/>
              </a:rPr>
              <a:t>Integrate </a:t>
            </a:r>
            <a:r>
              <a:rPr lang="en-US" sz="2400" b="1" dirty="0">
                <a:latin typeface="Times New Roman" panose="02020603050405020304" pitchFamily="18" charset="0"/>
                <a:cs typeface="Times New Roman" panose="02020603050405020304" pitchFamily="18" charset="0"/>
              </a:rPr>
              <a:t>real-time automation</a:t>
            </a:r>
            <a:r>
              <a:rPr lang="en-US" sz="2400" dirty="0">
                <a:latin typeface="Times New Roman" panose="02020603050405020304" pitchFamily="18" charset="0"/>
                <a:cs typeface="Times New Roman" panose="02020603050405020304" pitchFamily="18" charset="0"/>
              </a:rPr>
              <a:t> using IoT sensors to collect live footfall and inventory data.</a:t>
            </a:r>
          </a:p>
          <a:p>
            <a:pPr algn="just"/>
            <a:r>
              <a:rPr lang="en-US" sz="2400" dirty="0">
                <a:latin typeface="Times New Roman" panose="02020603050405020304" pitchFamily="18" charset="0"/>
                <a:cs typeface="Times New Roman" panose="02020603050405020304" pitchFamily="18" charset="0"/>
              </a:rPr>
              <a:t>Develop a </a:t>
            </a:r>
            <a:r>
              <a:rPr lang="en-US" sz="2400" b="1" dirty="0">
                <a:latin typeface="Times New Roman" panose="02020603050405020304" pitchFamily="18" charset="0"/>
                <a:cs typeface="Times New Roman" panose="02020603050405020304" pitchFamily="18" charset="0"/>
              </a:rPr>
              <a:t>mobile application</a:t>
            </a:r>
            <a:r>
              <a:rPr lang="en-US" sz="2400" dirty="0">
                <a:latin typeface="Times New Roman" panose="02020603050405020304" pitchFamily="18" charset="0"/>
                <a:cs typeface="Times New Roman" panose="02020603050405020304" pitchFamily="18" charset="0"/>
              </a:rPr>
              <a:t> for staff to view predictions and enter daily sales on the go.</a:t>
            </a:r>
          </a:p>
          <a:p>
            <a:pPr algn="just"/>
            <a:r>
              <a:rPr lang="en-US" sz="2400" dirty="0">
                <a:latin typeface="Times New Roman" panose="02020603050405020304" pitchFamily="18" charset="0"/>
                <a:cs typeface="Times New Roman" panose="02020603050405020304" pitchFamily="18" charset="0"/>
              </a:rPr>
              <a:t>Add </a:t>
            </a:r>
            <a:r>
              <a:rPr lang="en-US" sz="2400" b="1" dirty="0">
                <a:latin typeface="Times New Roman" panose="02020603050405020304" pitchFamily="18" charset="0"/>
                <a:cs typeface="Times New Roman" panose="02020603050405020304" pitchFamily="18" charset="0"/>
              </a:rPr>
              <a:t>cloud storage and API support</a:t>
            </a:r>
            <a:r>
              <a:rPr lang="en-US" sz="2400" dirty="0">
                <a:latin typeface="Times New Roman" panose="02020603050405020304" pitchFamily="18" charset="0"/>
                <a:cs typeface="Times New Roman" panose="02020603050405020304" pitchFamily="18" charset="0"/>
              </a:rPr>
              <a:t> for seamless access, backup, and integration with other systems.</a:t>
            </a:r>
          </a:p>
          <a:p>
            <a:pPr algn="just"/>
            <a:r>
              <a:rPr lang="en-US" sz="2400" dirty="0">
                <a:latin typeface="Times New Roman" panose="02020603050405020304" pitchFamily="18" charset="0"/>
                <a:cs typeface="Times New Roman" panose="02020603050405020304" pitchFamily="18" charset="0"/>
              </a:rPr>
              <a:t>Improve prediction accuracy using </a:t>
            </a:r>
            <a:r>
              <a:rPr lang="en-US" sz="2400" b="1" dirty="0">
                <a:latin typeface="Times New Roman" panose="02020603050405020304" pitchFamily="18" charset="0"/>
                <a:cs typeface="Times New Roman" panose="02020603050405020304" pitchFamily="18" charset="0"/>
              </a:rPr>
              <a:t>hybrid deep-learning models</a:t>
            </a:r>
            <a:r>
              <a:rPr lang="en-US" sz="2400" dirty="0">
                <a:latin typeface="Times New Roman" panose="02020603050405020304" pitchFamily="18" charset="0"/>
                <a:cs typeface="Times New Roman" panose="02020603050405020304" pitchFamily="18" charset="0"/>
              </a:rPr>
              <a:t> such as CNN-LSTM or Transformer-based approaches.</a:t>
            </a:r>
          </a:p>
          <a:p>
            <a:pPr algn="just"/>
            <a:r>
              <a:rPr lang="en-US" sz="2400" dirty="0">
                <a:latin typeface="Times New Roman" panose="02020603050405020304" pitchFamily="18" charset="0"/>
                <a:cs typeface="Times New Roman" panose="02020603050405020304" pitchFamily="18" charset="0"/>
              </a:rPr>
              <a:t>Include </a:t>
            </a:r>
            <a:r>
              <a:rPr lang="en-US" sz="2400" b="1" dirty="0">
                <a:latin typeface="Times New Roman" panose="02020603050405020304" pitchFamily="18" charset="0"/>
                <a:cs typeface="Times New Roman" panose="02020603050405020304" pitchFamily="18" charset="0"/>
              </a:rPr>
              <a:t>automatic menu optimization</a:t>
            </a:r>
            <a:r>
              <a:rPr lang="en-US" sz="2400" dirty="0">
                <a:latin typeface="Times New Roman" panose="02020603050405020304" pitchFamily="18" charset="0"/>
                <a:cs typeface="Times New Roman" panose="02020603050405020304" pitchFamily="18" charset="0"/>
              </a:rPr>
              <a:t> based on demand patterns and student preferences.</a:t>
            </a:r>
          </a:p>
        </p:txBody>
      </p:sp>
    </p:spTree>
    <p:extLst>
      <p:ext uri="{BB962C8B-B14F-4D97-AF65-F5344CB8AC3E}">
        <p14:creationId xmlns:p14="http://schemas.microsoft.com/office/powerpoint/2010/main" val="805107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D0C0F3-0555-8BF1-B6C0-03CECAA9E49E}"/>
              </a:ext>
            </a:extLst>
          </p:cNvPr>
          <p:cNvSpPr/>
          <p:nvPr/>
        </p:nvSpPr>
        <p:spPr>
          <a:xfrm>
            <a:off x="2872711" y="2497976"/>
            <a:ext cx="6960560" cy="1862048"/>
          </a:xfrm>
          <a:prstGeom prst="rect">
            <a:avLst/>
          </a:prstGeom>
          <a:noFill/>
        </p:spPr>
        <p:txBody>
          <a:bodyPr wrap="none" lIns="91440" tIns="45720" rIns="91440" bIns="45720">
            <a:spAutoFit/>
          </a:bodyPr>
          <a:lstStyle/>
          <a:p>
            <a:pPr algn="ctr"/>
            <a:r>
              <a:rPr lang="en-US" sz="11500" dirty="0">
                <a:ln w="0"/>
                <a:solidFill>
                  <a:schemeClr val="accent1"/>
                </a:solidFill>
                <a:effectLst>
                  <a:outerShdw blurRad="38100" dist="25400" dir="5400000" algn="ctr" rotWithShape="0">
                    <a:srgbClr val="6E747A">
                      <a:alpha val="43000"/>
                    </a:srgbClr>
                  </a:outerShdw>
                </a:effectLst>
                <a:latin typeface="Baskerville Old Face" panose="02020602080505020303" pitchFamily="18" charset="0"/>
              </a:rPr>
              <a:t>Thank You</a:t>
            </a:r>
          </a:p>
        </p:txBody>
      </p:sp>
    </p:spTree>
    <p:extLst>
      <p:ext uri="{BB962C8B-B14F-4D97-AF65-F5344CB8AC3E}">
        <p14:creationId xmlns:p14="http://schemas.microsoft.com/office/powerpoint/2010/main" val="2462451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148</TotalTime>
  <Words>1184</Words>
  <Application>Microsoft Office PowerPoint</Application>
  <PresentationFormat>Widescreen</PresentationFormat>
  <Paragraphs>169</Paragraphs>
  <Slides>21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Baskerville Old Face</vt:lpstr>
      <vt:lpstr>Times New Roman</vt:lpstr>
      <vt:lpstr>Diamond Grid 16x9</vt:lpstr>
      <vt:lpstr>PowerPoint Presentation</vt:lpstr>
      <vt:lpstr>Table of Contents</vt:lpstr>
      <vt:lpstr>Abstract</vt:lpstr>
      <vt:lpstr>Problem Statement</vt:lpstr>
      <vt:lpstr>Proposed System</vt:lpstr>
      <vt:lpstr>Proposed System</vt:lpstr>
      <vt:lpstr>Proposed System</vt:lpstr>
      <vt:lpstr>System Workflow</vt:lpstr>
      <vt:lpstr>System Architecture</vt:lpstr>
      <vt:lpstr>Module List with Descriptions</vt:lpstr>
      <vt:lpstr>Module List with Descriptions</vt:lpstr>
      <vt:lpstr>UML Use Case Diagram</vt:lpstr>
      <vt:lpstr>UML Class Diagram</vt:lpstr>
      <vt:lpstr>ER Diagram</vt:lpstr>
      <vt:lpstr>Table Structure View</vt:lpstr>
      <vt:lpstr>PowerPoint Presentation</vt:lpstr>
      <vt:lpstr>PowerPoint Presentation</vt:lpstr>
      <vt:lpstr>PowerPoint Presentation</vt:lpstr>
      <vt:lpstr>Conclusion </vt:lpstr>
      <vt:lpstr>Future Enhancements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Neeharika Reddy Gadikota</dc:creator>
  <cp:lastModifiedBy>Neeharika Reddy Gadikota</cp:lastModifiedBy>
  <cp:revision>3</cp:revision>
  <dcterms:created xsi:type="dcterms:W3CDTF">2025-11-18T00:52:59Z</dcterms:created>
  <dcterms:modified xsi:type="dcterms:W3CDTF">2025-11-19T02:35:32Z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